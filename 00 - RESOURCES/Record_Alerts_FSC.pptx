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43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B442A88C-B6CB-4329-AF62-B197A214B4A4}"/>
    <pc:docChg chg="delSld">
      <pc:chgData name="Sim Aulakh" userId="d6babfaf87fe36d4" providerId="LiveId" clId="{B442A88C-B6CB-4329-AF62-B197A214B4A4}" dt="2026-03-12T23:28:47.622" v="3" actId="47"/>
      <pc:docMkLst>
        <pc:docMk/>
      </pc:docMkLst>
      <pc:sldChg chg="del">
        <pc:chgData name="Sim Aulakh" userId="d6babfaf87fe36d4" providerId="LiveId" clId="{B442A88C-B6CB-4329-AF62-B197A214B4A4}" dt="2026-03-12T23:26:21.354" v="0" actId="47"/>
        <pc:sldMkLst>
          <pc:docMk/>
          <pc:sldMk cId="0" sldId="257"/>
        </pc:sldMkLst>
      </pc:sldChg>
      <pc:sldChg chg="del">
        <pc:chgData name="Sim Aulakh" userId="d6babfaf87fe36d4" providerId="LiveId" clId="{B442A88C-B6CB-4329-AF62-B197A214B4A4}" dt="2026-03-12T23:27:40.545" v="1" actId="47"/>
        <pc:sldMkLst>
          <pc:docMk/>
          <pc:sldMk cId="0" sldId="261"/>
        </pc:sldMkLst>
      </pc:sldChg>
      <pc:sldChg chg="del">
        <pc:chgData name="Sim Aulakh" userId="d6babfaf87fe36d4" providerId="LiveId" clId="{B442A88C-B6CB-4329-AF62-B197A214B4A4}" dt="2026-03-12T23:28:38.216" v="2" actId="47"/>
        <pc:sldMkLst>
          <pc:docMk/>
          <pc:sldMk cId="0" sldId="265"/>
        </pc:sldMkLst>
      </pc:sldChg>
      <pc:sldChg chg="del">
        <pc:chgData name="Sim Aulakh" userId="d6babfaf87fe36d4" providerId="LiveId" clId="{B442A88C-B6CB-4329-AF62-B197A214B4A4}" dt="2026-03-12T23:28:47.622" v="3" actId="4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61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3291840"/>
            <a:ext cx="594360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B8A6"/>
                </a:solidFill>
              </a:rPr>
              <a:t>SALESFORCE FINANCIAL SERVICES CLOUD CERTIFICATION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Alerts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2E8F0"/>
                </a:solidFill>
              </a:rPr>
              <a:t>Proactive Intelligence for Financial Advisors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Theory · Benefits · Configuration · Best Practices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</a:rPr>
              <a:t>FSC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02920" y="4297680"/>
            <a:ext cx="164592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MODULE 5 · SECTION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is a Record Alert?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09728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 Record Alert is a configurable notification displayed on a record page in Salesforce Financial Services Cloud that proactively surfaces important, time-sensitive information to financial advisors — without requiring them to actively search for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53312" y="23317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53312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Proactive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Alerts are surfaced automatically when conditions are met — no manual searching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33672" y="23317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33672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Contextual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54787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Displayed directly on the relevant record — clients, households, financial accounts.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19456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14032" y="23317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14032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Configurable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54787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Admins define the rules, thresholds, and display logic without writing code.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</a:rPr>
              <a:t>Think of Record Alerts as your advisor's intelligent assistant — always watching, instantly alerting.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Key Components of a Record Alert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974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69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Alert Name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Unique identifier and label displayed on the record page to the user.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69748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051560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069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Severity Level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5270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Categorizes urgency: High, Medium, or Low. Controls visual indicator color.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05156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1069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Alert Category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5270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Groups alerts by type (e.g., Compliance, Account Review, Life Event).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2697480" cy="640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06324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Record Object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5387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Salesforce object the alert is attached to (Client, Account, Household).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88036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46120" y="2880360"/>
            <a:ext cx="269748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0" y="30632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328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Action Button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35387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Optional CTA button embedded in the alert linking to a task or flow.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88036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2880360"/>
            <a:ext cx="2697480" cy="640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30632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6364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2084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Expiration Date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35387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Alerts can auto-dismiss on a specific date, keeping dashboards clean.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 Tip for the Exam: Know which components are required vs optional when creating a Record Alert.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Benefits of Record Alerts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</a:rPr>
              <a:t>Why every financial services organization should leverage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115568"/>
          </a:xfrm>
          <a:prstGeom prst="rect">
            <a:avLst/>
          </a:prstGeom>
          <a:solidFill>
            <a:srgbClr val="1B3A6B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11155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Proactive Client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536192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Advisors are automatically notified of critical client events — missed RMDs, low cash balances, policy renewals — before they become problems.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115568"/>
          </a:xfrm>
          <a:prstGeom prst="rect">
            <a:avLst/>
          </a:prstGeom>
          <a:solidFill>
            <a:srgbClr val="1B3A6B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64008" cy="11155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11704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Saves Advisor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536192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No more manual report-checking. Alerts surface at the point of need — on the record — so advisors act faster and more efficiently.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4160520" cy="1115568"/>
          </a:xfrm>
          <a:prstGeom prst="rect">
            <a:avLst/>
          </a:prstGeom>
          <a:solidFill>
            <a:srgbClr val="1B3A6B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359152"/>
            <a:ext cx="64008" cy="11155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24323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Regulatory Compliance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9806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Compliance alerts ensure advisors never miss mandatory reviews, KYC updates, or suitability assessments required by regulators.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4160520" cy="1115568"/>
          </a:xfrm>
          <a:prstGeom prst="rect">
            <a:avLst/>
          </a:prstGeom>
          <a:solidFill>
            <a:srgbClr val="1B3A6B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359152"/>
            <a:ext cx="64008" cy="11155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24323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Enhanced Client Relationships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279806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Life event alerts (marriage, retirement, inheritance) prompt timely, personalized outreach — strengthening trust and retention.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4160520" cy="1115568"/>
          </a:xfrm>
          <a:prstGeom prst="rect">
            <a:avLst/>
          </a:prstGeom>
          <a:solidFill>
            <a:srgbClr val="1B3A6B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621024"/>
            <a:ext cx="64008" cy="11155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3694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Reduced Human Error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059936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System-driven alerts remove the risk of advisors overlooking critical actions hidden in spreadsheets or email inboxes.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21024"/>
            <a:ext cx="4160520" cy="1115568"/>
          </a:xfrm>
          <a:prstGeom prst="rect">
            <a:avLst/>
          </a:prstGeom>
          <a:solidFill>
            <a:srgbClr val="1B3A6B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621024"/>
            <a:ext cx="64008" cy="11155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375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94960" y="3694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Revenue Opportunity Spotting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73752" y="4059936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Alerts can highlight upsell moments — surplus cash, maturing CDs, or rebalancing needs — turning data into revenue.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Record Alerts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</a:rPr>
              <a:t>End-to-end flow from trigger to advisor 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554480" cy="3200400"/>
          </a:xfrm>
          <a:prstGeom prst="rect">
            <a:avLst/>
          </a:prstGeom>
          <a:solidFill>
            <a:srgbClr val="1B3A6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5544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107899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Trigger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011680"/>
            <a:ext cx="14081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 condition is met: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Date threshold, field change, or external event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5146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11096" y="23591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993392" y="960120"/>
            <a:ext cx="1554480" cy="3200400"/>
          </a:xfrm>
          <a:prstGeom prst="rect">
            <a:avLst/>
          </a:prstGeom>
          <a:solidFill>
            <a:srgbClr val="1B3A6B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93392" y="960120"/>
            <a:ext cx="155448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96896" y="107899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96896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66544" y="153619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Alert Created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66544" y="2011680"/>
            <a:ext cx="14081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Record Alert record inserted into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FinancialServicesCloud object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47872" y="25146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30168" y="23591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712464" y="960120"/>
            <a:ext cx="1554480" cy="3200400"/>
          </a:xfrm>
          <a:prstGeom prst="rect">
            <a:avLst/>
          </a:prstGeom>
          <a:solidFill>
            <a:srgbClr val="1B3A6B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2464" y="960120"/>
            <a:ext cx="155448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15968" y="1078992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15968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85616" y="153619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Displayed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85616" y="2011680"/>
            <a:ext cx="14081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Alert surfaces on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releted record's Lightning page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66944" y="25146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49240" y="23591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31536" y="960120"/>
            <a:ext cx="1554480" cy="3200400"/>
          </a:xfrm>
          <a:prstGeom prst="rect">
            <a:avLst/>
          </a:prstGeom>
          <a:solidFill>
            <a:srgbClr val="1B3A6B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31536" y="960120"/>
            <a:ext cx="1554480" cy="6400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1078992"/>
            <a:ext cx="347472" cy="34747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153619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</a:rPr>
              <a:t>Advisor Acts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2011680"/>
            <a:ext cx="14081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Advisor reviews alert,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takes action, dismisses or snoozes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86016" y="25146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68312" y="23591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150608" y="960120"/>
            <a:ext cx="1554480" cy="3200400"/>
          </a:xfrm>
          <a:prstGeom prst="rect">
            <a:avLst/>
          </a:prstGeom>
          <a:solidFill>
            <a:srgbClr val="1B3A6B"/>
          </a:solidFill>
          <a:ln w="190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50608" y="960120"/>
            <a:ext cx="1554480" cy="640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54112" y="1078992"/>
            <a:ext cx="347472" cy="347472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54112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23760" y="153619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Alert Resolved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23760" y="2011680"/>
            <a:ext cx="14081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Alert is dismissed or expires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automatically on set date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65760" y="429768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4360" y="4370832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Mechanism: Alerts are created/managed via Flows, Apex Triggers, or the RecordAlert standard object in the Salesforce database. They appear via the Record Alerts Lightning component placed on any FSC page layout.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Real-World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97480" cy="4572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Wealth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4748B"/>
                </a:solidFill>
              </a:rPr>
              <a:t>ALERTS FIRED: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09928"/>
            <a:ext cx="164592" cy="1645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Portfolio drift beyond 5% from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76856"/>
            <a:ext cx="164592" cy="1645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231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Client RMD deadline approaching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43784"/>
            <a:ext cx="164592" cy="1645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7980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Large cash position idle &gt; 30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2514600" cy="640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5478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4748B"/>
                </a:solidFill>
              </a:rPr>
              <a:t>OUTCOME: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6B"/>
                </a:solidFill>
              </a:rPr>
              <a:t>Advisor proactively rebalances &amp; contacts client before issues escalate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82296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82296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🏦  Banking &amp; Lending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1417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4748B"/>
                </a:solidFill>
              </a:rPr>
              <a:t>ALERTS FIRED: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170992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30168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Loan payment overdue by 5+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227685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0168" y="2231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Credit score dropped significantly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84378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30168" y="27980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Overdraft protection nearly depleted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429000"/>
            <a:ext cx="25146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0" y="35478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4748B"/>
                </a:solidFill>
              </a:rPr>
              <a:t>OUTCOME: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749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</a:rPr>
              <a:t>Relationship banker reaches out early, preserving client trust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82296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822960"/>
            <a:ext cx="26974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🛡️  Insurance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1417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4748B"/>
                </a:solidFill>
              </a:rPr>
              <a:t>ALERTS FIRED: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170992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10528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Policy renewal due in 30 days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227685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10528" y="2231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Beneficiary not updated in 3+ years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284378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27980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Coverage gap identified vs. assets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429000"/>
            <a:ext cx="251460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63640" y="35478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4748B"/>
                </a:solidFill>
              </a:rPr>
              <a:t>OUTCOME: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3749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</a:rPr>
              <a:t>Agent reviews coverage proactively, preventing lapses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Configuring Record Alerts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00584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503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841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Enable FSC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11064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 Setup → Financial Services Cloud Settings, enable Record Alerts.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100584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5087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1499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Add Lightning Component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17647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Place the Record Alerts component on Client, Account, or Household page layouts.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121408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100584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1671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2157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Create Alert via 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81328" y="24231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a Record-Triggered Flow to create a RecordAlert record when conditions are met.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779776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2779776"/>
            <a:ext cx="100584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282549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81328" y="2816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Define Severity &amp; Category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81328" y="30815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Set High/Medium/Low severity and link to a meaningful category for filtering.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38144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438144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438144"/>
            <a:ext cx="100584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48386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81328" y="3474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Configure Action Buttons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81328" y="37398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Add optional Quick Action or Flow buttons so advisors can act directly from the alert.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64008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00584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4142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81328" y="4133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Set Expiration Logic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81328" y="43982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Define an expiration date so stale alerts auto-dismiss and don't clutter the UI.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0760" y="804672"/>
            <a:ext cx="2743200" cy="393192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0760" y="804672"/>
            <a:ext cx="274320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8076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🎓  EXAM TIPS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36208" y="132588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10528" y="1298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RecordAlert is a standard Salesforce object — not a custom one.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36208" y="186537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10528" y="18379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Alerts are displayed using the FSC Record Alerts Lightning component.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36208" y="240487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10528" y="23774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Record Alerts can be created via Flow, Apex, or directly via API.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36208" y="294436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10528" y="29169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The Assignee field links an alert to a specific user or queue.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36208" y="348386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10528" y="34564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Alerts appear on Financial Account, Lead, Contact, and Account objects.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36208" y="402336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10528" y="39959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Severity does NOT auto-dismiss alerts — expiration date does.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DFB5E00-4D1A-4135-BA1C-4885B078D5A6}"/>
</file>

<file path=customXml/itemProps2.xml><?xml version="1.0" encoding="utf-8"?>
<ds:datastoreItem xmlns:ds="http://schemas.openxmlformats.org/officeDocument/2006/customXml" ds:itemID="{CC500DFE-C405-4BCE-ADCB-CBCA237150A9}"/>
</file>

<file path=customXml/itemProps3.xml><?xml version="1.0" encoding="utf-8"?>
<ds:datastoreItem xmlns:ds="http://schemas.openxmlformats.org/officeDocument/2006/customXml" ds:itemID="{E3C14235-0B37-40E7-8384-F2AE4FB86A91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849</Words>
  <Application>Microsoft Office PowerPoint</Application>
  <PresentationFormat>On-screen Show (16:9)</PresentationFormat>
  <Paragraphs>140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2026-03-12T23:23:37Z</dcterms:created>
  <dcterms:modified xsi:type="dcterms:W3CDTF">2026-03-12T23:28:49Z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10733200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