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8" r:id="rId6"/>
    <p:sldId id="269" r:id="rId7"/>
    <p:sldId id="27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9123F-CA5B-489C-A41F-933B2020EF87}" v="2" dt="2026-02-21T19:32:38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CE0E9DEC-6ECA-4D2B-9E81-522B3F6AC684}"/>
    <pc:docChg chg="custSel delSld modSld">
      <pc:chgData name="Sim Aulakh" userId="d6babfaf87fe36d4" providerId="LiveId" clId="{CE0E9DEC-6ECA-4D2B-9E81-522B3F6AC684}" dt="2026-02-21T19:32:27.598" v="11"/>
      <pc:docMkLst>
        <pc:docMk/>
      </pc:docMkLst>
      <pc:sldChg chg="modSp">
        <pc:chgData name="Sim Aulakh" userId="d6babfaf87fe36d4" providerId="LiveId" clId="{CE0E9DEC-6ECA-4D2B-9E81-522B3F6AC684}" dt="2026-02-21T19:32:27.598" v="11"/>
        <pc:sldMkLst>
          <pc:docMk/>
          <pc:sldMk cId="0" sldId="257"/>
        </pc:sldMkLst>
        <pc:spChg chg="mod">
          <ac:chgData name="Sim Aulakh" userId="d6babfaf87fe36d4" providerId="LiveId" clId="{CE0E9DEC-6ECA-4D2B-9E81-522B3F6AC684}" dt="2026-02-21T19:32:27.598" v="11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Sim Aulakh" userId="d6babfaf87fe36d4" providerId="LiveId" clId="{CE0E9DEC-6ECA-4D2B-9E81-522B3F6AC684}" dt="2026-02-21T19:16:39.641" v="2" actId="1076"/>
        <pc:sldMkLst>
          <pc:docMk/>
          <pc:sldMk cId="0" sldId="259"/>
        </pc:sldMkLst>
        <pc:spChg chg="mod">
          <ac:chgData name="Sim Aulakh" userId="d6babfaf87fe36d4" providerId="LiveId" clId="{CE0E9DEC-6ECA-4D2B-9E81-522B3F6AC684}" dt="2026-02-21T19:16:39.641" v="2" actId="1076"/>
          <ac:spMkLst>
            <pc:docMk/>
            <pc:sldMk cId="0" sldId="259"/>
            <ac:spMk id="19" creationId="{00000000-0000-0000-0000-000000000000}"/>
          </ac:spMkLst>
        </pc:spChg>
        <pc:spChg chg="del">
          <ac:chgData name="Sim Aulakh" userId="d6babfaf87fe36d4" providerId="LiveId" clId="{CE0E9DEC-6ECA-4D2B-9E81-522B3F6AC684}" dt="2026-02-21T19:16:30.381" v="0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Sim Aulakh" userId="d6babfaf87fe36d4" providerId="LiveId" clId="{CE0E9DEC-6ECA-4D2B-9E81-522B3F6AC684}" dt="2026-02-21T19:16:30.381" v="0" actId="478"/>
          <ac:spMkLst>
            <pc:docMk/>
            <pc:sldMk cId="0" sldId="259"/>
            <ac:spMk id="27" creationId="{00000000-0000-0000-0000-000000000000}"/>
          </ac:spMkLst>
        </pc:spChg>
        <pc:spChg chg="del">
          <ac:chgData name="Sim Aulakh" userId="d6babfaf87fe36d4" providerId="LiveId" clId="{CE0E9DEC-6ECA-4D2B-9E81-522B3F6AC684}" dt="2026-02-21T19:16:30.381" v="0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Sim Aulakh" userId="d6babfaf87fe36d4" providerId="LiveId" clId="{CE0E9DEC-6ECA-4D2B-9E81-522B3F6AC684}" dt="2026-02-21T19:16:34.556" v="1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Sim Aulakh" userId="d6babfaf87fe36d4" providerId="LiveId" clId="{CE0E9DEC-6ECA-4D2B-9E81-522B3F6AC684}" dt="2026-02-21T19:16:34.556" v="1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Sim Aulakh" userId="d6babfaf87fe36d4" providerId="LiveId" clId="{CE0E9DEC-6ECA-4D2B-9E81-522B3F6AC684}" dt="2026-02-21T19:16:34.556" v="1" actId="478"/>
          <ac:spMkLst>
            <pc:docMk/>
            <pc:sldMk cId="0" sldId="259"/>
            <ac:spMk id="33" creationId="{00000000-0000-0000-0000-000000000000}"/>
          </ac:spMkLst>
        </pc:spChg>
        <pc:picChg chg="del">
          <ac:chgData name="Sim Aulakh" userId="d6babfaf87fe36d4" providerId="LiveId" clId="{CE0E9DEC-6ECA-4D2B-9E81-522B3F6AC684}" dt="2026-02-21T19:16:30.381" v="0" actId="478"/>
          <ac:picMkLst>
            <pc:docMk/>
            <pc:sldMk cId="0" sldId="259"/>
            <ac:picMk id="26" creationId="{00000000-0000-0000-0000-000000000000}"/>
          </ac:picMkLst>
        </pc:picChg>
        <pc:picChg chg="del">
          <ac:chgData name="Sim Aulakh" userId="d6babfaf87fe36d4" providerId="LiveId" clId="{CE0E9DEC-6ECA-4D2B-9E81-522B3F6AC684}" dt="2026-02-21T19:16:34.556" v="1" actId="478"/>
          <ac:picMkLst>
            <pc:docMk/>
            <pc:sldMk cId="0" sldId="259"/>
            <ac:picMk id="31" creationId="{00000000-0000-0000-0000-000000000000}"/>
          </ac:picMkLst>
        </pc:picChg>
      </pc:sldChg>
      <pc:sldChg chg="del">
        <pc:chgData name="Sim Aulakh" userId="d6babfaf87fe36d4" providerId="LiveId" clId="{CE0E9DEC-6ECA-4D2B-9E81-522B3F6AC684}" dt="2026-02-21T19:16:51.502" v="3" actId="47"/>
        <pc:sldMkLst>
          <pc:docMk/>
          <pc:sldMk cId="0" sldId="260"/>
        </pc:sldMkLst>
      </pc:sldChg>
      <pc:sldChg chg="del">
        <pc:chgData name="Sim Aulakh" userId="d6babfaf87fe36d4" providerId="LiveId" clId="{CE0E9DEC-6ECA-4D2B-9E81-522B3F6AC684}" dt="2026-02-21T19:16:53.397" v="4" actId="47"/>
        <pc:sldMkLst>
          <pc:docMk/>
          <pc:sldMk cId="0" sldId="261"/>
        </pc:sldMkLst>
      </pc:sldChg>
      <pc:sldChg chg="del">
        <pc:chgData name="Sim Aulakh" userId="d6babfaf87fe36d4" providerId="LiveId" clId="{CE0E9DEC-6ECA-4D2B-9E81-522B3F6AC684}" dt="2026-02-21T19:16:54.472" v="5" actId="47"/>
        <pc:sldMkLst>
          <pc:docMk/>
          <pc:sldMk cId="0" sldId="262"/>
        </pc:sldMkLst>
      </pc:sldChg>
      <pc:sldChg chg="del">
        <pc:chgData name="Sim Aulakh" userId="d6babfaf87fe36d4" providerId="LiveId" clId="{CE0E9DEC-6ECA-4D2B-9E81-522B3F6AC684}" dt="2026-02-21T19:16:56.516" v="6" actId="47"/>
        <pc:sldMkLst>
          <pc:docMk/>
          <pc:sldMk cId="0" sldId="263"/>
        </pc:sldMkLst>
      </pc:sldChg>
      <pc:sldChg chg="del">
        <pc:chgData name="Sim Aulakh" userId="d6babfaf87fe36d4" providerId="LiveId" clId="{CE0E9DEC-6ECA-4D2B-9E81-522B3F6AC684}" dt="2026-02-21T19:17:03.976" v="7" actId="47"/>
        <pc:sldMkLst>
          <pc:docMk/>
          <pc:sldMk cId="0" sldId="264"/>
        </pc:sldMkLst>
      </pc:sldChg>
      <pc:sldChg chg="del">
        <pc:chgData name="Sim Aulakh" userId="d6babfaf87fe36d4" providerId="LiveId" clId="{CE0E9DEC-6ECA-4D2B-9E81-522B3F6AC684}" dt="2026-02-21T19:17:35.948" v="8" actId="47"/>
        <pc:sldMkLst>
          <pc:docMk/>
          <pc:sldMk cId="0" sldId="265"/>
        </pc:sldMkLst>
      </pc:sldChg>
      <pc:sldChg chg="del">
        <pc:chgData name="Sim Aulakh" userId="d6babfaf87fe36d4" providerId="LiveId" clId="{CE0E9DEC-6ECA-4D2B-9E81-522B3F6AC684}" dt="2026-02-21T19:17:35.948" v="8" actId="47"/>
        <pc:sldMkLst>
          <pc:docMk/>
          <pc:sldMk cId="0" sldId="266"/>
        </pc:sldMkLst>
      </pc:sldChg>
      <pc:sldChg chg="del">
        <pc:chgData name="Sim Aulakh" userId="d6babfaf87fe36d4" providerId="LiveId" clId="{CE0E9DEC-6ECA-4D2B-9E81-522B3F6AC684}" dt="2026-02-21T19:17:35.948" v="8" actId="47"/>
        <pc:sldMkLst>
          <pc:docMk/>
          <pc:sldMk cId="0" sldId="267"/>
        </pc:sldMkLst>
      </pc:sldChg>
      <pc:sldChg chg="del">
        <pc:chgData name="Sim Aulakh" userId="d6babfaf87fe36d4" providerId="LiveId" clId="{CE0E9DEC-6ECA-4D2B-9E81-522B3F6AC684}" dt="2026-02-21T19:18:13.875" v="9" actId="47"/>
        <pc:sldMkLst>
          <pc:docMk/>
          <pc:sldMk cId="0" sldId="270"/>
        </pc:sldMkLst>
      </pc:sldChg>
      <pc:sldChg chg="del">
        <pc:chgData name="Sim Aulakh" userId="d6babfaf87fe36d4" providerId="LiveId" clId="{CE0E9DEC-6ECA-4D2B-9E81-522B3F6AC684}" dt="2026-02-21T19:18:38.690" v="10" actId="47"/>
        <pc:sldMkLst>
          <pc:docMk/>
          <pc:sldMk cId="0" sldId="272"/>
        </pc:sldMkLst>
      </pc:sldChg>
      <pc:sldChg chg="del">
        <pc:chgData name="Sim Aulakh" userId="d6babfaf87fe36d4" providerId="LiveId" clId="{CE0E9DEC-6ECA-4D2B-9E81-522B3F6AC684}" dt="2026-02-21T19:18:38.690" v="10" actId="47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747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42A6B"/>
          </a:solidFill>
          <a:ln w="12700">
            <a:solidFill>
              <a:srgbClr val="14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-457200"/>
            <a:ext cx="2286000" cy="2286000"/>
          </a:xfrm>
          <a:prstGeom prst="ellipse">
            <a:avLst/>
          </a:prstGeom>
          <a:solidFill>
            <a:srgbClr val="1A56DB">
              <a:alpha val="30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2926080"/>
            <a:ext cx="1828800" cy="18288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80160"/>
            <a:ext cx="137160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4E"/>
                </a:solidFill>
              </a:rPr>
              <a:t>FINANCIAL SERVICE CLOUD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Plans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Streamlining Workflows &amp; Compliance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Financial Services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DF7"/>
                </a:solidFill>
              </a:rPr>
              <a:t>Automate • Standardize • Comply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</a:rPr>
              <a:t>WHAT IS AN ACTION PLAN?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Plan is a checklist-based tool in Salesforce Financial Service Cloud that enables financial institutions to define, assign, and track a repeatable set of tasks for common business processes.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200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smart, standardized playbook — ensuring every advisor follows the same steps for every client interaction, every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57200" cy="457200"/>
          </a:xfrm>
          <a:prstGeom prst="ellipse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9326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868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Templates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57800" y="1106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Predefined, reusable task lists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783080"/>
            <a:ext cx="457200" cy="457200"/>
          </a:xfrm>
          <a:prstGeom prst="ellipse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8470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1783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Logic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257800" y="2020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deadlines &amp; reminders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63440" y="2697480"/>
            <a:ext cx="457200" cy="457200"/>
          </a:xfrm>
          <a:prstGeom prst="ellipse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7614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26974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257800" y="2935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routed to the right person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3611880"/>
            <a:ext cx="457200" cy="457200"/>
          </a:xfrm>
          <a:prstGeom prst="ellipse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67588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57800" y="36118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257800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completion for compliance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Action Plans are associated with records such as Accounts, Contacts, Opportunities, and Financial Accounts.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A6B"/>
          </a:solidFill>
          <a:ln w="12700">
            <a:solidFill>
              <a:srgbClr val="14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</a:rPr>
              <a:t>HOW ACTION PLANS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08760" cy="3108960"/>
          </a:xfrm>
          <a:prstGeom prst="rect">
            <a:avLst/>
          </a:prstGeom>
          <a:solidFill>
            <a:srgbClr val="142A6B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508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1228" y="960120"/>
            <a:ext cx="694944" cy="69494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1228" y="9601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Template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423160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defines a reusable Action Plan Template with tasks, owners, and due dates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01368" y="237744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38528" y="822960"/>
            <a:ext cx="1508760" cy="3108960"/>
          </a:xfrm>
          <a:prstGeom prst="rect">
            <a:avLst/>
          </a:prstGeom>
          <a:solidFill>
            <a:srgbClr val="142A6B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38528" y="822960"/>
            <a:ext cx="1508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45436" y="960120"/>
            <a:ext cx="694944" cy="69494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45436" y="9601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29968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Plan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48256" y="2423160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launches the plan on a client record — contact, account, or opportunity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65576" y="237744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02736" y="822960"/>
            <a:ext cx="1508760" cy="3108960"/>
          </a:xfrm>
          <a:prstGeom prst="rect">
            <a:avLst/>
          </a:prstGeom>
          <a:solidFill>
            <a:srgbClr val="142A6B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02736" y="822960"/>
            <a:ext cx="1508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09644" y="960120"/>
            <a:ext cx="694944" cy="69494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09644" y="9601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94176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Tasks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12464" y="2423160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automatically distributed to the right team members based on roles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9784" y="237744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66944" y="822960"/>
            <a:ext cx="1508760" cy="3108960"/>
          </a:xfrm>
          <a:prstGeom prst="rect">
            <a:avLst/>
          </a:prstGeom>
          <a:solidFill>
            <a:srgbClr val="142A6B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66944" y="822960"/>
            <a:ext cx="1508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73852" y="960120"/>
            <a:ext cx="694944" cy="69494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73852" y="9601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58384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Progress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76672" y="2423160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surface in a central list view or on the record for real-time visibility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93992" y="237744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31152" y="822960"/>
            <a:ext cx="1508760" cy="3108960"/>
          </a:xfrm>
          <a:prstGeom prst="rect">
            <a:avLst/>
          </a:prstGeom>
          <a:solidFill>
            <a:srgbClr val="142A6B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31152" y="822960"/>
            <a:ext cx="1508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38060" y="960120"/>
            <a:ext cx="694944" cy="69494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38060" y="9601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22592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&amp; Audit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40880" y="2423160"/>
            <a:ext cx="1289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plans are logged for compliance reporting and historical reference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2A6B"/>
          </a:solidFill>
          <a:ln w="12700">
            <a:solidFill>
              <a:srgbClr val="14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90D9"/>
                </a:solidFill>
              </a:rPr>
              <a:t>Each step creates a documented, traceable workflow — from onboarding to annual reviews.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</a:rPr>
              <a:t>KEY USE CASES IN FINANCIAL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64008" cy="17373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005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" y="1417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KYC, document collection, account setup, and welcome communications for every new client.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18104" y="7772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18104" y="777240"/>
            <a:ext cx="64008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0058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Reviews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55264" y="1417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financial planning steps — goal review, portfolio rebalancing, and compliance checks — are completed on schedule.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0176" y="7772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980176" y="777240"/>
            <a:ext cx="64008" cy="17373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0058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8544" y="9601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17336" y="1417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mandatory disclosures, suitability assessments, and audit-ready documentation workflows.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69748" y="260596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56032" y="2624328"/>
            <a:ext cx="64008" cy="17373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85292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28072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Origination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93192" y="32644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processors through credit checks, appraisals, document requests, and underwriting milestones.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118104" y="2624328"/>
            <a:ext cx="64008" cy="17373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5980176" y="2624328"/>
            <a:ext cx="64008" cy="17373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</a:rPr>
              <a:t>TEMPLATES: TASKS vs. DOCUMENT CHECKLIST ITEMS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Templates support two distinct item types. Understanding when to use each is key to building effective workflows.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023360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070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111556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846320" y="1115568"/>
            <a:ext cx="402336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20700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31536" y="111556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Checklist Items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274320" y="1664208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65760" y="17007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481328" y="1700784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actions or activities someone must perform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048256"/>
            <a:ext cx="4023360" cy="384048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65760" y="208483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481328" y="2084832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call, complete KYC review, submit form, send email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243230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65760" y="246888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481328" y="2468880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user, role, or queue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74320" y="2816352"/>
            <a:ext cx="4023360" cy="384048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65760" y="285292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481328" y="2852928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offset in days from plan start date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74320" y="320040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65760" y="323697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481328" y="3236976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manually sets status to 'Completed'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74320" y="3584448"/>
            <a:ext cx="4023360" cy="384048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65760" y="36210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481328" y="3621024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chained — a task can depend on another task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74320" y="396849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65760" y="400507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481328" y="4005072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activity on the record; no file attachment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74320" y="4352544"/>
            <a:ext cx="4023360" cy="384048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365760" y="43891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481328" y="4389120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steps, reviews, calls, compliance checks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846320" y="1664208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937760" y="17007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053328" y="1700784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documents that must be collected from the client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46320" y="2048256"/>
            <a:ext cx="4023360" cy="384048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937760" y="208483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053328" y="2084832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W-9, government ID, proof of income, policy docs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846320" y="243230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937760" y="246888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053328" y="2468880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owner (the person responsible for collecting it)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846320" y="2816352"/>
            <a:ext cx="4023360" cy="384048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937760" y="285292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6053328" y="2852928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offset in days from plan start date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846320" y="320040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937760" y="323697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6053328" y="3236976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or marks the document as 'Received'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4846320" y="3584448"/>
            <a:ext cx="4023360" cy="384048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4937760" y="36210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6053328" y="3621024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depend on tasks (e.g., collect ID after KYC review starts)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846320" y="396849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4937760" y="400507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6053328" y="4005072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attached to the record via Document Checklist object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4846320" y="4352544"/>
            <a:ext cx="4023360" cy="384048"/>
          </a:xfrm>
          <a:prstGeom prst="rect">
            <a:avLst/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4937760" y="43891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6053328" y="4389120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 collection, audit evidence, compliance packets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4544568" y="1115568"/>
            <a:ext cx="0" cy="3200400"/>
          </a:xfrm>
          <a:prstGeom prst="line">
            <a:avLst/>
          </a:prstGeom>
          <a:noFill/>
          <a:ln w="12700">
            <a:solidFill>
              <a:srgbClr val="E8ED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4288536" y="2487168"/>
            <a:ext cx="566928" cy="566928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4288536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VS</a:t>
            </a:r>
            <a:endParaRPr lang="en-US" sz="1300" dirty="0"/>
          </a:p>
        </p:txBody>
      </p:sp>
      <p:sp>
        <p:nvSpPr>
          <p:cNvPr id="62" name="Shape 5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💡  You can mix both types in a single template — e.g., a Task to 'Request documents' followed by Document Checklist Items to track each file received.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A6B"/>
          </a:solidFill>
          <a:ln w="12700">
            <a:solidFill>
              <a:srgbClr val="14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</a:rPr>
              <a:t>STEP 3 — LAUNCH AN ACTION PLAN ON A RECORD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937760" cy="4114800"/>
          </a:xfrm>
          <a:prstGeom prst="rect">
            <a:avLst/>
          </a:prstGeom>
          <a:solidFill>
            <a:srgbClr val="142A6B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9377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Step-by-Step (Manual Launch)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35024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4E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2984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client record (Account, Contact, or Financial Account)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4E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18013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the Action Plans related list → click  'New Action Plan'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4E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3042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Action Plan Template from the dropdown picklist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4E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80720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 adjust the Plan Start Date (this drives all due date offsets)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4E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331012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task assignees if needed for this specific client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849624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4E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38130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'Create'  — tasks are auto-created and assigned immediately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40680" y="749808"/>
            <a:ext cx="3429000" cy="1920240"/>
          </a:xfrm>
          <a:prstGeom prst="rect">
            <a:avLst/>
          </a:prstGeom>
          <a:solidFill>
            <a:srgbClr val="142A6B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40680" y="749808"/>
            <a:ext cx="3429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896112"/>
            <a:ext cx="384048" cy="38404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03504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Auto-Launch via Flow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577840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manual steps entirely. Use Salesforce Flow to automatically launch Action Plans when:</a:t>
            </a:r>
            <a:endParaRPr lang="en-US" sz="105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901952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833872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Lead or Account is created</a:t>
            </a:r>
            <a:endParaRPr lang="en-US" sz="10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9456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833872" y="2167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stage changes</a:t>
            </a:r>
            <a:endParaRPr lang="en-US" sz="105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487168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833872" y="2459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 Event is logged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440680" y="2788920"/>
            <a:ext cx="3429000" cy="2075688"/>
          </a:xfrm>
          <a:prstGeom prst="rect">
            <a:avLst/>
          </a:prstGeom>
          <a:solidFill>
            <a:srgbClr val="142A6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5440680" y="2788920"/>
            <a:ext cx="3429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5577840" y="2862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Pro Tips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5577840" y="33192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Clone a plan on a record to rerun the same steps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5577840" y="37764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'Action Plans' tab in the nav for a global task view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5577840" y="42336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Completed plans remain on record for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A6B"/>
          </a:solidFill>
          <a:ln w="12700">
            <a:solidFill>
              <a:srgbClr val="14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</a:rPr>
              <a:t>EXAMPLE TEMPLATE — NEW CLIENT ONBOARDING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Object: Account  |  Active: ✅  |  Tasks: 8  |  Avg Completion: 7 days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7899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07899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Subject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64992" y="107899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Assigned 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10912" y="107899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Due Offset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08192" y="107899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Depends 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54112" y="107899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8595360" cy="448056"/>
          </a:xfrm>
          <a:prstGeom prst="rect">
            <a:avLst/>
          </a:prstGeom>
          <a:solidFill>
            <a:srgbClr val="142A6B"/>
          </a:solidFill>
          <a:ln w="12700">
            <a:solidFill>
              <a:srgbClr val="1E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5179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1517904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Welcome Email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64992" y="151790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10912" y="151790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08192" y="151790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54112" y="1517904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1911096"/>
            <a:ext cx="8595360" cy="448056"/>
          </a:xfrm>
          <a:prstGeom prst="rect">
            <a:avLst/>
          </a:prstGeom>
          <a:solidFill>
            <a:srgbClr val="162260"/>
          </a:solidFill>
          <a:ln w="12700">
            <a:solidFill>
              <a:srgbClr val="1E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1965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196596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KYC Documents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4992" y="196596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10912" y="196596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08192" y="196596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54112" y="196596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359152"/>
            <a:ext cx="8595360" cy="448056"/>
          </a:xfrm>
          <a:prstGeom prst="rect">
            <a:avLst/>
          </a:prstGeom>
          <a:solidFill>
            <a:srgbClr val="142A6B"/>
          </a:solidFill>
          <a:ln w="12700">
            <a:solidFill>
              <a:srgbClr val="1E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" y="241401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CDD Assessment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64992" y="2414016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10912" y="241401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08192" y="2414016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54112" y="2414016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2807208"/>
            <a:ext cx="8595360" cy="448056"/>
          </a:xfrm>
          <a:prstGeom prst="rect">
            <a:avLst/>
          </a:prstGeom>
          <a:solidFill>
            <a:srgbClr val="162260"/>
          </a:solidFill>
          <a:ln w="12700">
            <a:solidFill>
              <a:srgbClr val="1E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28620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3232" y="286207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Financial Account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64992" y="286207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286207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08192" y="286207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54112" y="286207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255264"/>
            <a:ext cx="8595360" cy="448056"/>
          </a:xfrm>
          <a:prstGeom prst="rect">
            <a:avLst/>
          </a:prstGeom>
          <a:solidFill>
            <a:srgbClr val="142A6B"/>
          </a:solidFill>
          <a:ln w="12700">
            <a:solidFill>
              <a:srgbClr val="1E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7472" y="33101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3232" y="33101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Needs Analysis Call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64992" y="331012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10912" y="331012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08192" y="331012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754112" y="331012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3703320"/>
            <a:ext cx="8595360" cy="448056"/>
          </a:xfrm>
          <a:prstGeom prst="rect">
            <a:avLst/>
          </a:prstGeom>
          <a:solidFill>
            <a:srgbClr val="162260"/>
          </a:solidFill>
          <a:ln w="12700">
            <a:solidFill>
              <a:srgbClr val="1E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7472" y="37581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13232" y="3758184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Financial Plan Draft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364992" y="375818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10912" y="375818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108192" y="375818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54112" y="3758184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4151376"/>
            <a:ext cx="8595360" cy="448056"/>
          </a:xfrm>
          <a:prstGeom prst="rect">
            <a:avLst/>
          </a:prstGeom>
          <a:solidFill>
            <a:srgbClr val="142A6B"/>
          </a:solidFill>
          <a:ln w="12700">
            <a:solidFill>
              <a:srgbClr val="1E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47472" y="42062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13232" y="420624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Plan to Client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364992" y="420624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10912" y="420624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108192" y="420624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754112" y="42062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4599432"/>
            <a:ext cx="8595360" cy="448056"/>
          </a:xfrm>
          <a:prstGeom prst="rect">
            <a:avLst/>
          </a:prstGeom>
          <a:solidFill>
            <a:srgbClr val="162260"/>
          </a:solidFill>
          <a:ln w="12700">
            <a:solidFill>
              <a:srgbClr val="1E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47472" y="465429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13232" y="465429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Onboarding Completed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364992" y="4654296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10912" y="465429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108192" y="4654296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4 &amp; 7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754112" y="4654296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A633F3D9-30BF-4404-AB41-6EDE62D8FDDC}"/>
</file>

<file path=customXml/itemProps2.xml><?xml version="1.0" encoding="utf-8"?>
<ds:datastoreItem xmlns:ds="http://schemas.openxmlformats.org/officeDocument/2006/customXml" ds:itemID="{9A2EF216-27AC-4E3C-B7D6-C188828451A5}"/>
</file>

<file path=customXml/itemProps3.xml><?xml version="1.0" encoding="utf-8"?>
<ds:datastoreItem xmlns:ds="http://schemas.openxmlformats.org/officeDocument/2006/customXml" ds:itemID="{016C1C0E-5CBE-44CE-AEF0-DF4B346EECB1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838</Words>
  <Application>Microsoft Office PowerPoint</Application>
  <PresentationFormat>On-screen Show (16:9)</PresentationFormat>
  <Paragraphs>168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Salesforce FSC</dc:creator>
  <cp:lastModifiedBy>Sim Aulakh</cp:lastModifiedBy>
  <cp:revision>1</cp:revision>
  <dcterms:created xsi:type="dcterms:W3CDTF">2026-02-21T19:04:09Z</dcterms:created>
  <dcterms:modified xsi:type="dcterms:W3CDTF">2026-02-21T19:32:45Z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10733600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