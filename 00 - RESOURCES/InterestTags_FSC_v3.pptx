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custSel delSld modSld">
      <pc:chgData name="Sim Aulakh" userId="d6babfaf87fe36d4" providerId="LiveId" clId="{CE0E9DEC-6ECA-4D2B-9E81-522B3F6AC684}" dt="2026-02-21T13:23:32.315" v="30" actId="14100"/>
      <pc:docMkLst>
        <pc:docMk/>
      </pc:docMkLst>
      <pc:sldChg chg="modSp mod">
        <pc:chgData name="Sim Aulakh" userId="d6babfaf87fe36d4" providerId="LiveId" clId="{CE0E9DEC-6ECA-4D2B-9E81-522B3F6AC684}" dt="2026-02-21T13:22:27.209" v="17" actId="20577"/>
        <pc:sldMkLst>
          <pc:docMk/>
          <pc:sldMk cId="0" sldId="259"/>
        </pc:sldMkLst>
        <pc:spChg chg="mod">
          <ac:chgData name="Sim Aulakh" userId="d6babfaf87fe36d4" providerId="LiveId" clId="{CE0E9DEC-6ECA-4D2B-9E81-522B3F6AC684}" dt="2026-02-21T13:22:27.209" v="17" actId="20577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Sim Aulakh" userId="d6babfaf87fe36d4" providerId="LiveId" clId="{CE0E9DEC-6ECA-4D2B-9E81-522B3F6AC684}" dt="2026-02-21T13:23:32.315" v="30" actId="14100"/>
        <pc:sldMkLst>
          <pc:docMk/>
          <pc:sldMk cId="0" sldId="260"/>
        </pc:sldMkLst>
        <pc:spChg chg="mod">
          <ac:chgData name="Sim Aulakh" userId="d6babfaf87fe36d4" providerId="LiveId" clId="{CE0E9DEC-6ECA-4D2B-9E81-522B3F6AC684}" dt="2026-02-21T13:23:20.675" v="2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Sim Aulakh" userId="d6babfaf87fe36d4" providerId="LiveId" clId="{CE0E9DEC-6ECA-4D2B-9E81-522B3F6AC684}" dt="2026-02-21T13:23:32.315" v="30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Sim Aulakh" userId="d6babfaf87fe36d4" providerId="LiveId" clId="{CE0E9DEC-6ECA-4D2B-9E81-522B3F6AC684}" dt="2026-02-21T13:23:25.208" v="24" actId="14100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im Aulakh" userId="d6babfaf87fe36d4" providerId="LiveId" clId="{CE0E9DEC-6ECA-4D2B-9E81-522B3F6AC684}" dt="2026-02-21T13:22:57.287" v="18" actId="1076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im Aulakh" userId="d6babfaf87fe36d4" providerId="LiveId" clId="{CE0E9DEC-6ECA-4D2B-9E81-522B3F6AC684}" dt="2026-02-21T13:22:57.287" v="18" actId="1076"/>
          <ac:spMkLst>
            <pc:docMk/>
            <pc:sldMk cId="0" sldId="260"/>
            <ac:spMk id="19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5.399" v="21" actId="478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25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28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6.845" v="22" actId="478"/>
          <ac:spMkLst>
            <pc:docMk/>
            <pc:sldMk cId="0" sldId="260"/>
            <ac:spMk id="32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3:13.687" v="20" actId="478"/>
          <ac:spMkLst>
            <pc:docMk/>
            <pc:sldMk cId="0" sldId="260"/>
            <ac:spMk id="35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Sim Aulakh" userId="d6babfaf87fe36d4" providerId="LiveId" clId="{CE0E9DEC-6ECA-4D2B-9E81-522B3F6AC684}" dt="2026-02-21T13:22:59.438" v="19" actId="478"/>
          <ac:spMkLst>
            <pc:docMk/>
            <pc:sldMk cId="0" sldId="260"/>
            <ac:spMk id="40" creationId="{00000000-0000-0000-0000-000000000000}"/>
          </ac:spMkLst>
        </pc:spChg>
      </pc:sldChg>
      <pc:sldChg chg="del">
        <pc:chgData name="Sim Aulakh" userId="d6babfaf87fe36d4" providerId="LiveId" clId="{CE0E9DEC-6ECA-4D2B-9E81-522B3F6AC684}" dt="2026-02-21T13:18:24.428" v="0" actId="47"/>
        <pc:sldMkLst>
          <pc:docMk/>
          <pc:sldMk cId="0" sldId="263"/>
        </pc:sldMkLst>
      </pc:sldChg>
      <pc:sldChg chg="delSp modSp mod">
        <pc:chgData name="Sim Aulakh" userId="d6babfaf87fe36d4" providerId="LiveId" clId="{CE0E9DEC-6ECA-4D2B-9E81-522B3F6AC684}" dt="2026-02-21T13:18:57.531" v="16" actId="20577"/>
        <pc:sldMkLst>
          <pc:docMk/>
          <pc:sldMk cId="0" sldId="264"/>
        </pc:sldMkLst>
        <pc:spChg chg="mod">
          <ac:chgData name="Sim Aulakh" userId="d6babfaf87fe36d4" providerId="LiveId" clId="{CE0E9DEC-6ECA-4D2B-9E81-522B3F6AC684}" dt="2026-02-21T13:18:30.867" v="6" actId="20577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18:39.690" v="8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Sim Aulakh" userId="d6babfaf87fe36d4" providerId="LiveId" clId="{CE0E9DEC-6ECA-4D2B-9E81-522B3F6AC684}" dt="2026-02-21T13:18:39.690" v="8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39.690" v="8" actId="478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im Aulakh" userId="d6babfaf87fe36d4" providerId="LiveId" clId="{CE0E9DEC-6ECA-4D2B-9E81-522B3F6AC684}" dt="2026-02-21T13:18:54.884" v="14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im Aulakh" userId="d6babfaf87fe36d4" providerId="LiveId" clId="{CE0E9DEC-6ECA-4D2B-9E81-522B3F6AC684}" dt="2026-02-21T13:18:57.531" v="16" actId="20577"/>
          <ac:spMkLst>
            <pc:docMk/>
            <pc:sldMk cId="0" sldId="264"/>
            <ac:spMk id="18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46.548" v="9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46.548" v="9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46.548" v="9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51.172" v="10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51.172" v="10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Sim Aulakh" userId="d6babfaf87fe36d4" providerId="LiveId" clId="{CE0E9DEC-6ECA-4D2B-9E81-522B3F6AC684}" dt="2026-02-21T13:18:51.172" v="10" actId="478"/>
          <ac:spMkLst>
            <pc:docMk/>
            <pc:sldMk cId="0" sldId="264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Salesforce Financial Services Cloud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3200400" cy="3657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Client Interests · Drive Personalization · Grow Relationships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2194560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2245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Accredited Professional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Interest Tags?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 are custom labels applied to client records in FSC that capture a client's hobbies, preferences, and personal interests — enabling advisors to build deeper, more meaningful relationships.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2743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Technology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standard Salesforce Topics object — the same object used by Chatter for topic tagging.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Custom or Predefined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create custom tags or use FSC's predefined library of interests.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Applied to Records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attached to Accounts, Contacts, Households, or other FSC objects.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Searchable &amp; Reportable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searchable across the org and can be surfaced in reports and dashboards.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Interest Tags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691640"/>
          </a:xfrm>
          <a:prstGeom prst="rect">
            <a:avLst/>
          </a:prstGeom>
          <a:solidFill>
            <a:srgbClr val="1E2761"/>
          </a:solidFill>
          <a:ln w="19050">
            <a:solidFill>
              <a:srgbClr val="F2A9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" cy="16916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Client-Centric Relationships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can go beyond financial data and connect with clients on a personal level — mentioning a shared interest or hobby builds trust and loyalty.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06240" cy="16916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097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Segmentation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4630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can target clients by shared interest groups — e.g., clients interested in golf, travel, or philanthropy — for tailored campaigns.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691640"/>
          </a:xfrm>
          <a:prstGeom prst="rect">
            <a:avLst/>
          </a:prstGeom>
          <a:solidFill>
            <a:srgbClr val="1E2761"/>
          </a:solidFill>
          <a:ln w="19050">
            <a:solidFill>
              <a:srgbClr val="4C9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64008" cy="16916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017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Engagement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38328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managers can use tags to prep for client meetings, ensuring every touchpoint feels relevant and considerate rather than generic.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691640"/>
          </a:xfrm>
          <a:prstGeom prst="rect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64008" cy="1691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3017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38328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prospecting opportunities by finding clients who share interests with high-value prospects — accelerating referrals and introductions.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 Across Financial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E8ECF6"/>
          </a:solidFill>
          <a:ln w="25400">
            <a:solidFill>
              <a:srgbClr val="F2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88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client hobbies (golf, travel, art) for personalized advisor interactions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E8ECF6"/>
          </a:solidFill>
          <a:ln w="25400">
            <a:solidFill>
              <a:srgbClr val="4C9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88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customers interested in home buying, education planning, or retirement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cross-sell opportunities (e.g., mortgage for clients tagged 'home improvement')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E8ECF6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88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policy holders interested in health &amp; wellness, outdoor activities, or small business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targeted product offers aligned to lifestyle interests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Tag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19" y="1051560"/>
            <a:ext cx="7736449" cy="3749040"/>
          </a:xfrm>
          <a:prstGeom prst="rect">
            <a:avLst/>
          </a:prstGeom>
          <a:solidFill>
            <a:srgbClr val="E8ECF6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108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26366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Tag Category?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199" y="1691640"/>
            <a:ext cx="7225323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Categories are groupings that organize related Interest Tags under a common theme or topic. They act as folders that help advisors, managers, and analysts filter and report on client interests in a structured way.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Interest Tag can belong to up to 3 Tag Categories.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appear as filters in the Interest Tags component on record pages.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41A40"/>
          </a:solidFill>
          <a:ln w="12700">
            <a:solidFill>
              <a:srgbClr val="141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Exam Tip: Each Interest Tag can be assigned to a MAXIMUM of 3 Tag Categories. Tag Categories are stored as a separate object in FSC.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Interest Tags to a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097280"/>
            <a:ext cx="3840480" cy="868680"/>
          </a:xfrm>
          <a:prstGeom prst="rect">
            <a:avLst/>
          </a:prstGeom>
          <a:solidFill>
            <a:srgbClr val="E8ECF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097280"/>
            <a:ext cx="54864" cy="8686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Record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35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Account or Contact record where the Interest Tags component has been added (e.g., a client's contact page).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029968"/>
            <a:ext cx="3840480" cy="868680"/>
          </a:xfrm>
          <a:prstGeom prst="rect">
            <a:avLst/>
          </a:prstGeom>
          <a:solidFill>
            <a:srgbClr val="E8ECF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2029968"/>
            <a:ext cx="54864" cy="8686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075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Interest Tags Component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682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Interest Tags section on the record page. This component must first be added by an admin via Lightning App Builder.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2962656"/>
            <a:ext cx="3840480" cy="868680"/>
          </a:xfrm>
          <a:prstGeom prst="rect">
            <a:avLst/>
          </a:prstGeom>
          <a:solidFill>
            <a:srgbClr val="E8ECF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" y="2962656"/>
            <a:ext cx="54864" cy="8686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0083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'Add Interest Tags'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0098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button or 'Add Interest Tags' within the component. A search box will appear.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3895344"/>
            <a:ext cx="3840480" cy="868680"/>
          </a:xfrm>
          <a:prstGeom prst="rect">
            <a:avLst/>
          </a:prstGeom>
          <a:solidFill>
            <a:srgbClr val="E8ECF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" y="3895344"/>
            <a:ext cx="54864" cy="8686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39410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Select a Tag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336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search across all available tags. Select one or more tags — they are immediately saved to the record.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1097280"/>
            <a:ext cx="3840480" cy="3474720"/>
          </a:xfrm>
          <a:prstGeom prst="rect">
            <a:avLst/>
          </a:prstGeom>
          <a:solidFill>
            <a:srgbClr val="E8ECF6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1097280"/>
            <a:ext cx="3840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1115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Contact Record: Sarah Johnson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Johnson Family Trust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1874520"/>
            <a:ext cx="3840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1993392"/>
            <a:ext cx="548640" cy="25603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1993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2377440"/>
            <a:ext cx="114300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23774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19088" y="2377440"/>
            <a:ext cx="1143000" cy="347472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19088" y="23774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71816" y="2377440"/>
            <a:ext cx="11430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71816" y="23774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66360" y="2880360"/>
            <a:ext cx="11430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66360" y="2880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Planning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19088" y="2880360"/>
            <a:ext cx="114300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2880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66360" y="3474720"/>
            <a:ext cx="35661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57800" y="3474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Interest Tags...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913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0" y="3931920"/>
            <a:ext cx="71323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0" y="39319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60920" y="3931920"/>
            <a:ext cx="71323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60920" y="39319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38160" y="3931920"/>
            <a:ext cx="71323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38160" y="393192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41A40"/>
          </a:solidFill>
          <a:ln w="12700">
            <a:solidFill>
              <a:srgbClr val="141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Prerequisite: Admin must add the Interest Tags Lightning Component to the record page layout via Lightning App Builder 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Real-World Use Case — Retirement Planning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Client: Tom Harris, Age 55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749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During a routine check-in, Tom tells his advisor: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thinking of retiring in about 3 years. I want to start planning and make sure my savings will last."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Advisor immediately adds these tags to Tom's Contact record: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090672"/>
            <a:ext cx="17830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Planning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090672"/>
            <a:ext cx="1783080" cy="3657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1783080" cy="36576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3749040" cy="594360"/>
          </a:xfrm>
          <a:prstGeom prst="rect">
            <a:avLst/>
          </a:prstGeom>
          <a:solidFill>
            <a:srgbClr val="141A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Done! Tags are saved instantly on the record.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No extra steps. Just click + type + select.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4206240" cy="850392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70992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709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0368" y="1572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Runs a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18745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Topics report by the 'Retirement Planning' tag. Discovers 31 clients have the same tag across the team.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206240" cy="850392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6700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0368" y="2532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Outreach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28346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retirement review calls for all 31 clients — no manual searching, no missed opportunities.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206240" cy="850392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63016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630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37947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clients convert to managed retirement accounts. Advisor relationship deepens because Tom felt heard, not sold to.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tag was added in seconds during a normal conversation — yet it drove structured outreach for 31 clients.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Exam Key Points — Interest Tags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1430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 are built on top of standard Salesforce Topics object — NOT a custom FSC object.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41148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457200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44144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 are the correct feature when asked about tracking client hobbies, preferences, or interests for marketing.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350008"/>
            <a:ext cx="41148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441448"/>
            <a:ext cx="457200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67528" y="244144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Interest Tag can be assigned to a MAXIMUM of 3 Tag Categories.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657600" cy="3657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 capture what matters to clients beyond their finances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Categories organize tags into logical groups — each tag supports up to 3 categories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tags is simple: navigate to a record, open the Interest Tags component, search and select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 case: One casual retirement conversation → tag added → 31 clients identified → 12 converted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Salesforce Topics object — a key exam data model fact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Reportable via Custom Report Types using Topics as the primary object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5E6DEEB-F50B-4102-876A-34D07746D539}"/>
</file>

<file path=customXml/itemProps2.xml><?xml version="1.0" encoding="utf-8"?>
<ds:datastoreItem xmlns:ds="http://schemas.openxmlformats.org/officeDocument/2006/customXml" ds:itemID="{8194CB6C-FA69-425A-99CF-A4A748A4498B}"/>
</file>

<file path=customXml/itemProps3.xml><?xml version="1.0" encoding="utf-8"?>
<ds:datastoreItem xmlns:ds="http://schemas.openxmlformats.org/officeDocument/2006/customXml" ds:itemID="{B8BCE973-BCCC-423E-BC1B-F817A8B88566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942</Words>
  <Application>Microsoft Office PowerPoint</Application>
  <PresentationFormat>On-screen Show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2026-02-21T13:04:06Z</dcterms:created>
  <dcterms:modified xsi:type="dcterms:W3CDTF">2026-02-21T13:23:35Z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10734200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