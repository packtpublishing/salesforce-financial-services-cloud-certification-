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 Aulakh" userId="d6babfaf87fe36d4" providerId="LiveId" clId="{CE0E9DEC-6ECA-4D2B-9E81-522B3F6AC684}"/>
    <pc:docChg chg="delSld modSld">
      <pc:chgData name="Sim Aulakh" userId="d6babfaf87fe36d4" providerId="LiveId" clId="{CE0E9DEC-6ECA-4D2B-9E81-522B3F6AC684}" dt="2026-02-18T20:10:21.251" v="1" actId="47"/>
      <pc:docMkLst>
        <pc:docMk/>
      </pc:docMkLst>
      <pc:sldChg chg="del">
        <pc:chgData name="Sim Aulakh" userId="d6babfaf87fe36d4" providerId="LiveId" clId="{CE0E9DEC-6ECA-4D2B-9E81-522B3F6AC684}" dt="2026-02-18T20:10:21.251" v="1" actId="47"/>
        <pc:sldMkLst>
          <pc:docMk/>
          <pc:sldMk cId="0" sldId="256"/>
        </pc:sldMkLst>
      </pc:sldChg>
      <pc:sldChg chg="modSp mod">
        <pc:chgData name="Sim Aulakh" userId="d6babfaf87fe36d4" providerId="LiveId" clId="{CE0E9DEC-6ECA-4D2B-9E81-522B3F6AC684}" dt="2026-02-18T20:09:40.847" v="0" actId="14100"/>
        <pc:sldMkLst>
          <pc:docMk/>
          <pc:sldMk cId="0" sldId="258"/>
        </pc:sldMkLst>
        <pc:spChg chg="mod">
          <ac:chgData name="Sim Aulakh" userId="d6babfaf87fe36d4" providerId="LiveId" clId="{CE0E9DEC-6ECA-4D2B-9E81-522B3F6AC684}" dt="2026-02-18T20:09:40.847" v="0" actId="14100"/>
          <ac:spMkLst>
            <pc:docMk/>
            <pc:sldMk cId="0" sldId="258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6467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" y="3200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2C39A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" y="658368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Client's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Life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Journey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2194560"/>
            <a:ext cx="3090672" cy="2651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2267712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518"/>
                </a:solidFill>
              </a:rPr>
              <a:t>🔥 The Big Challenge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" y="2615184"/>
            <a:ext cx="290779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How do you organize all this information so you can: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See a family's complete financial picture?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Know which accounts belong to whom?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Calculate total family wealth quickly?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Track all family interactions?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Generate reports &amp; spot opportunities?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With regular software — nearly impossible!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03320" y="457200"/>
            <a:ext cx="126187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03320" y="45720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3B45"/>
                </a:solidFill>
              </a:rPr>
              <a:t>AGE 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03320" y="886968"/>
            <a:ext cx="1261872" cy="347472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03320" y="88696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First Job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03320" y="1280160"/>
            <a:ext cx="12618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58184" y="128016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Opens checking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03320" y="1664208"/>
            <a:ext cx="1261872" cy="384048"/>
          </a:xfrm>
          <a:prstGeom prst="rect">
            <a:avLst/>
          </a:prstGeom>
          <a:solidFill>
            <a:srgbClr val="F0FAFA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58184" y="1664208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Gets credit card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03320" y="2048256"/>
            <a:ext cx="12618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58184" y="2048256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Starts 401(k)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47488" y="457200"/>
            <a:ext cx="1261872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47488" y="45720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3B45"/>
                </a:solidFill>
              </a:rPr>
              <a:t>AGE 35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47488" y="886968"/>
            <a:ext cx="1261872" cy="347472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47488" y="88696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Gets Married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47488" y="1280160"/>
            <a:ext cx="12618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02352" y="128016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Joint account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47488" y="1664208"/>
            <a:ext cx="1261872" cy="384048"/>
          </a:xfrm>
          <a:prstGeom prst="rect">
            <a:avLst/>
          </a:prstGeom>
          <a:solidFill>
            <a:srgbClr val="F0FAFA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02352" y="1664208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Spouse added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47488" y="2048256"/>
            <a:ext cx="12618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02352" y="2048256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Life insurance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91656" y="457200"/>
            <a:ext cx="1261872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91656" y="45720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3B45"/>
                </a:solidFill>
              </a:rPr>
              <a:t>AGE 45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91656" y="886968"/>
            <a:ext cx="1261872" cy="347472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91656" y="88696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Buys House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91656" y="1280160"/>
            <a:ext cx="12618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46520" y="128016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Mortgage loan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91656" y="1664208"/>
            <a:ext cx="1261872" cy="384048"/>
          </a:xfrm>
          <a:prstGeom prst="rect">
            <a:avLst/>
          </a:prstGeom>
          <a:solidFill>
            <a:srgbClr val="F0FAFA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46520" y="1664208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529 for kids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91656" y="2048256"/>
            <a:ext cx="12618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46520" y="2048256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Investment acct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735824" y="457200"/>
            <a:ext cx="1261872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735824" y="45720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3B45"/>
                </a:solidFill>
              </a:rPr>
              <a:t>AGE 60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35824" y="886968"/>
            <a:ext cx="1261872" cy="347472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735824" y="88696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Retires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735824" y="1280160"/>
            <a:ext cx="12618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790688" y="128016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IRA withdrawals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735824" y="1664208"/>
            <a:ext cx="1261872" cy="384048"/>
          </a:xfrm>
          <a:prstGeom prst="rect">
            <a:avLst/>
          </a:prstGeom>
          <a:solidFill>
            <a:srgbClr val="F0FAFA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90688" y="1664208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Estate planning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735824" y="2048256"/>
            <a:ext cx="12618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790688" y="2048256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Health insurance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956048" y="649224"/>
            <a:ext cx="0" cy="0"/>
          </a:xfrm>
          <a:prstGeom prst="line">
            <a:avLst/>
          </a:prstGeom>
          <a:noFill/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703320" y="2450592"/>
            <a:ext cx="521208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703320" y="2450592"/>
            <a:ext cx="52120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794760" y="25603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B45"/>
                </a:solidFill>
              </a:rPr>
              <a:t>👨‍👩‍👧 Real Example: Martinez Family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794760" y="29443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▸  Joint checking $5K · Joint savings $45K · Roberto's 401k $180K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794760" y="33101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▸  Maria's IRA $85K · Home mortgage $320K · Sofia's 529 $35K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794760" y="36758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▸  Life insurance $500K · Auto insurance (2 cars)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794760" y="4041648"/>
            <a:ext cx="4956048" cy="640080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886200" y="4114800"/>
            <a:ext cx="4773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Total Assets: $350K  ·  Liabilities: $320K  ·  Net Worth: $30K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886200" y="4352544"/>
            <a:ext cx="4773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Now imagine tracking this for 500 families — you need specialized software!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C39A"/>
                </a:solidFill>
              </a:rPr>
              <a:t>THE GAP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Regular CRM Software Doesn't Work for Financial Services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3886200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93192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🏢  Standard B2B CRM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B45"/>
                </a:solidFill>
              </a:rPr>
              <a:t>Structure: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1874520"/>
            <a:ext cx="2651760" cy="41148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COMPANY (Account)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74520" y="228600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169164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0" y="228600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57400" y="2560320"/>
            <a:ext cx="123444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11880" y="228600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26080" y="2560320"/>
            <a:ext cx="123444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5603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John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(IT Mgr)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25603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Mary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(CEO)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0280" y="25603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Bob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(CFO)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0906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B45"/>
                </a:solidFill>
              </a:rPr>
              <a:t>Why it works for B2B: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40156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803D"/>
                </a:solidFill>
              </a:rPr>
              <a:t>✓  You sell to companies, not individuals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374904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803D"/>
                </a:solidFill>
              </a:rPr>
              <a:t>✓  Contacts are simply employees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09651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803D"/>
                </a:solidFill>
              </a:rPr>
              <a:t>✓  One company → multiple staff = simple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44398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803D"/>
                </a:solidFill>
              </a:rPr>
              <a:t>✓  No family relationships needed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0" y="2194560"/>
            <a:ext cx="914400" cy="914400"/>
          </a:xfrm>
          <a:prstGeom prst="ellipse">
            <a:avLst/>
          </a:prstGeom>
          <a:solidFill>
            <a:srgbClr val="023B45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VS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846320" y="960120"/>
            <a:ext cx="3931920" cy="3886200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46320" y="960120"/>
            <a:ext cx="39319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37760" y="960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🏦  Financial Services Relationships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0" y="15727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B45"/>
                </a:solidFill>
              </a:rPr>
              <a:t>The Johnson Family: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0" y="1874520"/>
            <a:ext cx="2651760" cy="384048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0" y="1874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Johnson Household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225856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321808" y="2514600"/>
            <a:ext cx="1572768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21808" y="25146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John Johnson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21808" y="2907792"/>
            <a:ext cx="475488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21808" y="290779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Checking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43016" y="2907792"/>
            <a:ext cx="475488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843016" y="290779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401(k)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64224" y="2907792"/>
            <a:ext cx="475488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64224" y="290779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Joint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772400" y="2258568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922008" y="2514600"/>
            <a:ext cx="1572768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922008" y="25146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Mary Johnson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922008" y="2907792"/>
            <a:ext cx="475488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22008" y="290779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IRA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43216" y="2907792"/>
            <a:ext cx="475488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443216" y="290779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Checking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964424" y="2907792"/>
            <a:ext cx="475488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964424" y="2907792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Joint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29200" y="33375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B45"/>
                </a:solidFill>
              </a:rPr>
              <a:t>Why it's complex: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029200" y="363931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1C1C"/>
                </a:solidFill>
              </a:rPr>
              <a:t>⚠️  Primary focus on individuals &amp; families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029200" y="395935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1C1C"/>
                </a:solidFill>
              </a:rPr>
              <a:t>⚠️  One person → MANY financial products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029200" y="427939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1C1C"/>
                </a:solidFill>
              </a:rPr>
              <a:t>⚠️  Mixed ownership: individual, joint, beneficiary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29200" y="459943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1C1C"/>
                </a:solidFill>
              </a:rPr>
              <a:t>⚠️  Must see both individual &amp; household views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C39A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Financial Services Cloud?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</a:rPr>
              <a:t>📚 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4416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A specialized version of Salesforce CRM designed specifically for banks, wealth management firms, and insurance companies — with pre-built data structures, features, and tools to manage client relationships, financial products, and business processes unique to financial services.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8412480" cy="658368"/>
          </a:xfrm>
          <a:prstGeom prst="rect">
            <a:avLst/>
          </a:prstGeom>
          <a:solidFill>
            <a:srgbClr val="FFF9E6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3500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B45"/>
                </a:solidFill>
              </a:rPr>
              <a:t>💭  Think of it this way: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624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Standard Salesforce = a blank notebook (use it for anything, but build your own structure).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35000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Financial Services Cloud = a pre-printed financial advisor planner with ready-made sections for clients, families, accounts, and goals. You just fill in the details!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2423160"/>
            <a:ext cx="0" cy="457200"/>
          </a:xfrm>
          <a:prstGeom prst="line">
            <a:avLst/>
          </a:prstGeom>
          <a:noFill/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2057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20574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78992" y="3218688"/>
            <a:ext cx="621792" cy="621792"/>
          </a:xfrm>
          <a:prstGeom prst="ellipse">
            <a:avLst/>
          </a:prstGeom>
          <a:solidFill>
            <a:srgbClr val="E8F7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78992" y="32186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38862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3B45"/>
                </a:solidFill>
              </a:rPr>
              <a:t>Built on Salesforce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All the power of Salesforce — security, reporting, mobile access — already included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42032" y="3108960"/>
            <a:ext cx="2057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42032" y="3108960"/>
            <a:ext cx="20574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55264" y="3218688"/>
            <a:ext cx="621792" cy="621792"/>
          </a:xfrm>
          <a:prstGeom prst="ellipse">
            <a:avLst/>
          </a:prstGeom>
          <a:solidFill>
            <a:srgbClr val="E8F7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55264" y="32186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633472" y="38862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3B45"/>
                </a:solidFill>
              </a:rPr>
              <a:t>Specialized for Finance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33472" y="420624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Objects for households, financial accounts, insurance policies — built in, not custom-coded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18304" y="3108960"/>
            <a:ext cx="2057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18304" y="3108960"/>
            <a:ext cx="20574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31536" y="3218688"/>
            <a:ext cx="621792" cy="621792"/>
          </a:xfrm>
          <a:prstGeom prst="ellipse">
            <a:avLst/>
          </a:prstGeom>
          <a:solidFill>
            <a:srgbClr val="E8F7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31536" y="32186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809744" y="38862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3B45"/>
                </a:solidFill>
              </a:rPr>
              <a:t>Pre-Built Features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9744" y="420624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Ready-made tools for common financial services needs — no building from scratch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94576" y="3108960"/>
            <a:ext cx="2057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94576" y="3108960"/>
            <a:ext cx="20574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607808" y="3218688"/>
            <a:ext cx="621792" cy="621792"/>
          </a:xfrm>
          <a:prstGeom prst="ellipse">
            <a:avLst/>
          </a:prstGeom>
          <a:solidFill>
            <a:srgbClr val="E8F7F9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607808" y="32186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986016" y="38862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3B45"/>
                </a:solidFill>
              </a:rPr>
              <a:t>Industry Data Model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86016" y="420624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Organized the way financial institutions actually work — clients, families, and products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C39A"/>
                </a:solidFill>
              </a:rPr>
              <a:t>THREE INDUSTRIES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FSC Is Designed for Three Financial Services Segments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3931920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432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🏦  Retail Banking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</a:rPr>
              <a:t>Personal banking products and services for everyday consumers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14884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B45"/>
                </a:solidFill>
              </a:rPr>
              <a:t>Products: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40487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 Checking &amp; savings accounts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267919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 Credit &amp; debit cards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295351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 Personal loans &amp; mortgages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" y="32278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 Auto loans &amp; ATM services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538728"/>
            <a:ext cx="25603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538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Chase · Bank of America · Wells Fargo · Local credit unions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858768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Sarah, a personal banker, uses FSC to see all customer accounts in one place, track mortgage readiness, and identify auto loan opportunities.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960120"/>
            <a:ext cx="2743200" cy="3931920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0" y="960120"/>
            <a:ext cx="2743200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960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💰  Wealth Management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1012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</a:rPr>
              <a:t>Helping affluent clients grow and protect their wealth over 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214884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B45"/>
                </a:solidFill>
              </a:rPr>
              <a:t>Products: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240487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 Investment portfolios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10128" y="267919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 Retirement planning (IRA, 401k)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10128" y="295351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 Financial goal tracking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10128" y="32278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 Estate planning &amp; trusts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91840" y="3538728"/>
            <a:ext cx="256032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91840" y="3538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Morgan Stanley · Charles Schwab · Edward Jones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91840" y="3858768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David, a wealth advisor, tracks portfolios and goals, schedules quarterly reviews, and sees household net worth automatically.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960120"/>
            <a:ext cx="2743200" cy="3931920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80760" y="960120"/>
            <a:ext cx="274320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72200" y="960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🛡️  Insurance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9048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</a:rPr>
              <a:t>Managing insurance policies, renewals, and claims for clients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0488" y="214884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B45"/>
                </a:solidFill>
              </a:rPr>
              <a:t>Products: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90488" y="240487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 Life &amp; auto insurance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90488" y="267919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 Home &amp; health insurance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90488" y="295351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 Commercial insurance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90488" y="32278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▸  Claims processing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72200" y="3538728"/>
            <a:ext cx="25603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72200" y="3538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State Farm · Allstate · Progressive · Geico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3858768"/>
            <a:ext cx="2560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Mike, an insurance agent, manages all client policies, tracks renewals, cross-sells products, and calculates household coverage totals.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C39A"/>
                </a:solidFill>
              </a:rPr>
              <a:t>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FSC vs Standard Salesforce — Side by Side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286000" cy="429768"/>
          </a:xfrm>
          <a:prstGeom prst="rect">
            <a:avLst/>
          </a:prstGeom>
          <a:solidFill>
            <a:srgbClr val="023B45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Aspect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914400"/>
            <a:ext cx="3017520" cy="429768"/>
          </a:xfrm>
          <a:prstGeom prst="rect">
            <a:avLst/>
          </a:prstGeom>
          <a:solidFill>
            <a:srgbClr val="023B45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97480" y="914400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Standard Salesforce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914400"/>
            <a:ext cx="3566160" cy="429768"/>
          </a:xfrm>
          <a:prstGeom prst="rect">
            <a:avLst/>
          </a:prstGeom>
          <a:solidFill>
            <a:srgbClr val="023B45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0" y="914400"/>
            <a:ext cx="3383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Financial Services Cloud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344168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344168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3B45"/>
                </a:solidFill>
              </a:rPr>
              <a:t>Primary Use Case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06040" y="1344168"/>
            <a:ext cx="3017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97480" y="1344168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B2B sales — selling to companies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0" y="1344168"/>
            <a:ext cx="3566160" cy="429768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60720" y="1344168"/>
            <a:ext cx="3383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</a:rPr>
              <a:t>B2C financial services — serving individuals &amp; families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773936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1773936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3B45"/>
                </a:solidFill>
              </a:rPr>
              <a:t>Main Objects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06040" y="1773936"/>
            <a:ext cx="3017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697480" y="1773936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Accounts (companies), Contacts (employees), Opportunities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0" y="1773936"/>
            <a:ext cx="3566160" cy="429768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60720" y="1773936"/>
            <a:ext cx="3383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</a:rPr>
              <a:t>Person Accounts, Households, Financial Accounts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203704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2203704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3B45"/>
                </a:solidFill>
              </a:rPr>
              <a:t>Relationship Focus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06040" y="2203704"/>
            <a:ext cx="3017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97480" y="2203704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Company → Employees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0" y="2203704"/>
            <a:ext cx="3566160" cy="429768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60720" y="2203704"/>
            <a:ext cx="3383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</a:rPr>
              <a:t>Family → Members → Financial Products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2633472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2633472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3B45"/>
                </a:solidFill>
              </a:rPr>
              <a:t>Data Aggregation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06040" y="2633472"/>
            <a:ext cx="3017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697480" y="2633472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Manual or custom coding required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0" y="2633472"/>
            <a:ext cx="3566160" cy="429768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760720" y="2633472"/>
            <a:ext cx="3383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</a:rPr>
              <a:t>Automatic household rollups built-in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3063240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3063240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3B45"/>
                </a:solidFill>
              </a:rPr>
              <a:t>Industry Features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606040" y="3063240"/>
            <a:ext cx="3017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697480" y="3063240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Generic — works for any industry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69280" y="3063240"/>
            <a:ext cx="3566160" cy="429768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760720" y="3063240"/>
            <a:ext cx="3383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</a:rPr>
              <a:t>Specific — banking, wealth, insurance pre-built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3493008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3493008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3B45"/>
                </a:solidFill>
              </a:rPr>
              <a:t>Financial Products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606040" y="3493008"/>
            <a:ext cx="3017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697480" y="3493008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Not included — needs custom objects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69280" y="3493008"/>
            <a:ext cx="3566160" cy="429768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760720" y="3493008"/>
            <a:ext cx="3383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</a:rPr>
              <a:t>Built-in Financial Account object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74320" y="3922776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5760" y="3922776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3B45"/>
                </a:solidFill>
              </a:rPr>
              <a:t>Household Mgmt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606040" y="3922776"/>
            <a:ext cx="3017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697480" y="3922776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Not available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669280" y="3922776"/>
            <a:ext cx="3566160" cy="429768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760720" y="3922776"/>
            <a:ext cx="3383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</a:rPr>
              <a:t>Core feature with visual relationship mapping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74320" y="4352544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65760" y="4352544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3B45"/>
                </a:solidFill>
              </a:rPr>
              <a:t>Action Plans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606040" y="4352544"/>
            <a:ext cx="3017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697480" y="4352544"/>
            <a:ext cx="2834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Not included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669280" y="4352544"/>
            <a:ext cx="3566160" cy="429768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760720" y="4352544"/>
            <a:ext cx="3383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28090"/>
                </a:solidFill>
              </a:rPr>
              <a:t>Built-in templates for common processes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A500"/>
                </a:solidFill>
              </a:rPr>
              <a:t>⭐  KEY: Standard Salesforce asks 'Which companies are we selling to?' — FSC asks 'Which families are we serving and how can we help them reach their financial goals?'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C39A"/>
                </a:solidFill>
              </a:rPr>
              <a:t>KEY FEATURES 1 &amp;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Households &amp; Rollups — Seeing the Family's Complete Picture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3931920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93192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🏠  Feature 1: Households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Groups related individuals (usually a family) so you can see their COMPLETE financial picture together — not just individual accounts.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148840"/>
            <a:ext cx="2926080" cy="438912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</a:rPr>
              <a:t>🏠  Johnson Household  |  Net Worth: $250K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24128" y="2587752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" y="2816352"/>
            <a:ext cx="16002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28163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John Johnson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3200400"/>
            <a:ext cx="1600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" y="320040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Checking $3K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3511296"/>
            <a:ext cx="1600200" cy="292608"/>
          </a:xfrm>
          <a:prstGeom prst="rect">
            <a:avLst/>
          </a:prstGeom>
          <a:solidFill>
            <a:srgbClr val="EBF9F9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" y="351129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401k $120K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" y="3822192"/>
            <a:ext cx="1600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" y="382219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Joint $8K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71800" y="2587752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423160" y="2816352"/>
            <a:ext cx="16002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423160" y="28163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Mary Johnson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23160" y="3200400"/>
            <a:ext cx="1600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468880" y="320040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IRA $95K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3511296"/>
            <a:ext cx="1600200" cy="292608"/>
          </a:xfrm>
          <a:prstGeom prst="rect">
            <a:avLst/>
          </a:prstGeom>
          <a:solidFill>
            <a:srgbClr val="EBF9F9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468880" y="351129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Checking $4K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23160" y="3822192"/>
            <a:ext cx="1600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468880" y="382219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Joint $8K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" y="418795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28090"/>
                </a:solidFill>
              </a:rPr>
              <a:t>All accounts roll up to household level!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188720" y="2587752"/>
            <a:ext cx="21945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960120"/>
            <a:ext cx="3931920" cy="3931920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46320" y="960120"/>
            <a:ext cx="3931920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37760" y="96012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🧮  Feature 2: Rollups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983480" y="15087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Automatic calculations that add up values from all household members — no manual math ever needed!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56048" y="2103120"/>
            <a:ext cx="37490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47488" y="21671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B45"/>
                </a:solidFill>
              </a:rPr>
              <a:t>Martinez Household — Input: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56048" y="2450592"/>
            <a:ext cx="3749040" cy="228600"/>
          </a:xfrm>
          <a:prstGeom prst="rect">
            <a:avLst/>
          </a:prstGeom>
          <a:solidFill>
            <a:srgbClr val="E8F7F9"/>
          </a:solidFill>
          <a:ln w="12700">
            <a:solidFill>
              <a:srgbClr val="E0F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0" y="24505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Roberto's checking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06640" y="245059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3B45"/>
                </a:solidFill>
              </a:rPr>
              <a:t>$3,000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56048" y="2679192"/>
            <a:ext cx="37490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0" y="26791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Maria's checking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06640" y="267919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3B45"/>
                </a:solidFill>
              </a:rPr>
              <a:t>$2,500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56048" y="2907792"/>
            <a:ext cx="3749040" cy="228600"/>
          </a:xfrm>
          <a:prstGeom prst="rect">
            <a:avLst/>
          </a:prstGeom>
          <a:solidFill>
            <a:srgbClr val="E8F7F9"/>
          </a:solidFill>
          <a:ln w="12700">
            <a:solidFill>
              <a:srgbClr val="E0F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29200" y="29077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Joint savings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06640" y="290779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3B45"/>
                </a:solidFill>
              </a:rPr>
              <a:t>$45,000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56048" y="3136392"/>
            <a:ext cx="37490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0" y="31363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Roberto's 401k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06640" y="313639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3B45"/>
                </a:solidFill>
              </a:rPr>
              <a:t>$180,000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956048" y="3364992"/>
            <a:ext cx="3749040" cy="228600"/>
          </a:xfrm>
          <a:prstGeom prst="rect">
            <a:avLst/>
          </a:prstGeom>
          <a:solidFill>
            <a:srgbClr val="E8F7F9"/>
          </a:solidFill>
          <a:ln w="12700">
            <a:solidFill>
              <a:srgbClr val="E0F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29200" y="33649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Maria's IRA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06640" y="336499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3B45"/>
                </a:solidFill>
              </a:rPr>
              <a:t>$85,000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956048" y="3593592"/>
            <a:ext cx="37490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29200" y="35935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Joint mortgage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406640" y="359359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1C1C"/>
                </a:solidFill>
              </a:rPr>
              <a:t>-$320,000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956048" y="3867912"/>
            <a:ext cx="3749040" cy="749808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047488" y="38953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</a:rPr>
              <a:t>→  FSC AUTOMATICALLY Calculates: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047488" y="41605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Assets: $315,500  ·  Total Liabilities: $320,000  ·  Net Worth: -$4,500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C39A"/>
                </a:solidFill>
              </a:rPr>
              <a:t>KEY FEATURES 3 &amp;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Plans &amp; Life Events — Automate Processes &amp; Spot Opportunities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931920" cy="475488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500"/>
                </a:solidFill>
              </a:rPr>
              <a:t>📋  Feature 3: Action Plans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Pre-built templates for common processes that automatically create tasks — with due dates, assignments, and proper sequencing.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3B45"/>
                </a:solidFill>
              </a:rPr>
              <a:t>Example: Opening a New Checking Account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423160"/>
            <a:ext cx="3840480" cy="347472"/>
          </a:xfrm>
          <a:prstGeom prst="rect">
            <a:avLst/>
          </a:prstGeom>
          <a:solidFill>
            <a:srgbClr val="E8F7F9"/>
          </a:solidFill>
          <a:ln w="12700">
            <a:solidFill>
              <a:srgbClr val="E0F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423160"/>
            <a:ext cx="5029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423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Day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9264" y="2423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Collect identification docs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55264" y="242316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</a:rPr>
              <a:t>Banker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770632"/>
            <a:ext cx="3840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770632"/>
            <a:ext cx="5029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7706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Day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9264" y="27706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Verify customer identity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55264" y="2770632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</a:rPr>
              <a:t>Compliance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118104"/>
            <a:ext cx="3840480" cy="347472"/>
          </a:xfrm>
          <a:prstGeom prst="rect">
            <a:avLst/>
          </a:prstGeom>
          <a:solidFill>
            <a:srgbClr val="E8F7F9"/>
          </a:solidFill>
          <a:ln w="12700">
            <a:solidFill>
              <a:srgbClr val="E0F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118104"/>
            <a:ext cx="5029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1181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Day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9264" y="31181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Review account options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5264" y="311810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</a:rPr>
              <a:t>Banker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465576"/>
            <a:ext cx="3840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3465576"/>
            <a:ext cx="5029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4655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Day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9264" y="34655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Complete application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55264" y="3465576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</a:rPr>
              <a:t>Banker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813048"/>
            <a:ext cx="3840480" cy="347472"/>
          </a:xfrm>
          <a:prstGeom prst="rect">
            <a:avLst/>
          </a:prstGeom>
          <a:solidFill>
            <a:srgbClr val="E8F7F9"/>
          </a:solidFill>
          <a:ln w="12700">
            <a:solidFill>
              <a:srgbClr val="E0F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3813048"/>
            <a:ext cx="5029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38130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Day 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69264" y="38130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Order debit card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55264" y="381304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</a:rPr>
              <a:t>Operations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4160520"/>
            <a:ext cx="3840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11480" y="4160520"/>
            <a:ext cx="5029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41605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Day 14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69264" y="41605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Schedule follow-up call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55264" y="416052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</a:rPr>
              <a:t>Banker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4507992"/>
            <a:ext cx="3840480" cy="32004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" y="4507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A500"/>
                </a:solidFill>
              </a:rPr>
              <a:t>1 click → 6 tasks created automatically, properly sequenced &amp; assigned!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46320" y="96012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46320" y="960120"/>
            <a:ext cx="3931920" cy="475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37760" y="96012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🌟  Feature 4: Life Events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4983480" y="15087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Track major milestones in clients' lives that create financial service opportunities — FSC surfaces them automatically.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892040" y="2057400"/>
            <a:ext cx="3840480" cy="457200"/>
          </a:xfrm>
          <a:prstGeom prst="rect">
            <a:avLst/>
          </a:prstGeom>
          <a:solidFill>
            <a:srgbClr val="E8F7F9"/>
          </a:solidFill>
          <a:ln w="12700">
            <a:solidFill>
              <a:srgbClr val="E0F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956048" y="20574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B45"/>
                </a:solidFill>
              </a:rPr>
              <a:t>💍 Marriage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190488" y="20574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Joint accounts, life insurance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790688" y="20574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8090"/>
                </a:solidFill>
              </a:rPr>
              <a:t>→ Schedule financial review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92040" y="251460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956048" y="25146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B45"/>
                </a:solidFill>
              </a:rPr>
              <a:t>👶 New Baby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190488" y="25146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529 savings, update beneficiaries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790688" y="25146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8090"/>
                </a:solidFill>
              </a:rPr>
              <a:t>→ Goal planning meeting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92040" y="2971800"/>
            <a:ext cx="3840480" cy="457200"/>
          </a:xfrm>
          <a:prstGeom prst="rect">
            <a:avLst/>
          </a:prstGeom>
          <a:solidFill>
            <a:srgbClr val="E8F7F9"/>
          </a:solidFill>
          <a:ln w="12700">
            <a:solidFill>
              <a:srgbClr val="E0F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956048" y="29718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B45"/>
                </a:solidFill>
              </a:rPr>
              <a:t>🏡 Home Purchase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190488" y="29718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Mortgage, home insurance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790688" y="29718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8090"/>
                </a:solidFill>
              </a:rPr>
              <a:t>→ Refer to mortgage specialist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92040" y="342900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956048" y="3429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B45"/>
                </a:solidFill>
              </a:rPr>
              <a:t>💼 Job Change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190488" y="34290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Rollover 401k, update income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790688" y="34290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8090"/>
                </a:solidFill>
              </a:rPr>
              <a:t>→ Review retirement strategy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892040" y="3886200"/>
            <a:ext cx="3840480" cy="457200"/>
          </a:xfrm>
          <a:prstGeom prst="rect">
            <a:avLst/>
          </a:prstGeom>
          <a:solidFill>
            <a:srgbClr val="E8F7F9"/>
          </a:solidFill>
          <a:ln w="12700">
            <a:solidFill>
              <a:srgbClr val="E0F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956048" y="38862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B45"/>
                </a:solidFill>
              </a:rPr>
              <a:t>🎓 Retirement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190488" y="38862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Distribution planning, Medicare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790688" y="38862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8090"/>
                </a:solidFill>
              </a:rPr>
              <a:t>→ Create retirement income plan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892040" y="434340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956048" y="43434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B45"/>
                </a:solidFill>
              </a:rPr>
              <a:t>⚖️ Divorce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190488" y="43434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Separate accounts, beneficiaries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790688" y="43434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8090"/>
                </a:solidFill>
              </a:rPr>
              <a:t>→ Financial restructuring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892040" y="4809744"/>
            <a:ext cx="3840480" cy="8229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C39A"/>
                </a:solidFill>
              </a:rPr>
              <a:t>KEY FEATURE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Actionable Relationship Center (ARC) — See All Connections Visually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200400" cy="1463040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91440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024128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B45"/>
                </a:solidFill>
              </a:rPr>
              <a:t>💡 What ARC 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371600"/>
            <a:ext cx="29077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A visual, interactive map showing how people, households, and financial accounts connect to each other. Click any person or account to see full details instantly.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3200400" cy="1481328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91440" cy="14813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78608"/>
            <a:ext cx="2907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B45"/>
                </a:solidFill>
              </a:rPr>
              <a:t>⭐ Why It Matters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944368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▸  Complex relationships are hard to understand in tables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236976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▸  Shows three generations in one household 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529584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▸  Visualizes trusts, beneficiaries, and joint ownership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3822192"/>
            <a:ext cx="2907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▸  Answer complex estate questions confidently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87368"/>
            <a:ext cx="3200400" cy="804672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41330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🎯 Real Use Case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40740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Thompson family estate call: advisor opened ARC and instantly saw 3 generations, joint/individual accounts, and a $1.2M trust with split beneficiaries.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49040" y="960120"/>
            <a:ext cx="5120640" cy="3931920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49040" y="960120"/>
            <a:ext cx="51206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0" y="960120"/>
            <a:ext cx="4937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Thompson Family — Relationship Map (ARC View)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1572768"/>
            <a:ext cx="2560320" cy="475488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157276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</a:rPr>
              <a:t>🏠  Thompson Household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26280" y="2048256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86200" y="2322576"/>
            <a:ext cx="1280160" cy="7315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86200" y="232257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Michael Sr.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(Father, 68)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26280" y="3054096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886200" y="3282696"/>
            <a:ext cx="402336" cy="320040"/>
          </a:xfrm>
          <a:prstGeom prst="rect">
            <a:avLst/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86200" y="3282696"/>
            <a:ext cx="402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23B45"/>
                </a:solidFill>
              </a:rPr>
              <a:t>His 401k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315968" y="3282696"/>
            <a:ext cx="402336" cy="320040"/>
          </a:xfrm>
          <a:prstGeom prst="rect">
            <a:avLst/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15968" y="3282696"/>
            <a:ext cx="402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23B45"/>
                </a:solidFill>
              </a:rPr>
              <a:t>IRA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61888" y="2048256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21808" y="2322576"/>
            <a:ext cx="1280160" cy="7315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21808" y="232257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Michael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(Son, 35)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61888" y="3054096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321808" y="3282696"/>
            <a:ext cx="402336" cy="320040"/>
          </a:xfrm>
          <a:prstGeom prst="rect">
            <a:avLst/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21808" y="3282696"/>
            <a:ext cx="402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23B45"/>
                </a:solidFill>
              </a:rPr>
              <a:t>401k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751576" y="3282696"/>
            <a:ext cx="402336" cy="320040"/>
          </a:xfrm>
          <a:prstGeom prst="rect">
            <a:avLst/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751576" y="3282696"/>
            <a:ext cx="402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23B45"/>
                </a:solidFill>
              </a:rPr>
              <a:t>IRA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81344" y="3282696"/>
            <a:ext cx="402336" cy="320040"/>
          </a:xfrm>
          <a:prstGeom prst="rect">
            <a:avLst/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81344" y="3282696"/>
            <a:ext cx="402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23B45"/>
                </a:solidFill>
              </a:rPr>
              <a:t>Joint Chk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388352" y="2048256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748272" y="2322576"/>
            <a:ext cx="1280160" cy="7315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748272" y="2322576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Elizabeth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(Daughter, 32)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88352" y="3054096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748272" y="3282696"/>
            <a:ext cx="402336" cy="320040"/>
          </a:xfrm>
          <a:prstGeom prst="rect">
            <a:avLst/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748272" y="3282696"/>
            <a:ext cx="402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23B45"/>
                </a:solidFill>
              </a:rPr>
              <a:t>His IRA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178040" y="3282696"/>
            <a:ext cx="402336" cy="320040"/>
          </a:xfrm>
          <a:prstGeom prst="rect">
            <a:avLst/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178040" y="3282696"/>
            <a:ext cx="402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23B45"/>
                </a:solidFill>
              </a:rPr>
              <a:t>Her IRA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607808" y="3282696"/>
            <a:ext cx="402336" cy="320040"/>
          </a:xfrm>
          <a:prstGeom prst="rect">
            <a:avLst/>
          </a:prstGeom>
          <a:solidFill>
            <a:srgbClr val="E0F4F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607808" y="3282696"/>
            <a:ext cx="402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23B45"/>
                </a:solidFill>
              </a:rPr>
              <a:t>Joint Chk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074920" y="3730752"/>
            <a:ext cx="2331720" cy="5669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120640" y="3749040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3B45"/>
                </a:solidFill>
              </a:rPr>
              <a:t>THOMPSON FAMILY TRUST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23B45"/>
                </a:solidFill>
              </a:rPr>
              <a:t>$1.2M  ·  Michael (50%) · Elizabeth (50%)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669280" y="3602736"/>
            <a:ext cx="0" cy="128016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556248" y="3602736"/>
            <a:ext cx="0" cy="128016"/>
          </a:xfrm>
          <a:prstGeom prst="line">
            <a:avLst/>
          </a:prstGeom>
          <a:noFill/>
          <a:ln w="254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840480" y="44074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8090"/>
                </a:solidFill>
              </a:rPr>
              <a:t>Click any node to see full details — all in one screen!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C39A"/>
                </a:solidFill>
              </a:rPr>
              <a:t>REAL-WORLD WALKTHROUGH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Day in the Life of Sarah Chen — Relationship Manager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62763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627632" cy="64008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8755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A500"/>
                </a:solidFill>
              </a:rPr>
              <a:t>8:30 AM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🌅 Starting the Day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1444752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Sarah's dashboard shows 150 households, $45.2M AUM, 3 action plans due, 2 client birthdays, and an auto-insurance opportunity for Sofia Martinez — all surfaced automatically.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39112" y="960120"/>
            <a:ext cx="162763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39112" y="960120"/>
            <a:ext cx="1627632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39112" y="98755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A500"/>
                </a:solidFill>
              </a:rPr>
              <a:t>9:00 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39112" y="123444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📞 Roberto Martinez Calls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30552" y="1664208"/>
            <a:ext cx="1444752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Roberto asks about a savings account. Sarah instantly sees all 5 Martinez accounts, $30K net worth, Sofia's 16th birthday (2 weeks ago), and suggests both a high-yield savings AND auto insurance for Sofia.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58184" y="960120"/>
            <a:ext cx="162763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58184" y="960120"/>
            <a:ext cx="1627632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58184" y="98755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A500"/>
                </a:solidFill>
              </a:rPr>
              <a:t>10:30 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58184" y="123444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Action Plan Created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9624" y="1664208"/>
            <a:ext cx="1444752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Roberto says yes to a savings account. Sarah clicks 'Open Savings Account' template — 6 tasks are created instantly, properly timed and assigned to Sarah, Compliance, Roberto, and Operations.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77256" y="960120"/>
            <a:ext cx="162763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77256" y="960120"/>
            <a:ext cx="1627632" cy="64008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77256" y="98755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A500"/>
                </a:solidFill>
              </a:rPr>
              <a:t>2:00 PM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77256" y="123444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🗺️ Relationship Center (ARC)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68696" y="1664208"/>
            <a:ext cx="1444752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Thompson family calls about estate planning. Sarah opens ARC and sees 3 generations, individual and joint accounts, and a $1.2M trust — answers their questions confidently in minutes.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96328" y="960120"/>
            <a:ext cx="162763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96328" y="960120"/>
            <a:ext cx="1627632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96328" y="987552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A500"/>
                </a:solidFill>
              </a:rPr>
              <a:t>4:00 PM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96328" y="123444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Opportunity Report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87768" y="1664208"/>
            <a:ext cx="1444752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Manager asks about kids turning 16. Sarah filters Life Events for '16th Birthday this year' — finds 23 households, $45K estimated annual premium opportunity. She starts calling immediately.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⚡  Without FSC: hours of manual work  →  With FSC: automated, connected, visual, proactive — all in one system!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C39A"/>
                </a:solidFill>
              </a:rPr>
              <a:t>EXAM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Feature Solves Which Problem? — The Exam Mapping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51960" cy="1234440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9144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❓  Need to group people into a family unit?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8720" y="1527048"/>
            <a:ext cx="32461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15270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🏠  Households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4251960" cy="1234440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91440" cy="1234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09728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❓  Need to track financial products (savings, IRA, mortgage)?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15087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69280" y="1527048"/>
            <a:ext cx="3246120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0" y="152704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💳  Financial Accounts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4251960" cy="1234440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91440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4231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❓  Need automatic calculations of total family wealth?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8346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88720" y="2852928"/>
            <a:ext cx="324612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88720" y="285292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🧮  Rollups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46320" y="2331720"/>
            <a:ext cx="4251960" cy="1234440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2331720"/>
            <a:ext cx="91440" cy="1234440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0" y="24231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❓  Need to standardize &amp; automate repeatable processes?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28346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3B45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69280" y="2852928"/>
            <a:ext cx="3246120" cy="566928"/>
          </a:xfrm>
          <a:prstGeom prst="rect">
            <a:avLst/>
          </a:prstGeom>
          <a:solidFill>
            <a:srgbClr val="023B45"/>
          </a:solidFill>
          <a:ln w="12700">
            <a:solidFill>
              <a:srgbClr val="023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69280" y="285292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📋  Action Plans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5760" y="3657600"/>
            <a:ext cx="4251960" cy="1234440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3657600"/>
            <a:ext cx="9144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37490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❓  Need to visualize complex family/account relationships?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4160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88720" y="4178808"/>
            <a:ext cx="32461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88720" y="417880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🗺️  Relationship Center (ARC)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46320" y="3657600"/>
            <a:ext cx="4251960" cy="1234440"/>
          </a:xfrm>
          <a:prstGeom prst="rect">
            <a:avLst/>
          </a:prstGeom>
          <a:solidFill>
            <a:srgbClr val="E8F7F9"/>
          </a:solidFill>
          <a:ln w="12700">
            <a:solidFill>
              <a:srgbClr val="C8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46320" y="3657600"/>
            <a:ext cx="91440" cy="1234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0" y="37490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❓  Need to track life milestones &amp; spot opportunities?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4160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669280" y="4178808"/>
            <a:ext cx="3246120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69280" y="417880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🌟  Life Events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TIP: Exam questions are scenario-based. Ask yourself: 'What is the problem being described?' then map it to the correct feature!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3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 CHAPTER 1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C39A"/>
                </a:solidFill>
              </a:rPr>
              <a:t>Understanding Financial Services Cloud — Key Takeaways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77640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9776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🔥  1. The Problem FSC Solves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▸  Complex family relationships &amp; mixed ownership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▸  Multiple financial products per person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▸  Need for both individual &amp; household views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77640" cy="1691640"/>
          </a:xfrm>
          <a:prstGeom prst="rect">
            <a:avLst/>
          </a:prstGeom>
          <a:solidFill>
            <a:srgbClr val="1A5C38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776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📚  2. What FSC 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6276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▸  Specialized Salesforce for financial services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9933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▸  Pre-built for banks, wealth managers, insurers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▸  Industry-specific data model &amp; features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3977640" cy="1691640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39776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🏢  3. The Three Industries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35478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▸  Retail Banking: checking, loans, mortgages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9136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▸  Wealth Management: investments, retirement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2793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▸  Insurance: policies, claims, coverage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3977640" cy="1691640"/>
          </a:xfrm>
          <a:prstGeom prst="rect">
            <a:avLst/>
          </a:prstGeom>
          <a:solidFill>
            <a:srgbClr val="5C1A3A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3017520"/>
            <a:ext cx="39776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 4. Six Key Features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92040" y="35478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▸  Households · Financial Accounts · Rollups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9136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▸  Action Plans · Relationship Center (ARC)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42793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▸  Life Events — all working together!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B45"/>
                </a:solidFill>
              </a:rPr>
              <a:t>NEXT: Chapter 2 — The FSC Data Model: Person Accounts vs Individual Accounts (HIGH exam weight!)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EC4FAED17FD4FA002B715A7CB3129" ma:contentTypeVersion="19" ma:contentTypeDescription="Create a new document." ma:contentTypeScope="" ma:versionID="fc607e3a73fbd72e1e6558e9065345a3">
  <xsd:schema xmlns:xsd="http://www.w3.org/2001/XMLSchema" xmlns:xs="http://www.w3.org/2001/XMLSchema" xmlns:p="http://schemas.microsoft.com/office/2006/metadata/properties" xmlns:ns2="92e4be8c-5aca-45ec-8e17-deab1f90d7c8" xmlns:ns3="92b31412-8c8f-44f1-a883-141cef3f34cc" targetNamespace="http://schemas.microsoft.com/office/2006/metadata/properties" ma:root="true" ma:fieldsID="33e2405e61dc50088f30f9e2951fba88" ns2:_="" ns3:_="">
    <xsd:import namespace="92e4be8c-5aca-45ec-8e17-deab1f90d7c8"/>
    <xsd:import namespace="92b31412-8c8f-44f1-a883-141cef3f34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Duratio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4be8c-5aca-45ec-8e17-deab1f90d7c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795d2f5-1cbf-45cb-9409-0dc909a94953}" ma:internalName="TaxCatchAll" ma:showField="CatchAllData" ma:web="92e4be8c-5aca-45ec-8e17-deab1f90d7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31412-8c8f-44f1-a883-141cef3f3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uration" ma:index="19" nillable="true" ma:displayName="Duration" ma:internalName="Duration">
      <xsd:simpleType>
        <xsd:restriction base="dms:Text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b31412-8c8f-44f1-a883-141cef3f34cc">
      <Terms xmlns="http://schemas.microsoft.com/office/infopath/2007/PartnerControls"/>
    </lcf76f155ced4ddcb4097134ff3c332f>
    <TaxCatchAll xmlns="92e4be8c-5aca-45ec-8e17-deab1f90d7c8" xsi:nil="true"/>
    <Duration xmlns="92b31412-8c8f-44f1-a883-141cef3f34cc" xsi:nil="true"/>
    <SharedWithUsers xmlns="92e4be8c-5aca-45ec-8e17-deab1f90d7c8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8F5ADA5C-74B0-42BD-B399-16A84D9DBA29}"/>
</file>

<file path=customXml/itemProps2.xml><?xml version="1.0" encoding="utf-8"?>
<ds:datastoreItem xmlns:ds="http://schemas.openxmlformats.org/officeDocument/2006/customXml" ds:itemID="{74E1F219-BA55-457D-B488-4155F12FFEBB}"/>
</file>

<file path=customXml/itemProps3.xml><?xml version="1.0" encoding="utf-8"?>
<ds:datastoreItem xmlns:ds="http://schemas.openxmlformats.org/officeDocument/2006/customXml" ds:itemID="{B0ABC082-A21A-44BF-BFBE-E4D0E2D3DC7E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1906</Words>
  <Application>Microsoft Office PowerPoint</Application>
  <PresentationFormat>On-screen Show (16:9)</PresentationFormat>
  <Paragraphs>325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PptxGenJS</dc:creator>
  <cp:lastModifiedBy>Sim Aulakh</cp:lastModifiedBy>
  <cp:revision>1</cp:revision>
  <dcterms:created xsi:type="dcterms:W3CDTF">2026-02-18T13:43:14Z</dcterms:created>
  <dcterms:modified xsi:type="dcterms:W3CDTF">2026-02-18T20:10:30Z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0x010100AF5EC4FAED17FD4FA002B715A7CB3129</vt:lpwstr>
  </property>
  <property fmtid="{D5CDD505-2E9C-101B-9397-08002B2CF9AE}" pid="3" name="Order">
    <vt:r8>10734300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