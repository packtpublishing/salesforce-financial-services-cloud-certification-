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custSel delSld modSld">
      <pc:chgData name="Sim Aulakh" userId="d6babfaf87fe36d4" providerId="LiveId" clId="{CE0E9DEC-6ECA-4D2B-9E81-522B3F6AC684}" dt="2026-02-21T15:59:11.127" v="13" actId="47"/>
      <pc:docMkLst>
        <pc:docMk/>
      </pc:docMkLst>
      <pc:sldChg chg="modSp mod">
        <pc:chgData name="Sim Aulakh" userId="d6babfaf87fe36d4" providerId="LiveId" clId="{CE0E9DEC-6ECA-4D2B-9E81-522B3F6AC684}" dt="2026-02-21T15:29:22" v="2" actId="20577"/>
        <pc:sldMkLst>
          <pc:docMk/>
          <pc:sldMk cId="0" sldId="257"/>
        </pc:sldMkLst>
        <pc:spChg chg="mod">
          <ac:chgData name="Sim Aulakh" userId="d6babfaf87fe36d4" providerId="LiveId" clId="{CE0E9DEC-6ECA-4D2B-9E81-522B3F6AC684}" dt="2026-02-21T15:28:27.732" v="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im Aulakh" userId="d6babfaf87fe36d4" providerId="LiveId" clId="{CE0E9DEC-6ECA-4D2B-9E81-522B3F6AC684}" dt="2026-02-21T15:29:10.500" v="1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im Aulakh" userId="d6babfaf87fe36d4" providerId="LiveId" clId="{CE0E9DEC-6ECA-4D2B-9E81-522B3F6AC684}" dt="2026-02-21T15:29:22" v="2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Sim Aulakh" userId="d6babfaf87fe36d4" providerId="LiveId" clId="{CE0E9DEC-6ECA-4D2B-9E81-522B3F6AC684}" dt="2026-02-21T15:31:20.560" v="5" actId="20577"/>
        <pc:sldMkLst>
          <pc:docMk/>
          <pc:sldMk cId="0" sldId="258"/>
        </pc:sldMkLst>
        <pc:spChg chg="mod">
          <ac:chgData name="Sim Aulakh" userId="d6babfaf87fe36d4" providerId="LiveId" clId="{CE0E9DEC-6ECA-4D2B-9E81-522B3F6AC684}" dt="2026-02-21T15:29:45.978" v="4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im Aulakh" userId="d6babfaf87fe36d4" providerId="LiveId" clId="{CE0E9DEC-6ECA-4D2B-9E81-522B3F6AC684}" dt="2026-02-21T15:31:20.560" v="5" actId="20577"/>
          <ac:spMkLst>
            <pc:docMk/>
            <pc:sldMk cId="0" sldId="258"/>
            <ac:spMk id="27" creationId="{00000000-0000-0000-0000-000000000000}"/>
          </ac:spMkLst>
        </pc:spChg>
      </pc:sldChg>
      <pc:sldChg chg="del">
        <pc:chgData name="Sim Aulakh" userId="d6babfaf87fe36d4" providerId="LiveId" clId="{CE0E9DEC-6ECA-4D2B-9E81-522B3F6AC684}" dt="2026-02-21T15:59:11.127" v="13" actId="47"/>
        <pc:sldMkLst>
          <pc:docMk/>
          <pc:sldMk cId="0" sldId="259"/>
        </pc:sldMkLst>
      </pc:sldChg>
      <pc:sldChg chg="delSp mod">
        <pc:chgData name="Sim Aulakh" userId="d6babfaf87fe36d4" providerId="LiveId" clId="{CE0E9DEC-6ECA-4D2B-9E81-522B3F6AC684}" dt="2026-02-21T15:33:19.006" v="8" actId="478"/>
        <pc:sldMkLst>
          <pc:docMk/>
          <pc:sldMk cId="0" sldId="260"/>
        </pc:sldMkLst>
        <pc:spChg chg="del">
          <ac:chgData name="Sim Aulakh" userId="d6babfaf87fe36d4" providerId="LiveId" clId="{CE0E9DEC-6ECA-4D2B-9E81-522B3F6AC684}" dt="2026-02-21T15:33:12.826" v="7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2.826" v="7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2.826" v="7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35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36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38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39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40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41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42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43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44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45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46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47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07.098" v="6" actId="478"/>
          <ac:spMkLst>
            <pc:docMk/>
            <pc:sldMk cId="0" sldId="260"/>
            <ac:spMk id="48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49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19.006" v="8" actId="478"/>
          <ac:spMkLst>
            <pc:docMk/>
            <pc:sldMk cId="0" sldId="260"/>
            <ac:spMk id="50" creationId="{00000000-0000-0000-0000-000000000000}"/>
          </ac:spMkLst>
        </pc:spChg>
      </pc:sldChg>
      <pc:sldChg chg="delSp mod">
        <pc:chgData name="Sim Aulakh" userId="d6babfaf87fe36d4" providerId="LiveId" clId="{CE0E9DEC-6ECA-4D2B-9E81-522B3F6AC684}" dt="2026-02-21T15:33:58.237" v="11" actId="478"/>
        <pc:sldMkLst>
          <pc:docMk/>
          <pc:sldMk cId="0" sldId="261"/>
        </pc:sldMkLst>
        <pc:spChg chg="del">
          <ac:chgData name="Sim Aulakh" userId="d6babfaf87fe36d4" providerId="LiveId" clId="{CE0E9DEC-6ECA-4D2B-9E81-522B3F6AC684}" dt="2026-02-21T15:33:55.955" v="10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58.237" v="11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58.237" v="11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44.965" v="9" actId="478"/>
          <ac:spMkLst>
            <pc:docMk/>
            <pc:sldMk cId="0" sldId="261"/>
            <ac:spMk id="41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44.965" v="9" actId="478"/>
          <ac:spMkLst>
            <pc:docMk/>
            <pc:sldMk cId="0" sldId="261"/>
            <ac:spMk id="42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55.955" v="10" actId="478"/>
          <ac:spMkLst>
            <pc:docMk/>
            <pc:sldMk cId="0" sldId="261"/>
            <ac:spMk id="47" creationId="{00000000-0000-0000-0000-000000000000}"/>
          </ac:spMkLst>
        </pc:spChg>
        <pc:spChg chg="del">
          <ac:chgData name="Sim Aulakh" userId="d6babfaf87fe36d4" providerId="LiveId" clId="{CE0E9DEC-6ECA-4D2B-9E81-522B3F6AC684}" dt="2026-02-21T15:33:55.955" v="10" actId="478"/>
          <ac:spMkLst>
            <pc:docMk/>
            <pc:sldMk cId="0" sldId="261"/>
            <ac:spMk id="48" creationId="{00000000-0000-0000-0000-000000000000}"/>
          </ac:spMkLst>
        </pc:spChg>
      </pc:sldChg>
      <pc:sldChg chg="del">
        <pc:chgData name="Sim Aulakh" userId="d6babfaf87fe36d4" providerId="LiveId" clId="{CE0E9DEC-6ECA-4D2B-9E81-522B3F6AC684}" dt="2026-02-21T15:34:08.979" v="12" actId="4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71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3504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72200" y="457200"/>
            <a:ext cx="2788920" cy="694944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72200" y="457200"/>
            <a:ext cx="2788920" cy="694944"/>
          </a:xfrm>
          <a:prstGeom prst="rect">
            <a:avLst/>
          </a:prstGeom>
          <a:solidFill>
            <a:srgbClr val="0F2044">
              <a:alpha val="35000"/>
            </a:srgbClr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36208" y="457200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Lead Referral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44168"/>
            <a:ext cx="2788920" cy="694944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344168"/>
            <a:ext cx="2788920" cy="694944"/>
          </a:xfrm>
          <a:prstGeom prst="rect">
            <a:avLst/>
          </a:prstGeom>
          <a:solidFill>
            <a:srgbClr val="0F2044">
              <a:alpha val="35000"/>
            </a:srgbClr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6208" y="1344168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Assignment Rule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231136"/>
            <a:ext cx="2788920" cy="694944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72200" y="2231136"/>
            <a:ext cx="2788920" cy="694944"/>
          </a:xfrm>
          <a:prstGeom prst="rect">
            <a:avLst/>
          </a:prstGeom>
          <a:solidFill>
            <a:srgbClr val="0F2044">
              <a:alpha val="35000"/>
            </a:srgbClr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36208" y="2231136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Internal Referral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118104"/>
            <a:ext cx="2788920" cy="694944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3118104"/>
            <a:ext cx="2788920" cy="694944"/>
          </a:xfrm>
          <a:prstGeom prst="rect">
            <a:avLst/>
          </a:prstGeom>
          <a:solidFill>
            <a:srgbClr val="0F2044">
              <a:alpha val="35000"/>
            </a:srgbClr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3118104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External Referral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4005072"/>
            <a:ext cx="2788920" cy="694944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4005072"/>
            <a:ext cx="2788920" cy="694944"/>
          </a:xfrm>
          <a:prstGeom prst="rect">
            <a:avLst/>
          </a:prstGeom>
          <a:solidFill>
            <a:srgbClr val="0F2044">
              <a:alpha val="35000"/>
            </a:srgbClr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400507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Path Setting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50292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</a:t>
            </a:r>
            <a:endParaRPr lang="en-US" sz="5800" dirty="0"/>
          </a:p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320040" y="269748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Financial Services Cloud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" y="3310128"/>
            <a:ext cx="32004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43814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Deep-Dive  |  FSC Accredited Professional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2651760" cy="4754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389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Accredited Professional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Lead Referral in FSC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D6F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024128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8211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Referral in FSC is when an advisor or banker identifies a customer's expressed need and creates a record to route that need to the right specialist — ensuring no customer need is ever lost. 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206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206240" cy="420624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148840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Referrals Matter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3931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63% of leads are never followed up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 new customer need = client stays 166% longer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customers are 18% more likely to stay long-term (Wharton study)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cross-line-of-business collaboration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tracks every referral from creation to conversion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206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206240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2148840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Object Foundation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51760"/>
            <a:ext cx="3931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Standard Lead object (EXTENDED, not custom)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lead features still apply: queues, assignment rules, Einstein scoring, reports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Out-of-box record types: Person Referral, Business Referral, General, Retirement Planning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Expressed Interest (picklist) — captures the customer's need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Lead Referral — The Full Lifecycle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1600200" cy="3794760"/>
          </a:xfrm>
          <a:prstGeom prst="rect">
            <a:avLst/>
          </a:prstGeom>
          <a:solidFill>
            <a:srgbClr val="162B52"/>
          </a:solidFill>
          <a:ln w="25400">
            <a:solidFill>
              <a:srgbClr val="1D6FBF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1600200" cy="457200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097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" y="2240280"/>
            <a:ext cx="14173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identifies a need. Opens 'New Lead .Selects record type (e.g. Person Referral). Fills in Expressed Interest &amp;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01368" y="2240280"/>
            <a:ext cx="164592" cy="274320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1097280"/>
            <a:ext cx="1600200" cy="3794760"/>
          </a:xfrm>
          <a:prstGeom prst="rect">
            <a:avLst/>
          </a:prstGeom>
          <a:solidFill>
            <a:srgbClr val="162B52"/>
          </a:solidFill>
          <a:ln w="25400">
            <a:solidFill>
              <a:srgbClr val="0B8A7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5960" y="1097280"/>
            <a:ext cx="1600200" cy="45720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57400" y="2240280"/>
            <a:ext cx="14173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 fires automatically. Routes to correct Queue (e.g. Mortgage Queue) based on Expressed Interest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66160" y="2240280"/>
            <a:ext cx="164592" cy="274320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1097280"/>
            <a:ext cx="1600200" cy="3794760"/>
          </a:xfrm>
          <a:prstGeom prst="rect">
            <a:avLst/>
          </a:prstGeom>
          <a:solidFill>
            <a:srgbClr val="162B52"/>
          </a:solidFill>
          <a:ln w="25400">
            <a:solidFill>
              <a:srgbClr val="1E9A56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30752" y="1097280"/>
            <a:ext cx="1600200" cy="457200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30752" y="1097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ACCEPT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822192" y="2240280"/>
            <a:ext cx="14173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specialist accepts via Approval Process. Or re-assigns if not qualified. Cadence formally begins.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30952" y="2240280"/>
            <a:ext cx="164592" cy="274320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95544" y="1097280"/>
            <a:ext cx="1600200" cy="3794760"/>
          </a:xfrm>
          <a:prstGeom prst="rect">
            <a:avLst/>
          </a:prstGeom>
          <a:solidFill>
            <a:srgbClr val="162B52"/>
          </a:solidFill>
          <a:ln w="25400">
            <a:solidFill>
              <a:srgbClr val="F0A500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95544" y="1097280"/>
            <a:ext cx="160020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95544" y="1097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PRIORITISE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95544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86984" y="2240280"/>
            <a:ext cx="14173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Score visible. Specialist picks highest-priority referral to work first.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95744" y="2240280"/>
            <a:ext cx="164592" cy="274320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60336" y="1097280"/>
            <a:ext cx="1600200" cy="3794760"/>
          </a:xfrm>
          <a:prstGeom prst="rect">
            <a:avLst/>
          </a:prstGeom>
          <a:solidFill>
            <a:srgbClr val="162B52"/>
          </a:solidFill>
          <a:ln w="25400">
            <a:solidFill>
              <a:srgbClr val="E04A30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60336" y="1097280"/>
            <a:ext cx="1600200" cy="457200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60336" y="1097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CONVERT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0336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351776" y="2240280"/>
            <a:ext cx="14173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converted to Account / Contact / Opportunity. Referrer score updated. Referrer details carried to new records.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1168" y="4828032"/>
            <a:ext cx="8741664" cy="228600"/>
          </a:xfrm>
          <a:prstGeom prst="rect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This 5-step cadence is Create → Assign → Accept → Prioritise → Convert. Lead Queues + Assignment Rules handle step 2. Approval Processes handle step 3.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Internal Referral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solidFill>
            <a:srgbClr val="C8F0DA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Referral is created by a member of STAFF (a Salesforce User) when they identify a customer need they cannot personally fulfil — so they hand it off to a specialist colleague in another line of business.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937760" cy="3218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9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937760" cy="420624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Real-World Scenario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176272"/>
            <a:ext cx="47091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2176272"/>
            <a:ext cx="64008" cy="457200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(Wealth Advisor)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client Kiara who mentions she needs a mortgage to buy a home.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706624"/>
            <a:ext cx="47091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706624"/>
            <a:ext cx="64008" cy="457200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works in wealth management — he cannot offer mortgage products directly.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236976"/>
            <a:ext cx="47091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3236976"/>
            <a:ext cx="64008" cy="457200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creates an Internal Referral: record type = Person Referral, Expressed Interest = Mortgage, Referrer = Ryan (User).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767328"/>
            <a:ext cx="47091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3767328"/>
            <a:ext cx="64008" cy="45720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7764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8678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 fires → referral goes straight to the Mortgage Queue → Bob picks it up.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297680"/>
            <a:ext cx="47091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4297680"/>
            <a:ext cx="64008" cy="457200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30682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5171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Kiara gets a specialist. Ryan's Referrer Score increments. Full audit trail maintained.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1480" y="481888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Exam: Internal Referrals are credited to a USER. The Referrer Score on the User record increases with each successful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External Referral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solidFill>
            <a:srgbClr val="FDDBD5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Referral is created by someone OUTSIDE the bank — a satisfied customer or a business partner — who refers new prospects to the firm. The referrer is credited on their Contact record, enabling referral reward programmes.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14800" cy="3218688"/>
          </a:xfrm>
          <a:prstGeom prst="rect">
            <a:avLst/>
          </a:prstGeom>
          <a:solidFill>
            <a:srgbClr val="FFFFFF"/>
          </a:solidFill>
          <a:ln w="25400">
            <a:solidFill>
              <a:srgbClr val="1E9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438912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Internal Referral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2212848"/>
            <a:ext cx="3886200" cy="384048"/>
          </a:xfrm>
          <a:prstGeom prst="rect">
            <a:avLst/>
          </a:prstGeom>
          <a:solidFill>
            <a:srgbClr val="C8F0DA"/>
          </a:solidFill>
          <a:ln w="12700">
            <a:solidFill>
              <a:srgbClr val="C8F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refers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22128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Staff (User record)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F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field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57400" y="2651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to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3886200" cy="384048"/>
          </a:xfrm>
          <a:prstGeom prst="rect">
            <a:avLst/>
          </a:prstGeom>
          <a:solidFill>
            <a:srgbClr val="C8F0DA"/>
          </a:solidFill>
          <a:ln w="12700">
            <a:solidFill>
              <a:srgbClr val="C8F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906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field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57400" y="30906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Score on User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3529584"/>
            <a:ext cx="3886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F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29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referral via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57400" y="35295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Action / Record page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" y="3968496"/>
            <a:ext cx="3886200" cy="384048"/>
          </a:xfrm>
          <a:prstGeom prst="rect">
            <a:avLst/>
          </a:prstGeom>
          <a:solidFill>
            <a:srgbClr val="C8F0DA"/>
          </a:solidFill>
          <a:ln w="12700">
            <a:solidFill>
              <a:srgbClr val="C8F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684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57400" y="39684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Cross-LoB hand-off between colleagues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4206240" cy="3218688"/>
          </a:xfrm>
          <a:prstGeom prst="rect">
            <a:avLst/>
          </a:prstGeom>
          <a:solidFill>
            <a:srgbClr val="FFFFFF"/>
          </a:solidFill>
          <a:ln w="25400">
            <a:solidFill>
              <a:srgbClr val="E04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664208"/>
            <a:ext cx="4206240" cy="438912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166420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External Referral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73168" y="2212848"/>
            <a:ext cx="3977640" cy="384048"/>
          </a:xfrm>
          <a:prstGeom prst="rect">
            <a:avLst/>
          </a:prstGeom>
          <a:solidFill>
            <a:srgbClr val="FDDBD5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21284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refers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73952" y="221284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 Business Partner (Contact record)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73168" y="2651760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6517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field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73952" y="265176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to Contact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73168" y="3090672"/>
            <a:ext cx="3977640" cy="384048"/>
          </a:xfrm>
          <a:prstGeom prst="rect">
            <a:avLst/>
          </a:prstGeom>
          <a:solidFill>
            <a:srgbClr val="FDDBD5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0906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field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73952" y="3090672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Score on Contact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73168" y="3529584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73168" y="3968496"/>
            <a:ext cx="3977640" cy="384048"/>
          </a:xfrm>
          <a:prstGeom prst="rect">
            <a:avLst/>
          </a:prstGeom>
          <a:solidFill>
            <a:srgbClr val="FDDBD5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39684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73952" y="396849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clients send new prospects to the firm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73168" y="4407408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DD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1480" y="481888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Exam: External Referral = Contact record, created via Experience Cloud site. Internal Referral = User record, created inside Salesforce. Both use the same Lead &amp; Referral object.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Path Setting on the Lead &amp; Referral Object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03504"/>
          </a:xfrm>
          <a:prstGeom prst="rect">
            <a:avLst/>
          </a:prstGeom>
          <a:solidFill>
            <a:srgbClr val="E0D5F5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Setting in Salesforce is a visual Lightning Experience feature that shows the current stage of a record (e.g. a referral) as a horizontal progress bar at the top of the page. For the Lead &amp; Referral object, it tracks the Lead Status field through each stage of the referral process — guiding advisors and specialists on what to do next.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040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Status Path  (Lightning Path Component — visual example):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1508760" cy="402336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65960" y="2167128"/>
            <a:ext cx="155448" cy="164592"/>
          </a:xfrm>
          <a:prstGeom prst="rightArrow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21408" y="2048256"/>
            <a:ext cx="1508760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30168" y="2167128"/>
            <a:ext cx="155448" cy="164592"/>
          </a:xfrm>
          <a:prstGeom prst="rightArrow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21408" y="20482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85616" y="2048256"/>
            <a:ext cx="1508760" cy="402336"/>
          </a:xfrm>
          <a:prstGeom prst="rect">
            <a:avLst/>
          </a:prstGeom>
          <a:solidFill>
            <a:srgbClr val="F0A500"/>
          </a:solidFill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94376" y="2167128"/>
            <a:ext cx="155448" cy="164592"/>
          </a:xfrm>
          <a:prstGeom prst="rightArrow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85616" y="20482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49824" y="2048256"/>
            <a:ext cx="150876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58584" y="2167128"/>
            <a:ext cx="155448" cy="164592"/>
          </a:xfrm>
          <a:prstGeom prst="rightArrow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9824" y="20482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14032" y="2048256"/>
            <a:ext cx="150876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20482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2468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Current Stage: Nurturing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816352"/>
            <a:ext cx="41148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6040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4114800" cy="402336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281635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Key Fields per Stage (examples)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3310128"/>
            <a:ext cx="3886200" cy="274320"/>
          </a:xfrm>
          <a:prstGeom prst="rect">
            <a:avLst/>
          </a:prstGeom>
          <a:solidFill>
            <a:srgbClr val="E0D5F5"/>
          </a:solidFill>
          <a:ln w="12700">
            <a:solidFill>
              <a:srgbClr val="E0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10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00200" y="3310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Name, Last Name, Company, Expressed Interest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602736"/>
            <a:ext cx="3886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027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3602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Email, Expressed Interest Value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895344"/>
            <a:ext cx="3886200" cy="274320"/>
          </a:xfrm>
          <a:prstGeom prst="rect">
            <a:avLst/>
          </a:prstGeom>
          <a:solidFill>
            <a:srgbClr val="E0D5F5"/>
          </a:solidFill>
          <a:ln w="12700">
            <a:solidFill>
              <a:srgbClr val="E0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8953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00200" y="38953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conversations, follow-up 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187952"/>
            <a:ext cx="3886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0200" y="41879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interest, client info complete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480560"/>
            <a:ext cx="3886200" cy="274320"/>
          </a:xfrm>
          <a:prstGeom prst="rect">
            <a:avLst/>
          </a:prstGeom>
          <a:solidFill>
            <a:srgbClr val="E0D5F5"/>
          </a:solidFill>
          <a:ln w="12700">
            <a:solidFill>
              <a:srgbClr val="E0D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00200" y="4480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created and linked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2816352"/>
            <a:ext cx="420624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2816352"/>
            <a:ext cx="4206240" cy="4023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28163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How to Set Up Path Settings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773168" y="3273552"/>
            <a:ext cx="40050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Quick Find → 'Path Settings' → Enable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'New Path' button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Object = Lead and Referral, Picklist Field = Lead Status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status value: add Key Fields (up to 5) + Guidance for Success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Path on the final screen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'Path' Lightning component to record page via App Builder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Set a 'Celebration' (confetti) for 'Converted' stage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81888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Exam: Path Settings uses the Lead Status picklist. Each stage can have up to 5 Key Fields + Guidance for Success. Add Path component via Lightning App Builder. Enable celebration for key milestones.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Setup Checklist — All 5 Topics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816352" cy="1920240"/>
          </a:xfrm>
          <a:prstGeom prst="rect">
            <a:avLst/>
          </a:prstGeom>
          <a:solidFill>
            <a:srgbClr val="162B52"/>
          </a:solidFill>
          <a:ln w="19050">
            <a:solidFill>
              <a:srgbClr val="1D6FBF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816352" cy="402336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9464" y="1060704"/>
            <a:ext cx="41148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9464" y="10607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Referral Setup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46304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FSC Intelligent Need-Based Referrals &amp; Scoring in Setup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'Lead and Referral' object visible in Object Manager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Expressed Interest picklist (add org-specific products)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'New Lead and Referral' as a Global Action on Home page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816352" cy="1920240"/>
          </a:xfrm>
          <a:prstGeom prst="rect">
            <a:avLst/>
          </a:prstGeom>
          <a:solidFill>
            <a:srgbClr val="162B52"/>
          </a:solidFill>
          <a:ln w="19050">
            <a:solidFill>
              <a:srgbClr val="0B8A7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816352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13832" y="1060704"/>
            <a:ext cx="41148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13832" y="10607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Rule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146304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Queue per line of business (e.g. Mortgage, Wealth)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Assignment Rule, mark it Active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entries: Expressed Interest = value → Queue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'Assign using active assignment rules' as default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44768" y="1005840"/>
            <a:ext cx="2816352" cy="1920240"/>
          </a:xfrm>
          <a:prstGeom prst="rect">
            <a:avLst/>
          </a:prstGeom>
          <a:solidFill>
            <a:srgbClr val="162B52"/>
          </a:solidFill>
          <a:ln w="19050">
            <a:solidFill>
              <a:srgbClr val="1E9A56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005840"/>
            <a:ext cx="2816352" cy="402336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58200" y="1060704"/>
            <a:ext cx="41148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58200" y="10607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00584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Referral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36208" y="146304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staff have permission to create Lead &amp; Referral records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'New Lead and Referral' action to record pages (Account, Contact)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Score component visible on User page layouts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shows 'My Referral Performance' + 'Referrals Assigned to Me'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3108960"/>
            <a:ext cx="2816352" cy="1920240"/>
          </a:xfrm>
          <a:prstGeom prst="rect">
            <a:avLst/>
          </a:prstGeom>
          <a:solidFill>
            <a:srgbClr val="162B52"/>
          </a:solidFill>
          <a:ln w="19050">
            <a:solidFill>
              <a:srgbClr val="E04A30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108960"/>
            <a:ext cx="2816352" cy="402336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9464" y="3163824"/>
            <a:ext cx="41148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9464" y="31638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310896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Referral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7472" y="35661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Experience Cloud site for clients/partners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Experience Builder to add referral creation 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Referral Source field to Contact record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Score component visible on Contact page layouts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816352" cy="1920240"/>
          </a:xfrm>
          <a:prstGeom prst="rect">
            <a:avLst/>
          </a:prstGeom>
          <a:solidFill>
            <a:srgbClr val="162B52"/>
          </a:solidFill>
          <a:ln w="19050">
            <a:solidFill>
              <a:srgbClr val="6040A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816352" cy="402336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13832" y="3163824"/>
            <a:ext cx="41148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13832" y="31638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310896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Setting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91840" y="35661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Path Settings → Enable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Path: Object = Lead and Referral, Field = Lead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stage: add Key Fields &amp; Guidance for Success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Path component to record page via Lightning App Builder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Exam Key Points — All 5 Topics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1D6FBF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02336" cy="402336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Referral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35331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object is EXTENDED and RENAMED in FSC — it is NOT a separate custom object. It keeps all standard Lead features (queues, rules, Einstein scoring).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024128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0B8A7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9744" y="1115568"/>
            <a:ext cx="402336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9744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1078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5232" y="135331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OOB record types: Person Referral, Business Referral, General, Retirement Planning. New types need ReferralRecordTypeMapping custom metadata.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0B8A7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103120"/>
            <a:ext cx="402336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066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234086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assignment rule can be ACTIVE at a time. It can have many entries. First matching entry wins (sort order). Triggered by Expressed Interest picklist.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011680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1E9A56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9744" y="2103120"/>
            <a:ext cx="402336" cy="402336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2066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Referral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34086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staff (User record). Referrer Score (0–100) tracked on the User. Score is NOT AI — it's a simple count of successful conversions.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E04A30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3090672"/>
            <a:ext cx="402336" cy="402336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054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Referral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332841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clients or partners (Contact record) via Experience Cloud site. Referrer Score tracked on Contact. Enables referral reward programmes.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2999232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6040A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9744" y="3090672"/>
            <a:ext cx="402336" cy="402336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9744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3054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Setting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85232" y="332841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uses Lead Status picklist. Each stage can have up to 5 Key Fields + Guidance for Success text. Must add Path component via Lightning App Builder.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986784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F0A500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4078224"/>
            <a:ext cx="402336" cy="4023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4078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4041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vs Referrer Score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960" y="431596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Lead Score (0–100) = AI, predicts conversion, needs paid Sales Cloud Einstein license. Referrer Score = free, measures referrer reliability.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3986784"/>
            <a:ext cx="4160520" cy="877824"/>
          </a:xfrm>
          <a:prstGeom prst="rect">
            <a:avLst/>
          </a:prstGeom>
          <a:solidFill>
            <a:srgbClr val="162B52"/>
          </a:solidFill>
          <a:ln w="19050">
            <a:solidFill>
              <a:srgbClr val="1D6FBF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09744" y="4078224"/>
            <a:ext cx="402336" cy="402336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9744" y="4078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85232" y="4041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Create Referrals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85232" y="431596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methods: (1) Global Action anywhere in Salesforce, (2) Standard action on record/list pages, (3) Experience Cloud site web-to-lead form.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4747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73152" cy="566928"/>
          </a:xfrm>
          <a:prstGeom prst="rect">
            <a:avLst/>
          </a:prstGeom>
          <a:solidFill>
            <a:srgbClr val="1D6FBF"/>
          </a:solidFill>
          <a:ln w="12700">
            <a:solidFill>
              <a:srgbClr val="1D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71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Referral: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the EXTENDED Lead object, renamed 'Lead &amp; Referral' in FSC. All standard Salesforce lead features apply.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7452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874520"/>
            <a:ext cx="73152" cy="566928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92024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active rule with multiple entries. Routes by Expressed Interest → Queue. First match wins by sort order.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1460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514600"/>
            <a:ext cx="73152" cy="566928"/>
          </a:xfrm>
          <a:prstGeom prst="rect">
            <a:avLst/>
          </a:prstGeom>
          <a:solidFill>
            <a:srgbClr val="1E9A56"/>
          </a:solidFill>
          <a:ln w="12700">
            <a:solidFill>
              <a:srgbClr val="1E9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Referral: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Created by staff (User). Referrer Score on User record. Created via Global Action or record page.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" y="315468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154680"/>
            <a:ext cx="73152" cy="566928"/>
          </a:xfrm>
          <a:prstGeom prst="rect">
            <a:avLst/>
          </a:prstGeom>
          <a:solidFill>
            <a:srgbClr val="E04A30"/>
          </a:solidFill>
          <a:ln w="12700">
            <a:solidFill>
              <a:srgbClr val="E04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20040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Referral: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Created by clients/partners (Contact). Referrer Score on Contact. Created via Experience Cloud site.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379476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794760"/>
            <a:ext cx="73152" cy="566928"/>
          </a:xfrm>
          <a:prstGeom prst="rect">
            <a:avLst/>
          </a:prstGeom>
          <a:solidFill>
            <a:srgbClr val="6040AA"/>
          </a:solidFill>
          <a:ln w="12700">
            <a:solidFill>
              <a:srgbClr val="604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4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Setting: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progress bar on record page. Tracks Lead Status. Each stage has Key Fields + Guidance. Added via App Builder.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4434840"/>
            <a:ext cx="8503920" cy="566928"/>
          </a:xfrm>
          <a:prstGeom prst="rect">
            <a:avLst/>
          </a:prstGeom>
          <a:solidFill>
            <a:srgbClr val="162B52"/>
          </a:solidFill>
          <a:ln w="1524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434840"/>
            <a:ext cx="73152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4480560"/>
            <a:ext cx="7699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 Traps: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Einstein Score needs paid license. Only 1 active rule. Path uses Lead STATUS field (not record type). External = Contact, Internal = User.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B526C00-E089-4378-9B2E-4AEC9772CFFF}"/>
</file>

<file path=customXml/itemProps2.xml><?xml version="1.0" encoding="utf-8"?>
<ds:datastoreItem xmlns:ds="http://schemas.openxmlformats.org/officeDocument/2006/customXml" ds:itemID="{9FFA4B97-B079-41B1-BC4D-1BFB0C7F310E}"/>
</file>

<file path=customXml/itemProps3.xml><?xml version="1.0" encoding="utf-8"?>
<ds:datastoreItem xmlns:ds="http://schemas.openxmlformats.org/officeDocument/2006/customXml" ds:itemID="{3CC82CDA-920B-4DB0-8C94-E6C8751D7EBD}"/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1598</Words>
  <Application>Microsoft Office PowerPoint</Application>
  <PresentationFormat>On-screen Show (16:9)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2026-02-21T15:04:03Z</dcterms:created>
  <dcterms:modified xsi:type="dcterms:W3CDTF">2026-02-21T15:59:21Z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10733800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