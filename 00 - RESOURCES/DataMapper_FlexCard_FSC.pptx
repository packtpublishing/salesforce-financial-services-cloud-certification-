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9" r:id="rId3"/>
    <p:sldId id="260" r:id="rId4"/>
    <p:sldId id="262" r:id="rId5"/>
    <p:sldId id="263" r:id="rId6"/>
    <p:sldId id="265" r:id="rId7"/>
    <p:sldId id="266"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6" d="100"/>
          <a:sy n="106" d="100"/>
        </p:scale>
        <p:origin x="543" y="3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17"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1.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 Aulakh" userId="d6babfaf87fe36d4" providerId="LiveId" clId="{B442A88C-B6CB-4329-AF62-B197A214B4A4}"/>
    <pc:docChg chg="delSld modSld">
      <pc:chgData name="Sim Aulakh" userId="d6babfaf87fe36d4" providerId="LiveId" clId="{B442A88C-B6CB-4329-AF62-B197A214B4A4}" dt="2026-03-02T22:50:15.562" v="6" actId="47"/>
      <pc:docMkLst>
        <pc:docMk/>
      </pc:docMkLst>
      <pc:sldChg chg="del">
        <pc:chgData name="Sim Aulakh" userId="d6babfaf87fe36d4" providerId="LiveId" clId="{B442A88C-B6CB-4329-AF62-B197A214B4A4}" dt="2026-03-02T22:47:45.736" v="0" actId="47"/>
        <pc:sldMkLst>
          <pc:docMk/>
          <pc:sldMk cId="0" sldId="257"/>
        </pc:sldMkLst>
      </pc:sldChg>
      <pc:sldChg chg="del">
        <pc:chgData name="Sim Aulakh" userId="d6babfaf87fe36d4" providerId="LiveId" clId="{B442A88C-B6CB-4329-AF62-B197A214B4A4}" dt="2026-03-02T22:47:46.942" v="1" actId="47"/>
        <pc:sldMkLst>
          <pc:docMk/>
          <pc:sldMk cId="0" sldId="258"/>
        </pc:sldMkLst>
      </pc:sldChg>
      <pc:sldChg chg="del">
        <pc:chgData name="Sim Aulakh" userId="d6babfaf87fe36d4" providerId="LiveId" clId="{B442A88C-B6CB-4329-AF62-B197A214B4A4}" dt="2026-03-02T22:48:02.287" v="2" actId="47"/>
        <pc:sldMkLst>
          <pc:docMk/>
          <pc:sldMk cId="0" sldId="261"/>
        </pc:sldMkLst>
      </pc:sldChg>
      <pc:sldChg chg="del">
        <pc:chgData name="Sim Aulakh" userId="d6babfaf87fe36d4" providerId="LiveId" clId="{B442A88C-B6CB-4329-AF62-B197A214B4A4}" dt="2026-03-02T22:48:56.806" v="3" actId="47"/>
        <pc:sldMkLst>
          <pc:docMk/>
          <pc:sldMk cId="0" sldId="264"/>
        </pc:sldMkLst>
      </pc:sldChg>
      <pc:sldChg chg="del">
        <pc:chgData name="Sim Aulakh" userId="d6babfaf87fe36d4" providerId="LiveId" clId="{B442A88C-B6CB-4329-AF62-B197A214B4A4}" dt="2026-03-02T22:49:20.960" v="4" actId="47"/>
        <pc:sldMkLst>
          <pc:docMk/>
          <pc:sldMk cId="0" sldId="267"/>
        </pc:sldMkLst>
      </pc:sldChg>
      <pc:sldChg chg="modSp del mod">
        <pc:chgData name="Sim Aulakh" userId="d6babfaf87fe36d4" providerId="LiveId" clId="{B442A88C-B6CB-4329-AF62-B197A214B4A4}" dt="2026-03-02T22:50:15.562" v="6" actId="47"/>
        <pc:sldMkLst>
          <pc:docMk/>
          <pc:sldMk cId="0" sldId="268"/>
        </pc:sldMkLst>
        <pc:spChg chg="mod">
          <ac:chgData name="Sim Aulakh" userId="d6babfaf87fe36d4" providerId="LiveId" clId="{B442A88C-B6CB-4329-AF62-B197A214B4A4}" dt="2026-03-02T22:50:04.639" v="5" actId="20577"/>
          <ac:spMkLst>
            <pc:docMk/>
            <pc:sldMk cId="0" sldId="268"/>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3893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1.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D5E"/>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070D2"/>
          </a:solidFill>
          <a:ln/>
        </p:spPr>
        <p:txBody>
          <a:bodyPr/>
          <a:lstStyle/>
          <a:p>
            <a:endParaRPr lang="en-US"/>
          </a:p>
        </p:txBody>
      </p:sp>
      <p:sp>
        <p:nvSpPr>
          <p:cNvPr id="3" name="Shape 1"/>
          <p:cNvSpPr/>
          <p:nvPr/>
        </p:nvSpPr>
        <p:spPr>
          <a:xfrm>
            <a:off x="5943600" y="0"/>
            <a:ext cx="3200400" cy="5143500"/>
          </a:xfrm>
          <a:prstGeom prst="rect">
            <a:avLst/>
          </a:prstGeom>
          <a:solidFill>
            <a:srgbClr val="091E3A"/>
          </a:solidFill>
          <a:ln/>
        </p:spPr>
        <p:txBody>
          <a:bodyPr/>
          <a:lstStyle/>
          <a:p>
            <a:endParaRPr lang="en-US"/>
          </a:p>
        </p:txBody>
      </p:sp>
      <p:sp>
        <p:nvSpPr>
          <p:cNvPr id="4" name="Shape 2"/>
          <p:cNvSpPr/>
          <p:nvPr/>
        </p:nvSpPr>
        <p:spPr>
          <a:xfrm>
            <a:off x="6766560" y="-457200"/>
            <a:ext cx="2286000" cy="2286000"/>
          </a:xfrm>
          <a:prstGeom prst="ellipse">
            <a:avLst/>
          </a:prstGeom>
          <a:solidFill>
            <a:srgbClr val="0070D2">
              <a:alpha val="30000"/>
            </a:srgbClr>
          </a:solidFill>
          <a:ln w="12700">
            <a:solidFill>
              <a:srgbClr val="0070D2">
                <a:alpha val="40000"/>
              </a:srgbClr>
            </a:solidFill>
            <a:prstDash val="solid"/>
          </a:ln>
        </p:spPr>
        <p:txBody>
          <a:bodyPr/>
          <a:lstStyle/>
          <a:p>
            <a:endParaRPr lang="en-US"/>
          </a:p>
        </p:txBody>
      </p:sp>
      <p:sp>
        <p:nvSpPr>
          <p:cNvPr id="5" name="Shape 3"/>
          <p:cNvSpPr/>
          <p:nvPr/>
        </p:nvSpPr>
        <p:spPr>
          <a:xfrm>
            <a:off x="7315200" y="2560320"/>
            <a:ext cx="1645920" cy="1645920"/>
          </a:xfrm>
          <a:prstGeom prst="ellipse">
            <a:avLst/>
          </a:prstGeom>
          <a:solidFill>
            <a:srgbClr val="028090">
              <a:alpha val="35000"/>
            </a:srgbClr>
          </a:solidFill>
          <a:ln w="12700">
            <a:solidFill>
              <a:srgbClr val="028090">
                <a:alpha val="40000"/>
              </a:srgbClr>
            </a:solidFill>
            <a:prstDash val="solid"/>
          </a:ln>
        </p:spPr>
        <p:txBody>
          <a:bodyPr/>
          <a:lstStyle/>
          <a:p>
            <a:endParaRPr lang="en-US"/>
          </a:p>
        </p:txBody>
      </p:sp>
      <p:sp>
        <p:nvSpPr>
          <p:cNvPr id="6" name="Shape 4"/>
          <p:cNvSpPr/>
          <p:nvPr/>
        </p:nvSpPr>
        <p:spPr>
          <a:xfrm>
            <a:off x="5669280" y="3474720"/>
            <a:ext cx="1097280" cy="1097280"/>
          </a:xfrm>
          <a:prstGeom prst="ellipse">
            <a:avLst/>
          </a:prstGeom>
          <a:solidFill>
            <a:srgbClr val="00A1E0">
              <a:alpha val="30000"/>
            </a:srgbClr>
          </a:solidFill>
          <a:ln w="12700">
            <a:solidFill>
              <a:srgbClr val="00A1E0">
                <a:alpha val="40000"/>
              </a:srgbClr>
            </a:solidFill>
            <a:prstDash val="solid"/>
          </a:ln>
        </p:spPr>
        <p:txBody>
          <a:bodyPr/>
          <a:lstStyle/>
          <a:p>
            <a:endParaRPr lang="en-US"/>
          </a:p>
        </p:txBody>
      </p:sp>
      <p:sp>
        <p:nvSpPr>
          <p:cNvPr id="7" name="Text 5"/>
          <p:cNvSpPr/>
          <p:nvPr/>
        </p:nvSpPr>
        <p:spPr>
          <a:xfrm>
            <a:off x="457200" y="502920"/>
            <a:ext cx="5212080" cy="320040"/>
          </a:xfrm>
          <a:prstGeom prst="rect">
            <a:avLst/>
          </a:prstGeom>
          <a:noFill/>
          <a:ln/>
        </p:spPr>
        <p:txBody>
          <a:bodyPr wrap="square" lIns="0" tIns="0" rIns="0" bIns="0" rtlCol="0" anchor="ctr"/>
          <a:lstStyle/>
          <a:p>
            <a:pPr marL="0" indent="0">
              <a:buNone/>
            </a:pPr>
            <a:r>
              <a:rPr lang="en-US" sz="1000" b="1" kern="0" spc="300" dirty="0">
                <a:solidFill>
                  <a:srgbClr val="00A1E0"/>
                </a:solidFill>
                <a:latin typeface="Calibri" pitchFamily="34" charset="0"/>
                <a:ea typeface="Calibri" pitchFamily="34" charset="-122"/>
                <a:cs typeface="Calibri" pitchFamily="34" charset="-120"/>
              </a:rPr>
              <a:t>SALESFORCE FINANCIAL SERVICES CLOUD</a:t>
            </a:r>
            <a:endParaRPr lang="en-US" sz="1000" dirty="0"/>
          </a:p>
        </p:txBody>
      </p:sp>
      <p:sp>
        <p:nvSpPr>
          <p:cNvPr id="8" name="Text 6"/>
          <p:cNvSpPr/>
          <p:nvPr/>
        </p:nvSpPr>
        <p:spPr>
          <a:xfrm>
            <a:off x="457200" y="914400"/>
            <a:ext cx="5212080" cy="77724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Data Mapper</a:t>
            </a:r>
            <a:endParaRPr lang="en-US" sz="4800" dirty="0"/>
          </a:p>
        </p:txBody>
      </p:sp>
      <p:sp>
        <p:nvSpPr>
          <p:cNvPr id="9" name="Text 7"/>
          <p:cNvSpPr/>
          <p:nvPr/>
        </p:nvSpPr>
        <p:spPr>
          <a:xfrm>
            <a:off x="457200" y="1600200"/>
            <a:ext cx="5212080" cy="777240"/>
          </a:xfrm>
          <a:prstGeom prst="rect">
            <a:avLst/>
          </a:prstGeom>
          <a:noFill/>
          <a:ln/>
        </p:spPr>
        <p:txBody>
          <a:bodyPr wrap="square" lIns="0" tIns="0" rIns="0" bIns="0" rtlCol="0" anchor="ctr"/>
          <a:lstStyle/>
          <a:p>
            <a:pPr marL="0" indent="0">
              <a:buNone/>
            </a:pPr>
            <a:r>
              <a:rPr lang="en-US" sz="4800" b="1" dirty="0">
                <a:solidFill>
                  <a:srgbClr val="00A1E0"/>
                </a:solidFill>
                <a:latin typeface="Calibri" pitchFamily="34" charset="0"/>
                <a:ea typeface="Calibri" pitchFamily="34" charset="-122"/>
                <a:cs typeface="Calibri" pitchFamily="34" charset="-120"/>
              </a:rPr>
              <a:t>&amp; FlexCard</a:t>
            </a:r>
            <a:endParaRPr lang="en-US" sz="4800" dirty="0"/>
          </a:p>
        </p:txBody>
      </p:sp>
      <p:sp>
        <p:nvSpPr>
          <p:cNvPr id="10" name="Text 8"/>
          <p:cNvSpPr/>
          <p:nvPr/>
        </p:nvSpPr>
        <p:spPr>
          <a:xfrm>
            <a:off x="457200" y="2514600"/>
            <a:ext cx="5212080" cy="822960"/>
          </a:xfrm>
          <a:prstGeom prst="rect">
            <a:avLst/>
          </a:prstGeom>
          <a:noFill/>
          <a:ln/>
        </p:spPr>
        <p:txBody>
          <a:bodyPr wrap="square" lIns="0" tIns="0" rIns="0" bIns="0" rtlCol="0" anchor="ctr"/>
          <a:lstStyle/>
          <a:p>
            <a:pPr marL="0" indent="0">
              <a:buNone/>
            </a:pPr>
            <a:r>
              <a:rPr lang="en-US" sz="1600" dirty="0">
                <a:solidFill>
                  <a:srgbClr val="A8C8F8"/>
                </a:solidFill>
                <a:latin typeface="Calibri" pitchFamily="34" charset="0"/>
                <a:ea typeface="Calibri" pitchFamily="34" charset="-122"/>
                <a:cs typeface="Calibri" pitchFamily="34" charset="-120"/>
              </a:rPr>
              <a:t>Building Financial Account Displays</a:t>
            </a:r>
            <a:endParaRPr lang="en-US" sz="1600" dirty="0"/>
          </a:p>
          <a:p>
            <a:pPr marL="0" indent="0">
              <a:buNone/>
            </a:pPr>
            <a:r>
              <a:rPr lang="en-US" sz="1600" dirty="0">
                <a:solidFill>
                  <a:srgbClr val="A8C8F8"/>
                </a:solidFill>
                <a:latin typeface="Calibri" pitchFamily="34" charset="0"/>
                <a:ea typeface="Calibri" pitchFamily="34" charset="-122"/>
                <a:cs typeface="Calibri" pitchFamily="34" charset="-120"/>
              </a:rPr>
              <a:t>with OmniStudio Components</a:t>
            </a:r>
            <a:endParaRPr lang="en-US" sz="1600" dirty="0"/>
          </a:p>
        </p:txBody>
      </p:sp>
      <p:sp>
        <p:nvSpPr>
          <p:cNvPr id="11" name="Shape 9"/>
          <p:cNvSpPr/>
          <p:nvPr/>
        </p:nvSpPr>
        <p:spPr>
          <a:xfrm>
            <a:off x="457200" y="3474720"/>
            <a:ext cx="2286000" cy="36576"/>
          </a:xfrm>
          <a:prstGeom prst="rect">
            <a:avLst/>
          </a:prstGeom>
          <a:solidFill>
            <a:srgbClr val="0070D2"/>
          </a:solidFill>
          <a:ln/>
        </p:spPr>
        <p:txBody>
          <a:bodyPr/>
          <a:lstStyle/>
          <a:p>
            <a:endParaRPr lang="en-US"/>
          </a:p>
        </p:txBody>
      </p:sp>
      <p:sp>
        <p:nvSpPr>
          <p:cNvPr id="12" name="Text 10"/>
          <p:cNvSpPr/>
          <p:nvPr/>
        </p:nvSpPr>
        <p:spPr>
          <a:xfrm>
            <a:off x="457200" y="3749040"/>
            <a:ext cx="5212080" cy="320040"/>
          </a:xfrm>
          <a:prstGeom prst="rect">
            <a:avLst/>
          </a:prstGeom>
          <a:noFill/>
          <a:ln/>
        </p:spPr>
        <p:txBody>
          <a:bodyPr wrap="square" lIns="0" tIns="0" rIns="0" bIns="0" rtlCol="0" anchor="ctr"/>
          <a:lstStyle/>
          <a:p>
            <a:pPr marL="0" indent="0">
              <a:buNone/>
            </a:pPr>
            <a:r>
              <a:rPr lang="en-US" sz="1100" dirty="0">
                <a:solidFill>
                  <a:srgbClr val="6A8EBC"/>
                </a:solidFill>
                <a:latin typeface="Calibri" pitchFamily="34" charset="0"/>
                <a:ea typeface="Calibri" pitchFamily="34" charset="-122"/>
                <a:cs typeface="Calibri" pitchFamily="34" charset="-120"/>
              </a:rPr>
              <a:t>OmniStudio  ·  DataRaptor  ·  FlexCards  ·  FSC</a:t>
            </a:r>
            <a:endParaRPr lang="en-US" sz="1100" dirty="0"/>
          </a:p>
        </p:txBody>
      </p:sp>
      <p:pic>
        <p:nvPicPr>
          <p:cNvPr id="13" name="Image 0" descr="preencoded.png"/>
          <p:cNvPicPr>
            <a:picLocks noChangeAspect="1"/>
          </p:cNvPicPr>
          <p:nvPr/>
        </p:nvPicPr>
        <p:blipFill>
          <a:blip r:embed="rId3"/>
          <a:stretch>
            <a:fillRect/>
          </a:stretch>
        </p:blipFill>
        <p:spPr>
          <a:xfrm>
            <a:off x="6400800" y="731520"/>
            <a:ext cx="457200" cy="457200"/>
          </a:xfrm>
          <a:prstGeom prst="rect">
            <a:avLst/>
          </a:prstGeom>
        </p:spPr>
      </p:pic>
      <p:sp>
        <p:nvSpPr>
          <p:cNvPr id="14" name="Text 11"/>
          <p:cNvSpPr/>
          <p:nvPr/>
        </p:nvSpPr>
        <p:spPr>
          <a:xfrm>
            <a:off x="6949440" y="804672"/>
            <a:ext cx="192024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DataRaptor Extract</a:t>
            </a:r>
            <a:endParaRPr lang="en-US" sz="1200" dirty="0"/>
          </a:p>
        </p:txBody>
      </p:sp>
      <p:pic>
        <p:nvPicPr>
          <p:cNvPr id="15" name="Image 1" descr="preencoded.png"/>
          <p:cNvPicPr>
            <a:picLocks noChangeAspect="1"/>
          </p:cNvPicPr>
          <p:nvPr/>
        </p:nvPicPr>
        <p:blipFill>
          <a:blip r:embed="rId4"/>
          <a:stretch>
            <a:fillRect/>
          </a:stretch>
        </p:blipFill>
        <p:spPr>
          <a:xfrm>
            <a:off x="6400800" y="1554480"/>
            <a:ext cx="457200" cy="457200"/>
          </a:xfrm>
          <a:prstGeom prst="rect">
            <a:avLst/>
          </a:prstGeom>
        </p:spPr>
      </p:pic>
      <p:sp>
        <p:nvSpPr>
          <p:cNvPr id="16" name="Text 12"/>
          <p:cNvSpPr/>
          <p:nvPr/>
        </p:nvSpPr>
        <p:spPr>
          <a:xfrm>
            <a:off x="6949440" y="1627632"/>
            <a:ext cx="192024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FlexCard Builder</a:t>
            </a:r>
            <a:endParaRPr lang="en-US" sz="1200" dirty="0"/>
          </a:p>
        </p:txBody>
      </p:sp>
      <p:pic>
        <p:nvPicPr>
          <p:cNvPr id="17" name="Image 2" descr="preencoded.png"/>
          <p:cNvPicPr>
            <a:picLocks noChangeAspect="1"/>
          </p:cNvPicPr>
          <p:nvPr/>
        </p:nvPicPr>
        <p:blipFill>
          <a:blip r:embed="rId5"/>
          <a:stretch>
            <a:fillRect/>
          </a:stretch>
        </p:blipFill>
        <p:spPr>
          <a:xfrm>
            <a:off x="6400800" y="2377440"/>
            <a:ext cx="457200" cy="457200"/>
          </a:xfrm>
          <a:prstGeom prst="rect">
            <a:avLst/>
          </a:prstGeom>
        </p:spPr>
      </p:pic>
      <p:sp>
        <p:nvSpPr>
          <p:cNvPr id="18" name="Text 13"/>
          <p:cNvSpPr/>
          <p:nvPr/>
        </p:nvSpPr>
        <p:spPr>
          <a:xfrm>
            <a:off x="6949440" y="2450592"/>
            <a:ext cx="192024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Financial Account Object</a:t>
            </a:r>
            <a:endParaRPr lang="en-US" sz="1200" dirty="0"/>
          </a:p>
        </p:txBody>
      </p:sp>
      <p:pic>
        <p:nvPicPr>
          <p:cNvPr id="19" name="Image 3" descr="preencoded.png"/>
          <p:cNvPicPr>
            <a:picLocks noChangeAspect="1"/>
          </p:cNvPicPr>
          <p:nvPr/>
        </p:nvPicPr>
        <p:blipFill>
          <a:blip r:embed="rId6"/>
          <a:stretch>
            <a:fillRect/>
          </a:stretch>
        </p:blipFill>
        <p:spPr>
          <a:xfrm>
            <a:off x="6400800" y="3200400"/>
            <a:ext cx="457200" cy="457200"/>
          </a:xfrm>
          <a:prstGeom prst="rect">
            <a:avLst/>
          </a:prstGeom>
        </p:spPr>
      </p:pic>
      <p:sp>
        <p:nvSpPr>
          <p:cNvPr id="20" name="Text 14"/>
          <p:cNvSpPr/>
          <p:nvPr/>
        </p:nvSpPr>
        <p:spPr>
          <a:xfrm>
            <a:off x="6949440" y="3273552"/>
            <a:ext cx="192024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Record Page Display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F4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8090"/>
          </a:solidFill>
          <a:ln/>
        </p:spPr>
        <p:txBody>
          <a:bodyPr/>
          <a:lstStyle/>
          <a:p>
            <a:endParaRPr lang="en-US"/>
          </a:p>
        </p:txBody>
      </p:sp>
      <p:sp>
        <p:nvSpPr>
          <p:cNvPr id="3" name="Text 1"/>
          <p:cNvSpPr/>
          <p:nvPr/>
        </p:nvSpPr>
        <p:spPr>
          <a:xfrm>
            <a:off x="365760" y="73152"/>
            <a:ext cx="8229600" cy="347472"/>
          </a:xfrm>
          <a:prstGeom prst="rect">
            <a:avLst/>
          </a:prstGeom>
          <a:noFill/>
          <a:ln/>
        </p:spPr>
        <p:txBody>
          <a:bodyPr wrap="square" lIns="0" tIns="0" rIns="0" bIns="0" rtlCol="0" anchor="ctr"/>
          <a:lstStyle/>
          <a:p>
            <a:pPr marL="0" indent="0">
              <a:buNone/>
            </a:pPr>
            <a:r>
              <a:rPr lang="en-US" sz="1000" b="1" kern="0" spc="300" dirty="0">
                <a:solidFill>
                  <a:srgbClr val="A0F0E8"/>
                </a:solidFill>
                <a:latin typeface="Calibri" pitchFamily="34" charset="0"/>
                <a:ea typeface="Calibri" pitchFamily="34" charset="-122"/>
                <a:cs typeface="Calibri" pitchFamily="34" charset="-120"/>
              </a:rPr>
              <a:t>SECTION 02</a:t>
            </a:r>
            <a:endParaRPr lang="en-US" sz="1000" dirty="0"/>
          </a:p>
        </p:txBody>
      </p:sp>
      <p:sp>
        <p:nvSpPr>
          <p:cNvPr id="4" name="Text 2"/>
          <p:cNvSpPr/>
          <p:nvPr/>
        </p:nvSpPr>
        <p:spPr>
          <a:xfrm>
            <a:off x="365760" y="438912"/>
            <a:ext cx="822960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is the Data Mapper (DataRaptor)?</a:t>
            </a:r>
            <a:endParaRPr lang="en-US" sz="2200" dirty="0"/>
          </a:p>
        </p:txBody>
      </p:sp>
      <p:sp>
        <p:nvSpPr>
          <p:cNvPr id="5" name="Shape 3"/>
          <p:cNvSpPr/>
          <p:nvPr/>
        </p:nvSpPr>
        <p:spPr>
          <a:xfrm>
            <a:off x="274320" y="1097280"/>
            <a:ext cx="8595360" cy="804672"/>
          </a:xfrm>
          <a:prstGeom prst="rect">
            <a:avLst/>
          </a:prstGeom>
          <a:solidFill>
            <a:srgbClr val="028090">
              <a:alpha val="12000"/>
            </a:srgbClr>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438912" y="1207008"/>
            <a:ext cx="329184" cy="329184"/>
          </a:xfrm>
          <a:prstGeom prst="rect">
            <a:avLst/>
          </a:prstGeom>
        </p:spPr>
      </p:pic>
      <p:sp>
        <p:nvSpPr>
          <p:cNvPr id="7" name="Text 4"/>
          <p:cNvSpPr/>
          <p:nvPr/>
        </p:nvSpPr>
        <p:spPr>
          <a:xfrm>
            <a:off x="896112" y="1133856"/>
            <a:ext cx="7845552" cy="713232"/>
          </a:xfrm>
          <a:prstGeom prst="rect">
            <a:avLst/>
          </a:prstGeom>
          <a:noFill/>
          <a:ln/>
        </p:spPr>
        <p:txBody>
          <a:bodyPr wrap="square" lIns="0" tIns="0" rIns="0" bIns="0" rtlCol="0" anchor="ctr"/>
          <a:lstStyle/>
          <a:p>
            <a:pPr marL="0" indent="0">
              <a:buNone/>
            </a:pPr>
            <a:r>
              <a:rPr lang="en-US" sz="1250" i="1" dirty="0">
                <a:solidFill>
                  <a:srgbClr val="334155"/>
                </a:solidFill>
                <a:latin typeface="Calibri" pitchFamily="34" charset="0"/>
                <a:ea typeface="Calibri" pitchFamily="34" charset="-122"/>
                <a:cs typeface="Calibri" pitchFamily="34" charset="-120"/>
              </a:rPr>
              <a:t>A Data Mapper (DataRaptor) is the OmniStudio component responsible for reading, transforming, and writing data to and from Salesforce objects and external systems. It powers data retrieval for FlexCards, OmniScripts, and Integration Procedures.</a:t>
            </a:r>
            <a:endParaRPr lang="en-US" sz="1250" dirty="0"/>
          </a:p>
        </p:txBody>
      </p:sp>
      <p:sp>
        <p:nvSpPr>
          <p:cNvPr id="8" name="Shape 5"/>
          <p:cNvSpPr/>
          <p:nvPr/>
        </p:nvSpPr>
        <p:spPr>
          <a:xfrm>
            <a:off x="274320" y="2011680"/>
            <a:ext cx="2788920" cy="28346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9" name="Shape 6"/>
          <p:cNvSpPr/>
          <p:nvPr/>
        </p:nvSpPr>
        <p:spPr>
          <a:xfrm>
            <a:off x="274320" y="2011680"/>
            <a:ext cx="2788920" cy="548640"/>
          </a:xfrm>
          <a:prstGeom prst="rect">
            <a:avLst/>
          </a:prstGeom>
          <a:solidFill>
            <a:srgbClr val="0070D2"/>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411480" y="2103120"/>
            <a:ext cx="292608" cy="292608"/>
          </a:xfrm>
          <a:prstGeom prst="rect">
            <a:avLst/>
          </a:prstGeom>
        </p:spPr>
      </p:pic>
      <p:sp>
        <p:nvSpPr>
          <p:cNvPr id="11" name="Text 7"/>
          <p:cNvSpPr/>
          <p:nvPr/>
        </p:nvSpPr>
        <p:spPr>
          <a:xfrm>
            <a:off x="804672" y="2075688"/>
            <a:ext cx="2148840" cy="256032"/>
          </a:xfrm>
          <a:prstGeom prst="rect">
            <a:avLst/>
          </a:prstGeom>
          <a:noFill/>
          <a:ln/>
        </p:spPr>
        <p:txBody>
          <a:bodyPr wrap="square" lIns="0" tIns="0" rIns="0" bIns="0" rtlCol="0" anchor="ctr"/>
          <a:lstStyle/>
          <a:p>
            <a:pPr marL="0" indent="0">
              <a:buNone/>
            </a:pPr>
            <a:r>
              <a:rPr lang="en-US" sz="1000" dirty="0">
                <a:solidFill>
                  <a:srgbClr val="CCF0FF"/>
                </a:solidFill>
                <a:latin typeface="Calibri" pitchFamily="34" charset="0"/>
                <a:ea typeface="Calibri" pitchFamily="34" charset="-122"/>
                <a:cs typeface="Calibri" pitchFamily="34" charset="-120"/>
              </a:rPr>
              <a:t>DataRaptor</a:t>
            </a:r>
            <a:endParaRPr lang="en-US" sz="1000" dirty="0"/>
          </a:p>
        </p:txBody>
      </p:sp>
      <p:sp>
        <p:nvSpPr>
          <p:cNvPr id="12" name="Text 8"/>
          <p:cNvSpPr/>
          <p:nvPr/>
        </p:nvSpPr>
        <p:spPr>
          <a:xfrm>
            <a:off x="804672" y="2286000"/>
            <a:ext cx="214884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EXTRACT</a:t>
            </a:r>
            <a:endParaRPr lang="en-US" sz="1500" dirty="0"/>
          </a:p>
        </p:txBody>
      </p:sp>
      <p:sp>
        <p:nvSpPr>
          <p:cNvPr id="13" name="Text 9"/>
          <p:cNvSpPr/>
          <p:nvPr/>
        </p:nvSpPr>
        <p:spPr>
          <a:xfrm>
            <a:off x="438912" y="2670048"/>
            <a:ext cx="2468880" cy="10058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Reads data FROM Salesforce objects or related records and maps it to output JSON for display.</a:t>
            </a:r>
            <a:endParaRPr lang="en-US" sz="1100" dirty="0"/>
          </a:p>
        </p:txBody>
      </p:sp>
      <p:sp>
        <p:nvSpPr>
          <p:cNvPr id="14" name="Shape 10"/>
          <p:cNvSpPr/>
          <p:nvPr/>
        </p:nvSpPr>
        <p:spPr>
          <a:xfrm>
            <a:off x="438912" y="3730752"/>
            <a:ext cx="2468880" cy="36576"/>
          </a:xfrm>
          <a:prstGeom prst="rect">
            <a:avLst/>
          </a:prstGeom>
          <a:solidFill>
            <a:srgbClr val="0070D2">
              <a:alpha val="50000"/>
            </a:srgbClr>
          </a:solidFill>
          <a:ln/>
        </p:spPr>
        <p:txBody>
          <a:bodyPr/>
          <a:lstStyle/>
          <a:p>
            <a:endParaRPr lang="en-US"/>
          </a:p>
        </p:txBody>
      </p:sp>
      <p:sp>
        <p:nvSpPr>
          <p:cNvPr id="15" name="Text 11"/>
          <p:cNvSpPr/>
          <p:nvPr/>
        </p:nvSpPr>
        <p:spPr>
          <a:xfrm>
            <a:off x="438912" y="3803904"/>
            <a:ext cx="2468880" cy="201168"/>
          </a:xfrm>
          <a:prstGeom prst="rect">
            <a:avLst/>
          </a:prstGeom>
          <a:noFill/>
          <a:ln/>
        </p:spPr>
        <p:txBody>
          <a:bodyPr wrap="square" lIns="0" tIns="0" rIns="0" bIns="0" rtlCol="0" anchor="ctr"/>
          <a:lstStyle/>
          <a:p>
            <a:pPr marL="0" indent="0">
              <a:buNone/>
            </a:pPr>
            <a:r>
              <a:rPr lang="en-US" sz="900" b="1" kern="0" spc="100" dirty="0">
                <a:solidFill>
                  <a:srgbClr val="0070D2"/>
                </a:solidFill>
                <a:latin typeface="Calibri" pitchFamily="34" charset="0"/>
                <a:ea typeface="Calibri" pitchFamily="34" charset="-122"/>
                <a:cs typeface="Calibri" pitchFamily="34" charset="-120"/>
              </a:rPr>
              <a:t>USE CASE</a:t>
            </a:r>
            <a:endParaRPr lang="en-US" sz="900" dirty="0"/>
          </a:p>
        </p:txBody>
      </p:sp>
      <p:sp>
        <p:nvSpPr>
          <p:cNvPr id="16" name="Text 12"/>
          <p:cNvSpPr/>
          <p:nvPr/>
        </p:nvSpPr>
        <p:spPr>
          <a:xfrm>
            <a:off x="438912" y="4023360"/>
            <a:ext cx="2468880" cy="65836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Used by FlexCards to populate financial account fields.</a:t>
            </a:r>
            <a:endParaRPr lang="en-US" sz="1050" dirty="0"/>
          </a:p>
        </p:txBody>
      </p:sp>
      <p:sp>
        <p:nvSpPr>
          <p:cNvPr id="17" name="Shape 13"/>
          <p:cNvSpPr/>
          <p:nvPr/>
        </p:nvSpPr>
        <p:spPr>
          <a:xfrm>
            <a:off x="3218688" y="2011680"/>
            <a:ext cx="2788920" cy="28346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8" name="Shape 14"/>
          <p:cNvSpPr/>
          <p:nvPr/>
        </p:nvSpPr>
        <p:spPr>
          <a:xfrm>
            <a:off x="3218688" y="2011680"/>
            <a:ext cx="2788920" cy="548640"/>
          </a:xfrm>
          <a:prstGeom prst="rect">
            <a:avLst/>
          </a:prstGeom>
          <a:solidFill>
            <a:srgbClr val="028090"/>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3355848" y="2103120"/>
            <a:ext cx="292608" cy="292608"/>
          </a:xfrm>
          <a:prstGeom prst="rect">
            <a:avLst/>
          </a:prstGeom>
        </p:spPr>
      </p:pic>
      <p:sp>
        <p:nvSpPr>
          <p:cNvPr id="20" name="Text 15"/>
          <p:cNvSpPr/>
          <p:nvPr/>
        </p:nvSpPr>
        <p:spPr>
          <a:xfrm>
            <a:off x="3749040" y="2075688"/>
            <a:ext cx="2148840" cy="256032"/>
          </a:xfrm>
          <a:prstGeom prst="rect">
            <a:avLst/>
          </a:prstGeom>
          <a:noFill/>
          <a:ln/>
        </p:spPr>
        <p:txBody>
          <a:bodyPr wrap="square" lIns="0" tIns="0" rIns="0" bIns="0" rtlCol="0" anchor="ctr"/>
          <a:lstStyle/>
          <a:p>
            <a:pPr marL="0" indent="0">
              <a:buNone/>
            </a:pPr>
            <a:r>
              <a:rPr lang="en-US" sz="1000" dirty="0">
                <a:solidFill>
                  <a:srgbClr val="CCF0FF"/>
                </a:solidFill>
                <a:latin typeface="Calibri" pitchFamily="34" charset="0"/>
                <a:ea typeface="Calibri" pitchFamily="34" charset="-122"/>
                <a:cs typeface="Calibri" pitchFamily="34" charset="-120"/>
              </a:rPr>
              <a:t>DataRaptor</a:t>
            </a:r>
            <a:endParaRPr lang="en-US" sz="1000" dirty="0"/>
          </a:p>
        </p:txBody>
      </p:sp>
      <p:sp>
        <p:nvSpPr>
          <p:cNvPr id="21" name="Text 16"/>
          <p:cNvSpPr/>
          <p:nvPr/>
        </p:nvSpPr>
        <p:spPr>
          <a:xfrm>
            <a:off x="3749040" y="2286000"/>
            <a:ext cx="214884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TRANSFORM</a:t>
            </a:r>
            <a:endParaRPr lang="en-US" sz="1500" dirty="0"/>
          </a:p>
        </p:txBody>
      </p:sp>
      <p:sp>
        <p:nvSpPr>
          <p:cNvPr id="22" name="Text 17"/>
          <p:cNvSpPr/>
          <p:nvPr/>
        </p:nvSpPr>
        <p:spPr>
          <a:xfrm>
            <a:off x="3383280" y="2670048"/>
            <a:ext cx="2468880" cy="10058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Reshapes and reformats data between two data sources without reading or writing to Salesforce.</a:t>
            </a:r>
            <a:endParaRPr lang="en-US" sz="1100" dirty="0"/>
          </a:p>
        </p:txBody>
      </p:sp>
      <p:sp>
        <p:nvSpPr>
          <p:cNvPr id="23" name="Shape 18"/>
          <p:cNvSpPr/>
          <p:nvPr/>
        </p:nvSpPr>
        <p:spPr>
          <a:xfrm>
            <a:off x="3383280" y="3730752"/>
            <a:ext cx="2468880" cy="36576"/>
          </a:xfrm>
          <a:prstGeom prst="rect">
            <a:avLst/>
          </a:prstGeom>
          <a:solidFill>
            <a:srgbClr val="028090">
              <a:alpha val="50000"/>
            </a:srgbClr>
          </a:solidFill>
          <a:ln/>
        </p:spPr>
        <p:txBody>
          <a:bodyPr/>
          <a:lstStyle/>
          <a:p>
            <a:endParaRPr lang="en-US"/>
          </a:p>
        </p:txBody>
      </p:sp>
      <p:sp>
        <p:nvSpPr>
          <p:cNvPr id="24" name="Text 19"/>
          <p:cNvSpPr/>
          <p:nvPr/>
        </p:nvSpPr>
        <p:spPr>
          <a:xfrm>
            <a:off x="3383280" y="3803904"/>
            <a:ext cx="2468880" cy="201168"/>
          </a:xfrm>
          <a:prstGeom prst="rect">
            <a:avLst/>
          </a:prstGeom>
          <a:noFill/>
          <a:ln/>
        </p:spPr>
        <p:txBody>
          <a:bodyPr wrap="square" lIns="0" tIns="0" rIns="0" bIns="0" rtlCol="0" anchor="ctr"/>
          <a:lstStyle/>
          <a:p>
            <a:pPr marL="0" indent="0">
              <a:buNone/>
            </a:pPr>
            <a:r>
              <a:rPr lang="en-US" sz="900" b="1" kern="0" spc="100" dirty="0">
                <a:solidFill>
                  <a:srgbClr val="028090"/>
                </a:solidFill>
                <a:latin typeface="Calibri" pitchFamily="34" charset="0"/>
                <a:ea typeface="Calibri" pitchFamily="34" charset="-122"/>
                <a:cs typeface="Calibri" pitchFamily="34" charset="-120"/>
              </a:rPr>
              <a:t>USE CASE</a:t>
            </a:r>
            <a:endParaRPr lang="en-US" sz="900" dirty="0"/>
          </a:p>
        </p:txBody>
      </p:sp>
      <p:sp>
        <p:nvSpPr>
          <p:cNvPr id="25" name="Text 20"/>
          <p:cNvSpPr/>
          <p:nvPr/>
        </p:nvSpPr>
        <p:spPr>
          <a:xfrm>
            <a:off x="3383280" y="4023360"/>
            <a:ext cx="2468880" cy="65836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Used to convert API responses into FlexCard-readable format.</a:t>
            </a:r>
            <a:endParaRPr lang="en-US" sz="1050" dirty="0"/>
          </a:p>
        </p:txBody>
      </p:sp>
      <p:sp>
        <p:nvSpPr>
          <p:cNvPr id="26" name="Shape 21"/>
          <p:cNvSpPr/>
          <p:nvPr/>
        </p:nvSpPr>
        <p:spPr>
          <a:xfrm>
            <a:off x="6163056" y="2011680"/>
            <a:ext cx="2788920" cy="28346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7" name="Shape 22"/>
          <p:cNvSpPr/>
          <p:nvPr/>
        </p:nvSpPr>
        <p:spPr>
          <a:xfrm>
            <a:off x="6163056" y="2011680"/>
            <a:ext cx="2788920" cy="548640"/>
          </a:xfrm>
          <a:prstGeom prst="rect">
            <a:avLst/>
          </a:prstGeom>
          <a:solidFill>
            <a:srgbClr val="04844B"/>
          </a:solidFill>
          <a:ln/>
        </p:spPr>
        <p:txBody>
          <a:bodyPr/>
          <a:lstStyle/>
          <a:p>
            <a:endParaRPr lang="en-US"/>
          </a:p>
        </p:txBody>
      </p:sp>
      <p:pic>
        <p:nvPicPr>
          <p:cNvPr id="28" name="Image 3" descr="preencoded.png"/>
          <p:cNvPicPr>
            <a:picLocks noChangeAspect="1"/>
          </p:cNvPicPr>
          <p:nvPr/>
        </p:nvPicPr>
        <p:blipFill>
          <a:blip r:embed="rId6"/>
          <a:stretch>
            <a:fillRect/>
          </a:stretch>
        </p:blipFill>
        <p:spPr>
          <a:xfrm>
            <a:off x="6300216" y="2103120"/>
            <a:ext cx="292608" cy="292608"/>
          </a:xfrm>
          <a:prstGeom prst="rect">
            <a:avLst/>
          </a:prstGeom>
        </p:spPr>
      </p:pic>
      <p:sp>
        <p:nvSpPr>
          <p:cNvPr id="29" name="Text 23"/>
          <p:cNvSpPr/>
          <p:nvPr/>
        </p:nvSpPr>
        <p:spPr>
          <a:xfrm>
            <a:off x="6693408" y="2075688"/>
            <a:ext cx="2148840" cy="256032"/>
          </a:xfrm>
          <a:prstGeom prst="rect">
            <a:avLst/>
          </a:prstGeom>
          <a:noFill/>
          <a:ln/>
        </p:spPr>
        <p:txBody>
          <a:bodyPr wrap="square" lIns="0" tIns="0" rIns="0" bIns="0" rtlCol="0" anchor="ctr"/>
          <a:lstStyle/>
          <a:p>
            <a:pPr marL="0" indent="0">
              <a:buNone/>
            </a:pPr>
            <a:r>
              <a:rPr lang="en-US" sz="1000" dirty="0">
                <a:solidFill>
                  <a:srgbClr val="CCF0FF"/>
                </a:solidFill>
                <a:latin typeface="Calibri" pitchFamily="34" charset="0"/>
                <a:ea typeface="Calibri" pitchFamily="34" charset="-122"/>
                <a:cs typeface="Calibri" pitchFamily="34" charset="-120"/>
              </a:rPr>
              <a:t>DataRaptor</a:t>
            </a:r>
            <a:endParaRPr lang="en-US" sz="1000" dirty="0"/>
          </a:p>
        </p:txBody>
      </p:sp>
      <p:sp>
        <p:nvSpPr>
          <p:cNvPr id="30" name="Text 24"/>
          <p:cNvSpPr/>
          <p:nvPr/>
        </p:nvSpPr>
        <p:spPr>
          <a:xfrm>
            <a:off x="6693408" y="2286000"/>
            <a:ext cx="214884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LOAD</a:t>
            </a:r>
            <a:endParaRPr lang="en-US" sz="1500" dirty="0"/>
          </a:p>
        </p:txBody>
      </p:sp>
      <p:sp>
        <p:nvSpPr>
          <p:cNvPr id="31" name="Text 25"/>
          <p:cNvSpPr/>
          <p:nvPr/>
        </p:nvSpPr>
        <p:spPr>
          <a:xfrm>
            <a:off x="6327648" y="2670048"/>
            <a:ext cx="2468880" cy="10058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Writes data TO Salesforce objects — creates or updates records based on input data.</a:t>
            </a:r>
            <a:endParaRPr lang="en-US" sz="1100" dirty="0"/>
          </a:p>
        </p:txBody>
      </p:sp>
      <p:sp>
        <p:nvSpPr>
          <p:cNvPr id="32" name="Shape 26"/>
          <p:cNvSpPr/>
          <p:nvPr/>
        </p:nvSpPr>
        <p:spPr>
          <a:xfrm>
            <a:off x="6327648" y="3730752"/>
            <a:ext cx="2468880" cy="36576"/>
          </a:xfrm>
          <a:prstGeom prst="rect">
            <a:avLst/>
          </a:prstGeom>
          <a:solidFill>
            <a:srgbClr val="04844B">
              <a:alpha val="50000"/>
            </a:srgbClr>
          </a:solidFill>
          <a:ln/>
        </p:spPr>
        <p:txBody>
          <a:bodyPr/>
          <a:lstStyle/>
          <a:p>
            <a:endParaRPr lang="en-US"/>
          </a:p>
        </p:txBody>
      </p:sp>
      <p:sp>
        <p:nvSpPr>
          <p:cNvPr id="33" name="Text 27"/>
          <p:cNvSpPr/>
          <p:nvPr/>
        </p:nvSpPr>
        <p:spPr>
          <a:xfrm>
            <a:off x="6327648" y="3803904"/>
            <a:ext cx="2468880" cy="201168"/>
          </a:xfrm>
          <a:prstGeom prst="rect">
            <a:avLst/>
          </a:prstGeom>
          <a:noFill/>
          <a:ln/>
        </p:spPr>
        <p:txBody>
          <a:bodyPr wrap="square" lIns="0" tIns="0" rIns="0" bIns="0" rtlCol="0" anchor="ctr"/>
          <a:lstStyle/>
          <a:p>
            <a:pPr marL="0" indent="0">
              <a:buNone/>
            </a:pPr>
            <a:r>
              <a:rPr lang="en-US" sz="900" b="1" kern="0" spc="100" dirty="0">
                <a:solidFill>
                  <a:srgbClr val="04844B"/>
                </a:solidFill>
                <a:latin typeface="Calibri" pitchFamily="34" charset="0"/>
                <a:ea typeface="Calibri" pitchFamily="34" charset="-122"/>
                <a:cs typeface="Calibri" pitchFamily="34" charset="-120"/>
              </a:rPr>
              <a:t>USE CASE</a:t>
            </a:r>
            <a:endParaRPr lang="en-US" sz="900" dirty="0"/>
          </a:p>
        </p:txBody>
      </p:sp>
      <p:sp>
        <p:nvSpPr>
          <p:cNvPr id="34" name="Text 28"/>
          <p:cNvSpPr/>
          <p:nvPr/>
        </p:nvSpPr>
        <p:spPr>
          <a:xfrm>
            <a:off x="6327648" y="4023360"/>
            <a:ext cx="2468880" cy="65836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Used by OmniScripts to save form data back to Salesforce.</a:t>
            </a:r>
            <a:endParaRPr lang="en-US" sz="1050" dirty="0"/>
          </a:p>
        </p:txBody>
      </p:sp>
      <p:sp>
        <p:nvSpPr>
          <p:cNvPr id="35" name="Shape 29"/>
          <p:cNvSpPr/>
          <p:nvPr/>
        </p:nvSpPr>
        <p:spPr>
          <a:xfrm>
            <a:off x="274320" y="4773168"/>
            <a:ext cx="8595360" cy="274320"/>
          </a:xfrm>
          <a:prstGeom prst="rect">
            <a:avLst/>
          </a:prstGeom>
          <a:solidFill>
            <a:srgbClr val="0070D2">
              <a:alpha val="15000"/>
            </a:srgbClr>
          </a:solidFill>
          <a:ln/>
        </p:spPr>
        <p:txBody>
          <a:bodyPr/>
          <a:lstStyle/>
          <a:p>
            <a:endParaRPr lang="en-US"/>
          </a:p>
        </p:txBody>
      </p:sp>
      <p:sp>
        <p:nvSpPr>
          <p:cNvPr id="36" name="Text 30"/>
          <p:cNvSpPr/>
          <p:nvPr/>
        </p:nvSpPr>
        <p:spPr>
          <a:xfrm>
            <a:off x="457200" y="4791456"/>
            <a:ext cx="8229600" cy="237744"/>
          </a:xfrm>
          <a:prstGeom prst="rect">
            <a:avLst/>
          </a:prstGeom>
          <a:noFill/>
          <a:ln/>
        </p:spPr>
        <p:txBody>
          <a:bodyPr wrap="square" lIns="0" tIns="0" rIns="0" bIns="0" rtlCol="0" anchor="ctr"/>
          <a:lstStyle/>
          <a:p>
            <a:pPr marL="0" indent="0">
              <a:buNone/>
            </a:pPr>
            <a:r>
              <a:rPr lang="en-US" sz="1050" dirty="0">
                <a:solidFill>
                  <a:srgbClr val="0C2D5E"/>
                </a:solidFill>
                <a:latin typeface="Calibri" pitchFamily="34" charset="0"/>
                <a:ea typeface="Calibri" pitchFamily="34" charset="-122"/>
                <a:cs typeface="Calibri" pitchFamily="34" charset="-120"/>
              </a:rPr>
              <a:t>This guide focuses on DataRaptor EXTRACT — the type used to fetch Financial Account data for FlexCard display.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4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8090"/>
          </a:solidFill>
          <a:ln/>
        </p:spPr>
        <p:txBody>
          <a:bodyPr/>
          <a:lstStyle/>
          <a:p>
            <a:endParaRPr lang="en-US"/>
          </a:p>
        </p:txBody>
      </p:sp>
      <p:sp>
        <p:nvSpPr>
          <p:cNvPr id="3" name="Text 1"/>
          <p:cNvSpPr/>
          <p:nvPr/>
        </p:nvSpPr>
        <p:spPr>
          <a:xfrm>
            <a:off x="365760" y="73152"/>
            <a:ext cx="8229600" cy="347472"/>
          </a:xfrm>
          <a:prstGeom prst="rect">
            <a:avLst/>
          </a:prstGeom>
          <a:noFill/>
          <a:ln/>
        </p:spPr>
        <p:txBody>
          <a:bodyPr wrap="square" lIns="0" tIns="0" rIns="0" bIns="0" rtlCol="0" anchor="ctr"/>
          <a:lstStyle/>
          <a:p>
            <a:pPr marL="0" indent="0">
              <a:buNone/>
            </a:pPr>
            <a:r>
              <a:rPr lang="en-US" sz="1000" b="1" kern="0" spc="300" dirty="0">
                <a:solidFill>
                  <a:srgbClr val="A0F0E8"/>
                </a:solidFill>
                <a:latin typeface="Calibri" pitchFamily="34" charset="0"/>
                <a:ea typeface="Calibri" pitchFamily="34" charset="-122"/>
                <a:cs typeface="Calibri" pitchFamily="34" charset="-120"/>
              </a:rPr>
              <a:t>DATA MAPPER</a:t>
            </a:r>
            <a:endParaRPr lang="en-US" sz="1000" dirty="0"/>
          </a:p>
        </p:txBody>
      </p:sp>
      <p:sp>
        <p:nvSpPr>
          <p:cNvPr id="4" name="Text 2"/>
          <p:cNvSpPr/>
          <p:nvPr/>
        </p:nvSpPr>
        <p:spPr>
          <a:xfrm>
            <a:off x="365760" y="438912"/>
            <a:ext cx="822960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Architecture &amp; Data Flow</a:t>
            </a:r>
            <a:endParaRPr lang="en-US" sz="2200" dirty="0"/>
          </a:p>
        </p:txBody>
      </p:sp>
      <p:sp>
        <p:nvSpPr>
          <p:cNvPr id="5" name="Shape 3"/>
          <p:cNvSpPr/>
          <p:nvPr/>
        </p:nvSpPr>
        <p:spPr>
          <a:xfrm>
            <a:off x="274320" y="1280160"/>
            <a:ext cx="1828800" cy="1600200"/>
          </a:xfrm>
          <a:prstGeom prst="rect">
            <a:avLst/>
          </a:prstGeom>
          <a:solidFill>
            <a:srgbClr val="0070D2"/>
          </a:solidFill>
          <a:ln/>
          <a:effectLst>
            <a:outerShdw blurRad="101600" dist="38100" dir="8100000" algn="bl" rotWithShape="0">
              <a:srgbClr val="000000">
                <a:alpha val="12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932688" y="1417320"/>
            <a:ext cx="475488" cy="475488"/>
          </a:xfrm>
          <a:prstGeom prst="rect">
            <a:avLst/>
          </a:prstGeom>
        </p:spPr>
      </p:pic>
      <p:sp>
        <p:nvSpPr>
          <p:cNvPr id="7" name="Text 4"/>
          <p:cNvSpPr/>
          <p:nvPr/>
        </p:nvSpPr>
        <p:spPr>
          <a:xfrm>
            <a:off x="320040" y="1938528"/>
            <a:ext cx="173736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FlexCard</a:t>
            </a:r>
            <a:endParaRPr lang="en-US" sz="1300" dirty="0"/>
          </a:p>
        </p:txBody>
      </p:sp>
      <p:sp>
        <p:nvSpPr>
          <p:cNvPr id="8" name="Text 5"/>
          <p:cNvSpPr/>
          <p:nvPr/>
        </p:nvSpPr>
        <p:spPr>
          <a:xfrm>
            <a:off x="320040" y="2414016"/>
            <a:ext cx="1737360" cy="420624"/>
          </a:xfrm>
          <a:prstGeom prst="rect">
            <a:avLst/>
          </a:prstGeom>
          <a:noFill/>
          <a:ln/>
        </p:spPr>
        <p:txBody>
          <a:bodyPr wrap="square" lIns="0" tIns="0" rIns="0" bIns="0" rtlCol="0" anchor="ctr"/>
          <a:lstStyle/>
          <a:p>
            <a:pPr marL="0" indent="0" algn="ctr">
              <a:buNone/>
            </a:pPr>
            <a:r>
              <a:rPr lang="en-US" sz="950" dirty="0">
                <a:solidFill>
                  <a:srgbClr val="C0DFFF"/>
                </a:solidFill>
                <a:latin typeface="Calibri" pitchFamily="34" charset="0"/>
                <a:ea typeface="Calibri" pitchFamily="34" charset="-122"/>
                <a:cs typeface="Calibri" pitchFamily="34" charset="-120"/>
              </a:rPr>
              <a:t>Triggers data fetch</a:t>
            </a:r>
            <a:endParaRPr lang="en-US" sz="950" dirty="0"/>
          </a:p>
          <a:p>
            <a:pPr marL="0" indent="0" algn="ctr">
              <a:buNone/>
            </a:pPr>
            <a:r>
              <a:rPr lang="en-US" sz="950" dirty="0">
                <a:solidFill>
                  <a:srgbClr val="C0DFFF"/>
                </a:solidFill>
                <a:latin typeface="Calibri" pitchFamily="34" charset="0"/>
                <a:ea typeface="Calibri" pitchFamily="34" charset="-122"/>
                <a:cs typeface="Calibri" pitchFamily="34" charset="-120"/>
              </a:rPr>
              <a:t>passes {recordId}</a:t>
            </a:r>
            <a:endParaRPr lang="en-US" sz="950" dirty="0"/>
          </a:p>
        </p:txBody>
      </p:sp>
      <p:sp>
        <p:nvSpPr>
          <p:cNvPr id="9" name="Shape 6"/>
          <p:cNvSpPr/>
          <p:nvPr/>
        </p:nvSpPr>
        <p:spPr>
          <a:xfrm>
            <a:off x="2148840" y="2048256"/>
            <a:ext cx="457200" cy="36576"/>
          </a:xfrm>
          <a:prstGeom prst="rect">
            <a:avLst/>
          </a:prstGeom>
          <a:solidFill>
            <a:srgbClr val="334155"/>
          </a:solidFill>
          <a:ln/>
        </p:spPr>
        <p:txBody>
          <a:bodyPr/>
          <a:lstStyle/>
          <a:p>
            <a:endParaRPr lang="en-US"/>
          </a:p>
        </p:txBody>
      </p:sp>
      <p:sp>
        <p:nvSpPr>
          <p:cNvPr id="10" name="Shape 7"/>
          <p:cNvSpPr/>
          <p:nvPr/>
        </p:nvSpPr>
        <p:spPr>
          <a:xfrm>
            <a:off x="2523744" y="1975104"/>
            <a:ext cx="36576" cy="182880"/>
          </a:xfrm>
          <a:prstGeom prst="rect">
            <a:avLst/>
          </a:prstGeom>
          <a:solidFill>
            <a:srgbClr val="334155"/>
          </a:solidFill>
          <a:ln/>
        </p:spPr>
        <p:txBody>
          <a:bodyPr/>
          <a:lstStyle/>
          <a:p>
            <a:endParaRPr lang="en-US"/>
          </a:p>
        </p:txBody>
      </p:sp>
      <p:sp>
        <p:nvSpPr>
          <p:cNvPr id="11" name="Shape 8"/>
          <p:cNvSpPr/>
          <p:nvPr/>
        </p:nvSpPr>
        <p:spPr>
          <a:xfrm>
            <a:off x="2523744" y="1975104"/>
            <a:ext cx="128016" cy="36576"/>
          </a:xfrm>
          <a:prstGeom prst="rect">
            <a:avLst/>
          </a:prstGeom>
          <a:solidFill>
            <a:srgbClr val="334155"/>
          </a:solidFill>
          <a:ln/>
        </p:spPr>
        <p:txBody>
          <a:bodyPr/>
          <a:lstStyle/>
          <a:p>
            <a:endParaRPr lang="en-US"/>
          </a:p>
        </p:txBody>
      </p:sp>
      <p:sp>
        <p:nvSpPr>
          <p:cNvPr id="12" name="Shape 9"/>
          <p:cNvSpPr/>
          <p:nvPr/>
        </p:nvSpPr>
        <p:spPr>
          <a:xfrm>
            <a:off x="2523744" y="2121408"/>
            <a:ext cx="128016" cy="36576"/>
          </a:xfrm>
          <a:prstGeom prst="rect">
            <a:avLst/>
          </a:prstGeom>
          <a:solidFill>
            <a:srgbClr val="334155"/>
          </a:solidFill>
          <a:ln/>
        </p:spPr>
        <p:txBody>
          <a:bodyPr/>
          <a:lstStyle/>
          <a:p>
            <a:endParaRPr lang="en-US"/>
          </a:p>
        </p:txBody>
      </p:sp>
      <p:sp>
        <p:nvSpPr>
          <p:cNvPr id="13" name="Shape 10"/>
          <p:cNvSpPr/>
          <p:nvPr/>
        </p:nvSpPr>
        <p:spPr>
          <a:xfrm>
            <a:off x="2377440" y="1280160"/>
            <a:ext cx="1828800" cy="1600200"/>
          </a:xfrm>
          <a:prstGeom prst="rect">
            <a:avLst/>
          </a:prstGeom>
          <a:solidFill>
            <a:srgbClr val="028090"/>
          </a:solidFill>
          <a:ln/>
          <a:effectLst>
            <a:outerShdw blurRad="101600" dist="38100" dir="8100000" algn="bl" rotWithShape="0">
              <a:srgbClr val="000000">
                <a:alpha val="12000"/>
              </a:srgbClr>
            </a:outerShdw>
          </a:effectLst>
        </p:spPr>
        <p:txBody>
          <a:bodyPr/>
          <a:lstStyle/>
          <a:p>
            <a:endParaRPr lang="en-US"/>
          </a:p>
        </p:txBody>
      </p:sp>
      <p:pic>
        <p:nvPicPr>
          <p:cNvPr id="14" name="Image 1" descr="preencoded.png"/>
          <p:cNvPicPr>
            <a:picLocks noChangeAspect="1"/>
          </p:cNvPicPr>
          <p:nvPr/>
        </p:nvPicPr>
        <p:blipFill>
          <a:blip r:embed="rId4"/>
          <a:stretch>
            <a:fillRect/>
          </a:stretch>
        </p:blipFill>
        <p:spPr>
          <a:xfrm>
            <a:off x="3035808" y="1417320"/>
            <a:ext cx="475488" cy="475488"/>
          </a:xfrm>
          <a:prstGeom prst="rect">
            <a:avLst/>
          </a:prstGeom>
        </p:spPr>
      </p:pic>
      <p:sp>
        <p:nvSpPr>
          <p:cNvPr id="15" name="Text 11"/>
          <p:cNvSpPr/>
          <p:nvPr/>
        </p:nvSpPr>
        <p:spPr>
          <a:xfrm>
            <a:off x="2423160" y="1938528"/>
            <a:ext cx="173736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DataRaptor</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Extract</a:t>
            </a:r>
            <a:endParaRPr lang="en-US" sz="1300" dirty="0"/>
          </a:p>
        </p:txBody>
      </p:sp>
      <p:sp>
        <p:nvSpPr>
          <p:cNvPr id="16" name="Text 12"/>
          <p:cNvSpPr/>
          <p:nvPr/>
        </p:nvSpPr>
        <p:spPr>
          <a:xfrm>
            <a:off x="2423160" y="2414016"/>
            <a:ext cx="1737360" cy="420624"/>
          </a:xfrm>
          <a:prstGeom prst="rect">
            <a:avLst/>
          </a:prstGeom>
          <a:noFill/>
          <a:ln/>
        </p:spPr>
        <p:txBody>
          <a:bodyPr wrap="square" lIns="0" tIns="0" rIns="0" bIns="0" rtlCol="0" anchor="ctr"/>
          <a:lstStyle/>
          <a:p>
            <a:pPr marL="0" indent="0" algn="ctr">
              <a:buNone/>
            </a:pPr>
            <a:r>
              <a:rPr lang="en-US" sz="950" dirty="0">
                <a:solidFill>
                  <a:srgbClr val="C0DFFF"/>
                </a:solidFill>
                <a:latin typeface="Calibri" pitchFamily="34" charset="0"/>
                <a:ea typeface="Calibri" pitchFamily="34" charset="-122"/>
                <a:cs typeface="Calibri" pitchFamily="34" charset="-120"/>
              </a:rPr>
              <a:t>Queries objects</a:t>
            </a:r>
            <a:endParaRPr lang="en-US" sz="950" dirty="0"/>
          </a:p>
          <a:p>
            <a:pPr marL="0" indent="0" algn="ctr">
              <a:buNone/>
            </a:pPr>
            <a:r>
              <a:rPr lang="en-US" sz="950" dirty="0">
                <a:solidFill>
                  <a:srgbClr val="C0DFFF"/>
                </a:solidFill>
                <a:latin typeface="Calibri" pitchFamily="34" charset="0"/>
                <a:ea typeface="Calibri" pitchFamily="34" charset="-122"/>
                <a:cs typeface="Calibri" pitchFamily="34" charset="-120"/>
              </a:rPr>
              <a:t>maps output fields</a:t>
            </a:r>
            <a:endParaRPr lang="en-US" sz="950" dirty="0"/>
          </a:p>
        </p:txBody>
      </p:sp>
      <p:sp>
        <p:nvSpPr>
          <p:cNvPr id="17" name="Shape 13"/>
          <p:cNvSpPr/>
          <p:nvPr/>
        </p:nvSpPr>
        <p:spPr>
          <a:xfrm>
            <a:off x="4251960" y="2048256"/>
            <a:ext cx="457200" cy="36576"/>
          </a:xfrm>
          <a:prstGeom prst="rect">
            <a:avLst/>
          </a:prstGeom>
          <a:solidFill>
            <a:srgbClr val="334155"/>
          </a:solidFill>
          <a:ln/>
        </p:spPr>
        <p:txBody>
          <a:bodyPr/>
          <a:lstStyle/>
          <a:p>
            <a:endParaRPr lang="en-US"/>
          </a:p>
        </p:txBody>
      </p:sp>
      <p:sp>
        <p:nvSpPr>
          <p:cNvPr id="18" name="Shape 14"/>
          <p:cNvSpPr/>
          <p:nvPr/>
        </p:nvSpPr>
        <p:spPr>
          <a:xfrm>
            <a:off x="4626864" y="1975104"/>
            <a:ext cx="36576" cy="182880"/>
          </a:xfrm>
          <a:prstGeom prst="rect">
            <a:avLst/>
          </a:prstGeom>
          <a:solidFill>
            <a:srgbClr val="334155"/>
          </a:solidFill>
          <a:ln/>
        </p:spPr>
        <p:txBody>
          <a:bodyPr/>
          <a:lstStyle/>
          <a:p>
            <a:endParaRPr lang="en-US"/>
          </a:p>
        </p:txBody>
      </p:sp>
      <p:sp>
        <p:nvSpPr>
          <p:cNvPr id="19" name="Shape 15"/>
          <p:cNvSpPr/>
          <p:nvPr/>
        </p:nvSpPr>
        <p:spPr>
          <a:xfrm>
            <a:off x="4626864" y="1975104"/>
            <a:ext cx="128016" cy="36576"/>
          </a:xfrm>
          <a:prstGeom prst="rect">
            <a:avLst/>
          </a:prstGeom>
          <a:solidFill>
            <a:srgbClr val="334155"/>
          </a:solidFill>
          <a:ln/>
        </p:spPr>
        <p:txBody>
          <a:bodyPr/>
          <a:lstStyle/>
          <a:p>
            <a:endParaRPr lang="en-US"/>
          </a:p>
        </p:txBody>
      </p:sp>
      <p:sp>
        <p:nvSpPr>
          <p:cNvPr id="20" name="Shape 16"/>
          <p:cNvSpPr/>
          <p:nvPr/>
        </p:nvSpPr>
        <p:spPr>
          <a:xfrm>
            <a:off x="4626864" y="2121408"/>
            <a:ext cx="128016" cy="36576"/>
          </a:xfrm>
          <a:prstGeom prst="rect">
            <a:avLst/>
          </a:prstGeom>
          <a:solidFill>
            <a:srgbClr val="334155"/>
          </a:solidFill>
          <a:ln/>
        </p:spPr>
        <p:txBody>
          <a:bodyPr/>
          <a:lstStyle/>
          <a:p>
            <a:endParaRPr lang="en-US"/>
          </a:p>
        </p:txBody>
      </p:sp>
      <p:sp>
        <p:nvSpPr>
          <p:cNvPr id="21" name="Shape 17"/>
          <p:cNvSpPr/>
          <p:nvPr/>
        </p:nvSpPr>
        <p:spPr>
          <a:xfrm>
            <a:off x="4480560" y="1280160"/>
            <a:ext cx="1828800" cy="1600200"/>
          </a:xfrm>
          <a:prstGeom prst="rect">
            <a:avLst/>
          </a:prstGeom>
          <a:solidFill>
            <a:srgbClr val="04844B"/>
          </a:solidFill>
          <a:ln/>
          <a:effectLst>
            <a:outerShdw blurRad="101600" dist="38100" dir="8100000" algn="bl" rotWithShape="0">
              <a:srgbClr val="000000">
                <a:alpha val="12000"/>
              </a:srgbClr>
            </a:outerShdw>
          </a:effectLst>
        </p:spPr>
        <p:txBody>
          <a:bodyPr/>
          <a:lstStyle/>
          <a:p>
            <a:endParaRPr lang="en-US"/>
          </a:p>
        </p:txBody>
      </p:sp>
      <p:pic>
        <p:nvPicPr>
          <p:cNvPr id="22" name="Image 2" descr="preencoded.png"/>
          <p:cNvPicPr>
            <a:picLocks noChangeAspect="1"/>
          </p:cNvPicPr>
          <p:nvPr/>
        </p:nvPicPr>
        <p:blipFill>
          <a:blip r:embed="rId5"/>
          <a:stretch>
            <a:fillRect/>
          </a:stretch>
        </p:blipFill>
        <p:spPr>
          <a:xfrm>
            <a:off x="5138928" y="1417320"/>
            <a:ext cx="475488" cy="475488"/>
          </a:xfrm>
          <a:prstGeom prst="rect">
            <a:avLst/>
          </a:prstGeom>
        </p:spPr>
      </p:pic>
      <p:sp>
        <p:nvSpPr>
          <p:cNvPr id="23" name="Text 18"/>
          <p:cNvSpPr/>
          <p:nvPr/>
        </p:nvSpPr>
        <p:spPr>
          <a:xfrm>
            <a:off x="4526280" y="1938528"/>
            <a:ext cx="173736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Salesforce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FSC Data</a:t>
            </a:r>
            <a:endParaRPr lang="en-US" sz="1300" dirty="0"/>
          </a:p>
        </p:txBody>
      </p:sp>
      <p:sp>
        <p:nvSpPr>
          <p:cNvPr id="24" name="Text 19"/>
          <p:cNvSpPr/>
          <p:nvPr/>
        </p:nvSpPr>
        <p:spPr>
          <a:xfrm>
            <a:off x="4526280" y="2414016"/>
            <a:ext cx="1737360" cy="420624"/>
          </a:xfrm>
          <a:prstGeom prst="rect">
            <a:avLst/>
          </a:prstGeom>
          <a:noFill/>
          <a:ln/>
        </p:spPr>
        <p:txBody>
          <a:bodyPr wrap="square" lIns="0" tIns="0" rIns="0" bIns="0" rtlCol="0" anchor="ctr"/>
          <a:lstStyle/>
          <a:p>
            <a:pPr marL="0" indent="0" algn="ctr">
              <a:buNone/>
            </a:pPr>
            <a:r>
              <a:rPr lang="en-US" sz="950" dirty="0">
                <a:solidFill>
                  <a:srgbClr val="C0DFFF"/>
                </a:solidFill>
                <a:latin typeface="Calibri" pitchFamily="34" charset="0"/>
                <a:ea typeface="Calibri" pitchFamily="34" charset="-122"/>
                <a:cs typeface="Calibri" pitchFamily="34" charset="-120"/>
              </a:rPr>
              <a:t>FinancialAccount__c</a:t>
            </a:r>
            <a:endParaRPr lang="en-US" sz="950" dirty="0"/>
          </a:p>
          <a:p>
            <a:pPr marL="0" indent="0" algn="ctr">
              <a:buNone/>
            </a:pPr>
            <a:r>
              <a:rPr lang="en-US" sz="950" dirty="0">
                <a:solidFill>
                  <a:srgbClr val="C0DFFF"/>
                </a:solidFill>
                <a:latin typeface="Calibri" pitchFamily="34" charset="0"/>
                <a:ea typeface="Calibri" pitchFamily="34" charset="-122"/>
                <a:cs typeface="Calibri" pitchFamily="34" charset="-120"/>
              </a:rPr>
              <a:t>related records</a:t>
            </a:r>
            <a:endParaRPr lang="en-US" sz="950" dirty="0"/>
          </a:p>
        </p:txBody>
      </p:sp>
      <p:sp>
        <p:nvSpPr>
          <p:cNvPr id="25" name="Shape 20"/>
          <p:cNvSpPr/>
          <p:nvPr/>
        </p:nvSpPr>
        <p:spPr>
          <a:xfrm>
            <a:off x="6355080" y="2048256"/>
            <a:ext cx="457200" cy="36576"/>
          </a:xfrm>
          <a:prstGeom prst="rect">
            <a:avLst/>
          </a:prstGeom>
          <a:solidFill>
            <a:srgbClr val="334155"/>
          </a:solidFill>
          <a:ln/>
        </p:spPr>
        <p:txBody>
          <a:bodyPr/>
          <a:lstStyle/>
          <a:p>
            <a:endParaRPr lang="en-US"/>
          </a:p>
        </p:txBody>
      </p:sp>
      <p:sp>
        <p:nvSpPr>
          <p:cNvPr id="26" name="Shape 21"/>
          <p:cNvSpPr/>
          <p:nvPr/>
        </p:nvSpPr>
        <p:spPr>
          <a:xfrm>
            <a:off x="6729984" y="1975104"/>
            <a:ext cx="36576" cy="182880"/>
          </a:xfrm>
          <a:prstGeom prst="rect">
            <a:avLst/>
          </a:prstGeom>
          <a:solidFill>
            <a:srgbClr val="334155"/>
          </a:solidFill>
          <a:ln/>
        </p:spPr>
        <p:txBody>
          <a:bodyPr/>
          <a:lstStyle/>
          <a:p>
            <a:endParaRPr lang="en-US"/>
          </a:p>
        </p:txBody>
      </p:sp>
      <p:sp>
        <p:nvSpPr>
          <p:cNvPr id="27" name="Shape 22"/>
          <p:cNvSpPr/>
          <p:nvPr/>
        </p:nvSpPr>
        <p:spPr>
          <a:xfrm>
            <a:off x="6729984" y="1975104"/>
            <a:ext cx="128016" cy="36576"/>
          </a:xfrm>
          <a:prstGeom prst="rect">
            <a:avLst/>
          </a:prstGeom>
          <a:solidFill>
            <a:srgbClr val="334155"/>
          </a:solidFill>
          <a:ln/>
        </p:spPr>
        <p:txBody>
          <a:bodyPr/>
          <a:lstStyle/>
          <a:p>
            <a:endParaRPr lang="en-US"/>
          </a:p>
        </p:txBody>
      </p:sp>
      <p:sp>
        <p:nvSpPr>
          <p:cNvPr id="28" name="Shape 23"/>
          <p:cNvSpPr/>
          <p:nvPr/>
        </p:nvSpPr>
        <p:spPr>
          <a:xfrm>
            <a:off x="6729984" y="2121408"/>
            <a:ext cx="128016" cy="36576"/>
          </a:xfrm>
          <a:prstGeom prst="rect">
            <a:avLst/>
          </a:prstGeom>
          <a:solidFill>
            <a:srgbClr val="334155"/>
          </a:solidFill>
          <a:ln/>
        </p:spPr>
        <p:txBody>
          <a:bodyPr/>
          <a:lstStyle/>
          <a:p>
            <a:endParaRPr lang="en-US"/>
          </a:p>
        </p:txBody>
      </p:sp>
      <p:sp>
        <p:nvSpPr>
          <p:cNvPr id="29" name="Shape 24"/>
          <p:cNvSpPr/>
          <p:nvPr/>
        </p:nvSpPr>
        <p:spPr>
          <a:xfrm>
            <a:off x="6583680" y="1280160"/>
            <a:ext cx="1828800" cy="1600200"/>
          </a:xfrm>
          <a:prstGeom prst="rect">
            <a:avLst/>
          </a:prstGeom>
          <a:solidFill>
            <a:srgbClr val="7C3AED"/>
          </a:solidFill>
          <a:ln/>
          <a:effectLst>
            <a:outerShdw blurRad="101600" dist="38100" dir="8100000" algn="bl" rotWithShape="0">
              <a:srgbClr val="000000">
                <a:alpha val="12000"/>
              </a:srgbClr>
            </a:outerShdw>
          </a:effectLst>
        </p:spPr>
        <p:txBody>
          <a:bodyPr/>
          <a:lstStyle/>
          <a:p>
            <a:endParaRPr lang="en-US"/>
          </a:p>
        </p:txBody>
      </p:sp>
      <p:pic>
        <p:nvPicPr>
          <p:cNvPr id="30" name="Image 3" descr="preencoded.png"/>
          <p:cNvPicPr>
            <a:picLocks noChangeAspect="1"/>
          </p:cNvPicPr>
          <p:nvPr/>
        </p:nvPicPr>
        <p:blipFill>
          <a:blip r:embed="rId6"/>
          <a:stretch>
            <a:fillRect/>
          </a:stretch>
        </p:blipFill>
        <p:spPr>
          <a:xfrm>
            <a:off x="7242048" y="1417320"/>
            <a:ext cx="475488" cy="475488"/>
          </a:xfrm>
          <a:prstGeom prst="rect">
            <a:avLst/>
          </a:prstGeom>
        </p:spPr>
      </p:pic>
      <p:sp>
        <p:nvSpPr>
          <p:cNvPr id="31" name="Text 25"/>
          <p:cNvSpPr/>
          <p:nvPr/>
        </p:nvSpPr>
        <p:spPr>
          <a:xfrm>
            <a:off x="6629400" y="1938528"/>
            <a:ext cx="173736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JSON</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p>
        </p:txBody>
      </p:sp>
      <p:sp>
        <p:nvSpPr>
          <p:cNvPr id="32" name="Text 26"/>
          <p:cNvSpPr/>
          <p:nvPr/>
        </p:nvSpPr>
        <p:spPr>
          <a:xfrm>
            <a:off x="6629400" y="2414016"/>
            <a:ext cx="1737360" cy="420624"/>
          </a:xfrm>
          <a:prstGeom prst="rect">
            <a:avLst/>
          </a:prstGeom>
          <a:noFill/>
          <a:ln/>
        </p:spPr>
        <p:txBody>
          <a:bodyPr wrap="square" lIns="0" tIns="0" rIns="0" bIns="0" rtlCol="0" anchor="ctr"/>
          <a:lstStyle/>
          <a:p>
            <a:pPr marL="0" indent="0" algn="ctr">
              <a:buNone/>
            </a:pPr>
            <a:r>
              <a:rPr lang="en-US" sz="950" dirty="0">
                <a:solidFill>
                  <a:srgbClr val="C0DFFF"/>
                </a:solidFill>
                <a:latin typeface="Calibri" pitchFamily="34" charset="0"/>
                <a:ea typeface="Calibri" pitchFamily="34" charset="-122"/>
                <a:cs typeface="Calibri" pitchFamily="34" charset="-120"/>
              </a:rPr>
              <a:t>Structured data</a:t>
            </a:r>
            <a:endParaRPr lang="en-US" sz="950" dirty="0"/>
          </a:p>
          <a:p>
            <a:pPr marL="0" indent="0" algn="ctr">
              <a:buNone/>
            </a:pPr>
            <a:r>
              <a:rPr lang="en-US" sz="950" dirty="0">
                <a:solidFill>
                  <a:srgbClr val="C0DFFF"/>
                </a:solidFill>
                <a:latin typeface="Calibri" pitchFamily="34" charset="0"/>
                <a:ea typeface="Calibri" pitchFamily="34" charset="-122"/>
                <a:cs typeface="Calibri" pitchFamily="34" charset="-120"/>
              </a:rPr>
              <a:t>for FlexCard merge fields</a:t>
            </a:r>
            <a:endParaRPr lang="en-US" sz="950" dirty="0"/>
          </a:p>
        </p:txBody>
      </p:sp>
      <p:sp>
        <p:nvSpPr>
          <p:cNvPr id="33" name="Text 27"/>
          <p:cNvSpPr/>
          <p:nvPr/>
        </p:nvSpPr>
        <p:spPr>
          <a:xfrm>
            <a:off x="274320" y="3127248"/>
            <a:ext cx="8595360" cy="347472"/>
          </a:xfrm>
          <a:prstGeom prst="rect">
            <a:avLst/>
          </a:prstGeom>
          <a:noFill/>
          <a:ln/>
        </p:spPr>
        <p:txBody>
          <a:bodyPr wrap="square" lIns="0" tIns="0" rIns="0" bIns="0" rtlCol="0" anchor="ctr"/>
          <a:lstStyle/>
          <a:p>
            <a:pPr marL="0" indent="0">
              <a:buNone/>
            </a:pPr>
            <a:r>
              <a:rPr lang="en-US" sz="1400" b="1" dirty="0">
                <a:solidFill>
                  <a:srgbClr val="0C2D5E"/>
                </a:solidFill>
                <a:latin typeface="Calibri" pitchFamily="34" charset="0"/>
                <a:ea typeface="Calibri" pitchFamily="34" charset="-122"/>
                <a:cs typeface="Calibri" pitchFamily="34" charset="-120"/>
              </a:rPr>
              <a:t>DataRaptor Extract — Key Configuration Tabs</a:t>
            </a:r>
            <a:endParaRPr lang="en-US" sz="1400" dirty="0"/>
          </a:p>
        </p:txBody>
      </p:sp>
      <p:sp>
        <p:nvSpPr>
          <p:cNvPr id="34" name="Shape 28"/>
          <p:cNvSpPr/>
          <p:nvPr/>
        </p:nvSpPr>
        <p:spPr>
          <a:xfrm>
            <a:off x="274320" y="3566160"/>
            <a:ext cx="2029968" cy="14630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35" name="Shape 29"/>
          <p:cNvSpPr/>
          <p:nvPr/>
        </p:nvSpPr>
        <p:spPr>
          <a:xfrm>
            <a:off x="274320" y="3566160"/>
            <a:ext cx="2029968" cy="292608"/>
          </a:xfrm>
          <a:prstGeom prst="rect">
            <a:avLst/>
          </a:prstGeom>
          <a:solidFill>
            <a:srgbClr val="0070D2"/>
          </a:solidFill>
          <a:ln/>
        </p:spPr>
        <p:txBody>
          <a:bodyPr/>
          <a:lstStyle/>
          <a:p>
            <a:endParaRPr lang="en-US"/>
          </a:p>
        </p:txBody>
      </p:sp>
      <p:sp>
        <p:nvSpPr>
          <p:cNvPr id="36" name="Text 30"/>
          <p:cNvSpPr/>
          <p:nvPr/>
        </p:nvSpPr>
        <p:spPr>
          <a:xfrm>
            <a:off x="365760" y="3575304"/>
            <a:ext cx="18288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Objects</a:t>
            </a:r>
            <a:endParaRPr lang="en-US" sz="1200" dirty="0"/>
          </a:p>
        </p:txBody>
      </p:sp>
      <p:sp>
        <p:nvSpPr>
          <p:cNvPr id="37" name="Text 31"/>
          <p:cNvSpPr/>
          <p:nvPr/>
        </p:nvSpPr>
        <p:spPr>
          <a:xfrm>
            <a:off x="365760" y="3913632"/>
            <a:ext cx="1847088" cy="10515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Define the primary Salesforce object(s) to query. Set the base object and link related objects via relationship fields.</a:t>
            </a:r>
            <a:endParaRPr lang="en-US" sz="1000" dirty="0"/>
          </a:p>
        </p:txBody>
      </p:sp>
      <p:sp>
        <p:nvSpPr>
          <p:cNvPr id="38" name="Shape 32"/>
          <p:cNvSpPr/>
          <p:nvPr/>
        </p:nvSpPr>
        <p:spPr>
          <a:xfrm>
            <a:off x="2468880" y="3566160"/>
            <a:ext cx="2029968" cy="14630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39" name="Shape 33"/>
          <p:cNvSpPr/>
          <p:nvPr/>
        </p:nvSpPr>
        <p:spPr>
          <a:xfrm>
            <a:off x="2468880" y="3566160"/>
            <a:ext cx="2029968" cy="292608"/>
          </a:xfrm>
          <a:prstGeom prst="rect">
            <a:avLst/>
          </a:prstGeom>
          <a:solidFill>
            <a:srgbClr val="028090"/>
          </a:solidFill>
          <a:ln/>
        </p:spPr>
        <p:txBody>
          <a:bodyPr/>
          <a:lstStyle/>
          <a:p>
            <a:endParaRPr lang="en-US"/>
          </a:p>
        </p:txBody>
      </p:sp>
      <p:sp>
        <p:nvSpPr>
          <p:cNvPr id="40" name="Text 34"/>
          <p:cNvSpPr/>
          <p:nvPr/>
        </p:nvSpPr>
        <p:spPr>
          <a:xfrm>
            <a:off x="2560320" y="3575304"/>
            <a:ext cx="18288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Fields</a:t>
            </a:r>
            <a:endParaRPr lang="en-US" sz="1200" dirty="0"/>
          </a:p>
        </p:txBody>
      </p:sp>
      <p:sp>
        <p:nvSpPr>
          <p:cNvPr id="41" name="Text 35"/>
          <p:cNvSpPr/>
          <p:nvPr/>
        </p:nvSpPr>
        <p:spPr>
          <a:xfrm>
            <a:off x="2560320" y="3913632"/>
            <a:ext cx="1847088" cy="10515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Map Salesforce field API names to clean output names that the FlexCard uses as merge variables like {Balance}.</a:t>
            </a:r>
            <a:endParaRPr lang="en-US" sz="1000" dirty="0"/>
          </a:p>
        </p:txBody>
      </p:sp>
      <p:sp>
        <p:nvSpPr>
          <p:cNvPr id="42" name="Shape 36"/>
          <p:cNvSpPr/>
          <p:nvPr/>
        </p:nvSpPr>
        <p:spPr>
          <a:xfrm>
            <a:off x="4663440" y="3566160"/>
            <a:ext cx="2029968" cy="14630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43" name="Shape 37"/>
          <p:cNvSpPr/>
          <p:nvPr/>
        </p:nvSpPr>
        <p:spPr>
          <a:xfrm>
            <a:off x="4663440" y="3566160"/>
            <a:ext cx="2029968" cy="292608"/>
          </a:xfrm>
          <a:prstGeom prst="rect">
            <a:avLst/>
          </a:prstGeom>
          <a:solidFill>
            <a:srgbClr val="04844B"/>
          </a:solidFill>
          <a:ln/>
        </p:spPr>
        <p:txBody>
          <a:bodyPr/>
          <a:lstStyle/>
          <a:p>
            <a:endParaRPr lang="en-US"/>
          </a:p>
        </p:txBody>
      </p:sp>
      <p:sp>
        <p:nvSpPr>
          <p:cNvPr id="44" name="Text 38"/>
          <p:cNvSpPr/>
          <p:nvPr/>
        </p:nvSpPr>
        <p:spPr>
          <a:xfrm>
            <a:off x="4754880" y="3575304"/>
            <a:ext cx="18288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Filter</a:t>
            </a:r>
            <a:endParaRPr lang="en-US" sz="1200" dirty="0"/>
          </a:p>
        </p:txBody>
      </p:sp>
      <p:sp>
        <p:nvSpPr>
          <p:cNvPr id="45" name="Text 39"/>
          <p:cNvSpPr/>
          <p:nvPr/>
        </p:nvSpPr>
        <p:spPr>
          <a:xfrm>
            <a:off x="4754880" y="3913632"/>
            <a:ext cx="1847088" cy="10515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Add WHERE conditions. For record-page use, filter by Id = {recordId} (Input type) to scope to the current record.</a:t>
            </a:r>
            <a:endParaRPr lang="en-US" sz="1000" dirty="0"/>
          </a:p>
        </p:txBody>
      </p:sp>
      <p:sp>
        <p:nvSpPr>
          <p:cNvPr id="46" name="Shape 40"/>
          <p:cNvSpPr/>
          <p:nvPr/>
        </p:nvSpPr>
        <p:spPr>
          <a:xfrm>
            <a:off x="6858000" y="3566160"/>
            <a:ext cx="2029968" cy="14630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47" name="Shape 41"/>
          <p:cNvSpPr/>
          <p:nvPr/>
        </p:nvSpPr>
        <p:spPr>
          <a:xfrm>
            <a:off x="6858000" y="3566160"/>
            <a:ext cx="2029968" cy="292608"/>
          </a:xfrm>
          <a:prstGeom prst="rect">
            <a:avLst/>
          </a:prstGeom>
          <a:solidFill>
            <a:srgbClr val="D4860A"/>
          </a:solidFill>
          <a:ln/>
        </p:spPr>
        <p:txBody>
          <a:bodyPr/>
          <a:lstStyle/>
          <a:p>
            <a:endParaRPr lang="en-US"/>
          </a:p>
        </p:txBody>
      </p:sp>
      <p:sp>
        <p:nvSpPr>
          <p:cNvPr id="48" name="Text 42"/>
          <p:cNvSpPr/>
          <p:nvPr/>
        </p:nvSpPr>
        <p:spPr>
          <a:xfrm>
            <a:off x="6949440" y="3575304"/>
            <a:ext cx="18288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Preview</a:t>
            </a:r>
            <a:endParaRPr lang="en-US" sz="1200" dirty="0"/>
          </a:p>
        </p:txBody>
      </p:sp>
      <p:sp>
        <p:nvSpPr>
          <p:cNvPr id="49" name="Text 43"/>
          <p:cNvSpPr/>
          <p:nvPr/>
        </p:nvSpPr>
        <p:spPr>
          <a:xfrm>
            <a:off x="6949440" y="3913632"/>
            <a:ext cx="1847088" cy="10515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Run the DataRaptor with a real record ID and inspect the JSON output to verify correctness before activation.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4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C2D5E"/>
          </a:solidFill>
          <a:ln/>
        </p:spPr>
        <p:txBody>
          <a:bodyPr/>
          <a:lstStyle/>
          <a:p>
            <a:endParaRPr lang="en-US"/>
          </a:p>
        </p:txBody>
      </p:sp>
      <p:sp>
        <p:nvSpPr>
          <p:cNvPr id="3" name="Text 1"/>
          <p:cNvSpPr/>
          <p:nvPr/>
        </p:nvSpPr>
        <p:spPr>
          <a:xfrm>
            <a:off x="365760" y="73152"/>
            <a:ext cx="8229600" cy="347472"/>
          </a:xfrm>
          <a:prstGeom prst="rect">
            <a:avLst/>
          </a:prstGeom>
          <a:noFill/>
          <a:ln/>
        </p:spPr>
        <p:txBody>
          <a:bodyPr wrap="square" lIns="0" tIns="0" rIns="0" bIns="0" rtlCol="0" anchor="ctr"/>
          <a:lstStyle/>
          <a:p>
            <a:pPr marL="0" indent="0">
              <a:buNone/>
            </a:pPr>
            <a:r>
              <a:rPr lang="en-US" sz="1000" b="1" kern="0" spc="300" dirty="0">
                <a:solidFill>
                  <a:srgbClr val="00A1E0"/>
                </a:solidFill>
                <a:latin typeface="Calibri" pitchFamily="34" charset="0"/>
                <a:ea typeface="Calibri" pitchFamily="34" charset="-122"/>
                <a:cs typeface="Calibri" pitchFamily="34" charset="-120"/>
              </a:rPr>
              <a:t>DATA MAPPER — DEEP DIVE</a:t>
            </a:r>
            <a:endParaRPr lang="en-US" sz="1000" dirty="0"/>
          </a:p>
        </p:txBody>
      </p:sp>
      <p:sp>
        <p:nvSpPr>
          <p:cNvPr id="4" name="Text 2"/>
          <p:cNvSpPr/>
          <p:nvPr/>
        </p:nvSpPr>
        <p:spPr>
          <a:xfrm>
            <a:off x="365760" y="438912"/>
            <a:ext cx="822960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Field Mapping &amp; Filter Configuration</a:t>
            </a:r>
            <a:endParaRPr lang="en-US" sz="2200" dirty="0"/>
          </a:p>
        </p:txBody>
      </p:sp>
      <p:sp>
        <p:nvSpPr>
          <p:cNvPr id="5" name="Text 3"/>
          <p:cNvSpPr/>
          <p:nvPr/>
        </p:nvSpPr>
        <p:spPr>
          <a:xfrm>
            <a:off x="274320" y="1097280"/>
            <a:ext cx="5303520" cy="347472"/>
          </a:xfrm>
          <a:prstGeom prst="rect">
            <a:avLst/>
          </a:prstGeom>
          <a:noFill/>
          <a:ln/>
        </p:spPr>
        <p:txBody>
          <a:bodyPr wrap="square" lIns="0" tIns="0" rIns="0" bIns="0" rtlCol="0" anchor="ctr"/>
          <a:lstStyle/>
          <a:p>
            <a:pPr marL="0" indent="0">
              <a:buNone/>
            </a:pPr>
            <a:r>
              <a:rPr lang="en-US" sz="1400" b="1" dirty="0">
                <a:solidFill>
                  <a:srgbClr val="0C2D5E"/>
                </a:solidFill>
                <a:latin typeface="Calibri" pitchFamily="34" charset="0"/>
                <a:ea typeface="Calibri" pitchFamily="34" charset="-122"/>
                <a:cs typeface="Calibri" pitchFamily="34" charset="-120"/>
              </a:rPr>
              <a:t>Output Field Name → Salesforce API Field</a:t>
            </a:r>
            <a:endParaRPr lang="en-US" sz="1400" dirty="0"/>
          </a:p>
        </p:txBody>
      </p:sp>
      <p:sp>
        <p:nvSpPr>
          <p:cNvPr id="6" name="Shape 4"/>
          <p:cNvSpPr/>
          <p:nvPr/>
        </p:nvSpPr>
        <p:spPr>
          <a:xfrm>
            <a:off x="274320" y="1508760"/>
            <a:ext cx="5303520" cy="347472"/>
          </a:xfrm>
          <a:prstGeom prst="rect">
            <a:avLst/>
          </a:prstGeom>
          <a:solidFill>
            <a:srgbClr val="0C2D5E"/>
          </a:solidFill>
          <a:ln/>
        </p:spPr>
        <p:txBody>
          <a:bodyPr/>
          <a:lstStyle/>
          <a:p>
            <a:endParaRPr lang="en-US"/>
          </a:p>
        </p:txBody>
      </p:sp>
      <p:sp>
        <p:nvSpPr>
          <p:cNvPr id="7" name="Text 5"/>
          <p:cNvSpPr/>
          <p:nvPr/>
        </p:nvSpPr>
        <p:spPr>
          <a:xfrm>
            <a:off x="347472" y="1536192"/>
            <a:ext cx="214884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Output Name (FlexCard merge field)</a:t>
            </a:r>
            <a:endParaRPr lang="en-US" sz="1050" dirty="0"/>
          </a:p>
        </p:txBody>
      </p:sp>
      <p:sp>
        <p:nvSpPr>
          <p:cNvPr id="8" name="Text 6"/>
          <p:cNvSpPr/>
          <p:nvPr/>
        </p:nvSpPr>
        <p:spPr>
          <a:xfrm>
            <a:off x="2560320" y="1536192"/>
            <a:ext cx="2926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Salesforce Field API Name</a:t>
            </a:r>
            <a:endParaRPr lang="en-US" sz="1050" dirty="0"/>
          </a:p>
        </p:txBody>
      </p:sp>
      <p:sp>
        <p:nvSpPr>
          <p:cNvPr id="9" name="Shape 7"/>
          <p:cNvSpPr/>
          <p:nvPr/>
        </p:nvSpPr>
        <p:spPr>
          <a:xfrm>
            <a:off x="274320" y="1874520"/>
            <a:ext cx="5303520" cy="384048"/>
          </a:xfrm>
          <a:prstGeom prst="rect">
            <a:avLst/>
          </a:prstGeom>
          <a:solidFill>
            <a:srgbClr val="FFFFFF"/>
          </a:solidFill>
          <a:ln/>
        </p:spPr>
        <p:txBody>
          <a:bodyPr/>
          <a:lstStyle/>
          <a:p>
            <a:endParaRPr lang="en-US"/>
          </a:p>
        </p:txBody>
      </p:sp>
      <p:sp>
        <p:nvSpPr>
          <p:cNvPr id="10" name="Text 8"/>
          <p:cNvSpPr/>
          <p:nvPr/>
        </p:nvSpPr>
        <p:spPr>
          <a:xfrm>
            <a:off x="347472" y="1938528"/>
            <a:ext cx="2084832" cy="256032"/>
          </a:xfrm>
          <a:prstGeom prst="rect">
            <a:avLst/>
          </a:prstGeom>
          <a:noFill/>
          <a:ln/>
        </p:spPr>
        <p:txBody>
          <a:bodyPr wrap="square" lIns="0" tIns="0" rIns="0" bIns="0" rtlCol="0" anchor="ctr"/>
          <a:lstStyle/>
          <a:p>
            <a:pPr marL="0" indent="0">
              <a:buNone/>
            </a:pPr>
            <a:r>
              <a:rPr lang="en-US" sz="1050" b="1" dirty="0">
                <a:solidFill>
                  <a:srgbClr val="0070D2"/>
                </a:solidFill>
                <a:latin typeface="Calibri" pitchFamily="34" charset="0"/>
                <a:ea typeface="Calibri" pitchFamily="34" charset="-122"/>
                <a:cs typeface="Calibri" pitchFamily="34" charset="-120"/>
              </a:rPr>
              <a:t>AccountName</a:t>
            </a:r>
            <a:endParaRPr lang="en-US" sz="1050" dirty="0"/>
          </a:p>
        </p:txBody>
      </p:sp>
      <p:sp>
        <p:nvSpPr>
          <p:cNvPr id="11" name="Text 9"/>
          <p:cNvSpPr/>
          <p:nvPr/>
        </p:nvSpPr>
        <p:spPr>
          <a:xfrm>
            <a:off x="2560320" y="1938528"/>
            <a:ext cx="2926080" cy="256032"/>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FinServ__FinancialAccount__c.Name</a:t>
            </a:r>
            <a:endParaRPr lang="en-US" sz="950" dirty="0"/>
          </a:p>
        </p:txBody>
      </p:sp>
      <p:sp>
        <p:nvSpPr>
          <p:cNvPr id="12" name="Shape 10"/>
          <p:cNvSpPr/>
          <p:nvPr/>
        </p:nvSpPr>
        <p:spPr>
          <a:xfrm>
            <a:off x="274320" y="2276856"/>
            <a:ext cx="5303520" cy="384048"/>
          </a:xfrm>
          <a:prstGeom prst="rect">
            <a:avLst/>
          </a:prstGeom>
          <a:solidFill>
            <a:srgbClr val="F0F4F8"/>
          </a:solidFill>
          <a:ln/>
        </p:spPr>
        <p:txBody>
          <a:bodyPr/>
          <a:lstStyle/>
          <a:p>
            <a:endParaRPr lang="en-US"/>
          </a:p>
        </p:txBody>
      </p:sp>
      <p:sp>
        <p:nvSpPr>
          <p:cNvPr id="13" name="Text 11"/>
          <p:cNvSpPr/>
          <p:nvPr/>
        </p:nvSpPr>
        <p:spPr>
          <a:xfrm>
            <a:off x="347472" y="2340864"/>
            <a:ext cx="2084832" cy="256032"/>
          </a:xfrm>
          <a:prstGeom prst="rect">
            <a:avLst/>
          </a:prstGeom>
          <a:noFill/>
          <a:ln/>
        </p:spPr>
        <p:txBody>
          <a:bodyPr wrap="square" lIns="0" tIns="0" rIns="0" bIns="0" rtlCol="0" anchor="ctr"/>
          <a:lstStyle/>
          <a:p>
            <a:pPr marL="0" indent="0">
              <a:buNone/>
            </a:pPr>
            <a:r>
              <a:rPr lang="en-US" sz="1050" b="1" dirty="0">
                <a:solidFill>
                  <a:srgbClr val="0070D2"/>
                </a:solidFill>
                <a:latin typeface="Calibri" pitchFamily="34" charset="0"/>
                <a:ea typeface="Calibri" pitchFamily="34" charset="-122"/>
                <a:cs typeface="Calibri" pitchFamily="34" charset="-120"/>
              </a:rPr>
              <a:t>AccountNumber</a:t>
            </a:r>
            <a:endParaRPr lang="en-US" sz="1050" dirty="0"/>
          </a:p>
        </p:txBody>
      </p:sp>
      <p:sp>
        <p:nvSpPr>
          <p:cNvPr id="14" name="Text 12"/>
          <p:cNvSpPr/>
          <p:nvPr/>
        </p:nvSpPr>
        <p:spPr>
          <a:xfrm>
            <a:off x="2560320" y="2340864"/>
            <a:ext cx="2926080" cy="256032"/>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FinServ__FinancialAccount__c.FinServ__FinancialAccountNumber__c</a:t>
            </a:r>
            <a:endParaRPr lang="en-US" sz="950" dirty="0"/>
          </a:p>
        </p:txBody>
      </p:sp>
      <p:sp>
        <p:nvSpPr>
          <p:cNvPr id="15" name="Shape 13"/>
          <p:cNvSpPr/>
          <p:nvPr/>
        </p:nvSpPr>
        <p:spPr>
          <a:xfrm>
            <a:off x="274320" y="2679192"/>
            <a:ext cx="5303520" cy="384048"/>
          </a:xfrm>
          <a:prstGeom prst="rect">
            <a:avLst/>
          </a:prstGeom>
          <a:solidFill>
            <a:srgbClr val="FFFFFF"/>
          </a:solidFill>
          <a:ln/>
        </p:spPr>
        <p:txBody>
          <a:bodyPr/>
          <a:lstStyle/>
          <a:p>
            <a:endParaRPr lang="en-US"/>
          </a:p>
        </p:txBody>
      </p:sp>
      <p:sp>
        <p:nvSpPr>
          <p:cNvPr id="16" name="Text 14"/>
          <p:cNvSpPr/>
          <p:nvPr/>
        </p:nvSpPr>
        <p:spPr>
          <a:xfrm>
            <a:off x="347472" y="2743200"/>
            <a:ext cx="2084832" cy="256032"/>
          </a:xfrm>
          <a:prstGeom prst="rect">
            <a:avLst/>
          </a:prstGeom>
          <a:noFill/>
          <a:ln/>
        </p:spPr>
        <p:txBody>
          <a:bodyPr wrap="square" lIns="0" tIns="0" rIns="0" bIns="0" rtlCol="0" anchor="ctr"/>
          <a:lstStyle/>
          <a:p>
            <a:pPr marL="0" indent="0">
              <a:buNone/>
            </a:pPr>
            <a:r>
              <a:rPr lang="en-US" sz="1050" b="1" dirty="0">
                <a:solidFill>
                  <a:srgbClr val="0070D2"/>
                </a:solidFill>
                <a:latin typeface="Calibri" pitchFamily="34" charset="0"/>
                <a:ea typeface="Calibri" pitchFamily="34" charset="-122"/>
                <a:cs typeface="Calibri" pitchFamily="34" charset="-120"/>
              </a:rPr>
              <a:t>Balance</a:t>
            </a:r>
            <a:endParaRPr lang="en-US" sz="1050" dirty="0"/>
          </a:p>
        </p:txBody>
      </p:sp>
      <p:sp>
        <p:nvSpPr>
          <p:cNvPr id="17" name="Text 15"/>
          <p:cNvSpPr/>
          <p:nvPr/>
        </p:nvSpPr>
        <p:spPr>
          <a:xfrm>
            <a:off x="2560320" y="2743200"/>
            <a:ext cx="2926080" cy="256032"/>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FinServ__FinancialAccount__c.FinServ__Balance__c</a:t>
            </a:r>
            <a:endParaRPr lang="en-US" sz="950" dirty="0"/>
          </a:p>
        </p:txBody>
      </p:sp>
      <p:sp>
        <p:nvSpPr>
          <p:cNvPr id="18" name="Shape 16"/>
          <p:cNvSpPr/>
          <p:nvPr/>
        </p:nvSpPr>
        <p:spPr>
          <a:xfrm>
            <a:off x="274320" y="3081528"/>
            <a:ext cx="5303520" cy="384048"/>
          </a:xfrm>
          <a:prstGeom prst="rect">
            <a:avLst/>
          </a:prstGeom>
          <a:solidFill>
            <a:srgbClr val="F0F4F8"/>
          </a:solidFill>
          <a:ln/>
        </p:spPr>
        <p:txBody>
          <a:bodyPr/>
          <a:lstStyle/>
          <a:p>
            <a:endParaRPr lang="en-US"/>
          </a:p>
        </p:txBody>
      </p:sp>
      <p:sp>
        <p:nvSpPr>
          <p:cNvPr id="19" name="Text 17"/>
          <p:cNvSpPr/>
          <p:nvPr/>
        </p:nvSpPr>
        <p:spPr>
          <a:xfrm>
            <a:off x="347472" y="3145536"/>
            <a:ext cx="2084832" cy="256032"/>
          </a:xfrm>
          <a:prstGeom prst="rect">
            <a:avLst/>
          </a:prstGeom>
          <a:noFill/>
          <a:ln/>
        </p:spPr>
        <p:txBody>
          <a:bodyPr wrap="square" lIns="0" tIns="0" rIns="0" bIns="0" rtlCol="0" anchor="ctr"/>
          <a:lstStyle/>
          <a:p>
            <a:pPr marL="0" indent="0">
              <a:buNone/>
            </a:pPr>
            <a:r>
              <a:rPr lang="en-US" sz="1050" b="1" dirty="0">
                <a:solidFill>
                  <a:srgbClr val="0070D2"/>
                </a:solidFill>
                <a:latin typeface="Calibri" pitchFamily="34" charset="0"/>
                <a:ea typeface="Calibri" pitchFamily="34" charset="-122"/>
                <a:cs typeface="Calibri" pitchFamily="34" charset="-120"/>
              </a:rPr>
              <a:t>AccountType</a:t>
            </a:r>
            <a:endParaRPr lang="en-US" sz="1050" dirty="0"/>
          </a:p>
        </p:txBody>
      </p:sp>
      <p:sp>
        <p:nvSpPr>
          <p:cNvPr id="20" name="Text 18"/>
          <p:cNvSpPr/>
          <p:nvPr/>
        </p:nvSpPr>
        <p:spPr>
          <a:xfrm>
            <a:off x="2560320" y="3145536"/>
            <a:ext cx="2926080" cy="256032"/>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FinServ__FinancialAccount__c.FinServ__FinancialAccountType__c</a:t>
            </a:r>
            <a:endParaRPr lang="en-US" sz="950" dirty="0"/>
          </a:p>
        </p:txBody>
      </p:sp>
      <p:sp>
        <p:nvSpPr>
          <p:cNvPr id="21" name="Shape 19"/>
          <p:cNvSpPr/>
          <p:nvPr/>
        </p:nvSpPr>
        <p:spPr>
          <a:xfrm>
            <a:off x="274320" y="3483864"/>
            <a:ext cx="5303520" cy="384048"/>
          </a:xfrm>
          <a:prstGeom prst="rect">
            <a:avLst/>
          </a:prstGeom>
          <a:solidFill>
            <a:srgbClr val="FFFFFF"/>
          </a:solidFill>
          <a:ln/>
        </p:spPr>
        <p:txBody>
          <a:bodyPr/>
          <a:lstStyle/>
          <a:p>
            <a:endParaRPr lang="en-US"/>
          </a:p>
        </p:txBody>
      </p:sp>
      <p:sp>
        <p:nvSpPr>
          <p:cNvPr id="22" name="Text 20"/>
          <p:cNvSpPr/>
          <p:nvPr/>
        </p:nvSpPr>
        <p:spPr>
          <a:xfrm>
            <a:off x="347472" y="3547872"/>
            <a:ext cx="2084832" cy="256032"/>
          </a:xfrm>
          <a:prstGeom prst="rect">
            <a:avLst/>
          </a:prstGeom>
          <a:noFill/>
          <a:ln/>
        </p:spPr>
        <p:txBody>
          <a:bodyPr wrap="square" lIns="0" tIns="0" rIns="0" bIns="0" rtlCol="0" anchor="ctr"/>
          <a:lstStyle/>
          <a:p>
            <a:pPr marL="0" indent="0">
              <a:buNone/>
            </a:pPr>
            <a:r>
              <a:rPr lang="en-US" sz="1050" b="1" dirty="0">
                <a:solidFill>
                  <a:srgbClr val="0070D2"/>
                </a:solidFill>
                <a:latin typeface="Calibri" pitchFamily="34" charset="0"/>
                <a:ea typeface="Calibri" pitchFamily="34" charset="-122"/>
                <a:cs typeface="Calibri" pitchFamily="34" charset="-120"/>
              </a:rPr>
              <a:t>Status</a:t>
            </a:r>
            <a:endParaRPr lang="en-US" sz="1050" dirty="0"/>
          </a:p>
        </p:txBody>
      </p:sp>
      <p:sp>
        <p:nvSpPr>
          <p:cNvPr id="23" name="Text 21"/>
          <p:cNvSpPr/>
          <p:nvPr/>
        </p:nvSpPr>
        <p:spPr>
          <a:xfrm>
            <a:off x="2560320" y="3547872"/>
            <a:ext cx="2926080" cy="256032"/>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FinServ__FinancialAccount__c.FinServ__Status__c</a:t>
            </a:r>
            <a:endParaRPr lang="en-US" sz="950" dirty="0"/>
          </a:p>
        </p:txBody>
      </p:sp>
      <p:sp>
        <p:nvSpPr>
          <p:cNvPr id="24" name="Shape 22"/>
          <p:cNvSpPr/>
          <p:nvPr/>
        </p:nvSpPr>
        <p:spPr>
          <a:xfrm>
            <a:off x="274320" y="3886200"/>
            <a:ext cx="5303520" cy="384048"/>
          </a:xfrm>
          <a:prstGeom prst="rect">
            <a:avLst/>
          </a:prstGeom>
          <a:solidFill>
            <a:srgbClr val="F0F4F8"/>
          </a:solidFill>
          <a:ln/>
        </p:spPr>
        <p:txBody>
          <a:bodyPr/>
          <a:lstStyle/>
          <a:p>
            <a:endParaRPr lang="en-US"/>
          </a:p>
        </p:txBody>
      </p:sp>
      <p:sp>
        <p:nvSpPr>
          <p:cNvPr id="25" name="Text 23"/>
          <p:cNvSpPr/>
          <p:nvPr/>
        </p:nvSpPr>
        <p:spPr>
          <a:xfrm>
            <a:off x="347472" y="3950208"/>
            <a:ext cx="2084832" cy="256032"/>
          </a:xfrm>
          <a:prstGeom prst="rect">
            <a:avLst/>
          </a:prstGeom>
          <a:noFill/>
          <a:ln/>
        </p:spPr>
        <p:txBody>
          <a:bodyPr wrap="square" lIns="0" tIns="0" rIns="0" bIns="0" rtlCol="0" anchor="ctr"/>
          <a:lstStyle/>
          <a:p>
            <a:pPr marL="0" indent="0">
              <a:buNone/>
            </a:pPr>
            <a:r>
              <a:rPr lang="en-US" sz="1050" b="1" dirty="0">
                <a:solidFill>
                  <a:srgbClr val="0070D2"/>
                </a:solidFill>
                <a:latin typeface="Calibri" pitchFamily="34" charset="0"/>
                <a:ea typeface="Calibri" pitchFamily="34" charset="-122"/>
                <a:cs typeface="Calibri" pitchFamily="34" charset="-120"/>
              </a:rPr>
              <a:t>OpenDate</a:t>
            </a:r>
            <a:endParaRPr lang="en-US" sz="1050" dirty="0"/>
          </a:p>
        </p:txBody>
      </p:sp>
      <p:sp>
        <p:nvSpPr>
          <p:cNvPr id="26" name="Text 24"/>
          <p:cNvSpPr/>
          <p:nvPr/>
        </p:nvSpPr>
        <p:spPr>
          <a:xfrm>
            <a:off x="2560320" y="3950208"/>
            <a:ext cx="2926080" cy="256032"/>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FinServ__FinancialAccount__c.FinServ__OpenDate__c</a:t>
            </a:r>
            <a:endParaRPr lang="en-US" sz="950" dirty="0"/>
          </a:p>
        </p:txBody>
      </p:sp>
      <p:sp>
        <p:nvSpPr>
          <p:cNvPr id="27" name="Shape 25"/>
          <p:cNvSpPr/>
          <p:nvPr/>
        </p:nvSpPr>
        <p:spPr>
          <a:xfrm>
            <a:off x="274320" y="4288536"/>
            <a:ext cx="5303520" cy="384048"/>
          </a:xfrm>
          <a:prstGeom prst="rect">
            <a:avLst/>
          </a:prstGeom>
          <a:solidFill>
            <a:srgbClr val="FFFFFF"/>
          </a:solidFill>
          <a:ln/>
        </p:spPr>
        <p:txBody>
          <a:bodyPr/>
          <a:lstStyle/>
          <a:p>
            <a:endParaRPr lang="en-US"/>
          </a:p>
        </p:txBody>
      </p:sp>
      <p:sp>
        <p:nvSpPr>
          <p:cNvPr id="28" name="Text 26"/>
          <p:cNvSpPr/>
          <p:nvPr/>
        </p:nvSpPr>
        <p:spPr>
          <a:xfrm>
            <a:off x="347472" y="4352544"/>
            <a:ext cx="2084832" cy="256032"/>
          </a:xfrm>
          <a:prstGeom prst="rect">
            <a:avLst/>
          </a:prstGeom>
          <a:noFill/>
          <a:ln/>
        </p:spPr>
        <p:txBody>
          <a:bodyPr wrap="square" lIns="0" tIns="0" rIns="0" bIns="0" rtlCol="0" anchor="ctr"/>
          <a:lstStyle/>
          <a:p>
            <a:pPr marL="0" indent="0">
              <a:buNone/>
            </a:pPr>
            <a:r>
              <a:rPr lang="en-US" sz="1050" b="1" dirty="0">
                <a:solidFill>
                  <a:srgbClr val="0070D2"/>
                </a:solidFill>
                <a:latin typeface="Calibri" pitchFamily="34" charset="0"/>
                <a:ea typeface="Calibri" pitchFamily="34" charset="-122"/>
                <a:cs typeface="Calibri" pitchFamily="34" charset="-120"/>
              </a:rPr>
              <a:t>PrimaryOwnerName</a:t>
            </a:r>
            <a:endParaRPr lang="en-US" sz="1050" dirty="0"/>
          </a:p>
        </p:txBody>
      </p:sp>
      <p:sp>
        <p:nvSpPr>
          <p:cNvPr id="29" name="Text 27"/>
          <p:cNvSpPr/>
          <p:nvPr/>
        </p:nvSpPr>
        <p:spPr>
          <a:xfrm>
            <a:off x="2560320" y="4352544"/>
            <a:ext cx="2926080" cy="256032"/>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FinServ__FinancialAccount__c.FinServ__PrimaryOwner__r.Name</a:t>
            </a:r>
            <a:endParaRPr lang="en-US" sz="950" dirty="0"/>
          </a:p>
        </p:txBody>
      </p:sp>
      <p:sp>
        <p:nvSpPr>
          <p:cNvPr id="30" name="Text 28"/>
          <p:cNvSpPr/>
          <p:nvPr/>
        </p:nvSpPr>
        <p:spPr>
          <a:xfrm>
            <a:off x="5897880" y="1097280"/>
            <a:ext cx="2971800" cy="347472"/>
          </a:xfrm>
          <a:prstGeom prst="rect">
            <a:avLst/>
          </a:prstGeom>
          <a:noFill/>
          <a:ln/>
        </p:spPr>
        <p:txBody>
          <a:bodyPr wrap="square" lIns="0" tIns="0" rIns="0" bIns="0" rtlCol="0" anchor="ctr"/>
          <a:lstStyle/>
          <a:p>
            <a:pPr marL="0" indent="0">
              <a:buNone/>
            </a:pPr>
            <a:r>
              <a:rPr lang="en-US" sz="1400" b="1" dirty="0">
                <a:solidFill>
                  <a:srgbClr val="0C2D5E"/>
                </a:solidFill>
                <a:latin typeface="Calibri" pitchFamily="34" charset="0"/>
                <a:ea typeface="Calibri" pitchFamily="34" charset="-122"/>
                <a:cs typeface="Calibri" pitchFamily="34" charset="-120"/>
              </a:rPr>
              <a:t>Filter Configuration</a:t>
            </a:r>
            <a:endParaRPr lang="en-US" sz="1400" dirty="0"/>
          </a:p>
        </p:txBody>
      </p:sp>
      <p:sp>
        <p:nvSpPr>
          <p:cNvPr id="31" name="Shape 29"/>
          <p:cNvSpPr/>
          <p:nvPr/>
        </p:nvSpPr>
        <p:spPr>
          <a:xfrm>
            <a:off x="5897880" y="1508760"/>
            <a:ext cx="2971800" cy="23317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32" name="Shape 30"/>
          <p:cNvSpPr/>
          <p:nvPr/>
        </p:nvSpPr>
        <p:spPr>
          <a:xfrm>
            <a:off x="5897880" y="1508760"/>
            <a:ext cx="2971800" cy="347472"/>
          </a:xfrm>
          <a:prstGeom prst="rect">
            <a:avLst/>
          </a:prstGeom>
          <a:solidFill>
            <a:srgbClr val="028090"/>
          </a:solidFill>
          <a:ln/>
        </p:spPr>
        <p:txBody>
          <a:bodyPr/>
          <a:lstStyle/>
          <a:p>
            <a:endParaRPr lang="en-US"/>
          </a:p>
        </p:txBody>
      </p:sp>
      <p:sp>
        <p:nvSpPr>
          <p:cNvPr id="33" name="Text 31"/>
          <p:cNvSpPr/>
          <p:nvPr/>
        </p:nvSpPr>
        <p:spPr>
          <a:xfrm>
            <a:off x="5989320" y="1536192"/>
            <a:ext cx="27889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Filter Tab Settings</a:t>
            </a:r>
            <a:endParaRPr lang="en-US" sz="1150" dirty="0"/>
          </a:p>
        </p:txBody>
      </p:sp>
      <p:sp>
        <p:nvSpPr>
          <p:cNvPr id="34" name="Shape 32"/>
          <p:cNvSpPr/>
          <p:nvPr/>
        </p:nvSpPr>
        <p:spPr>
          <a:xfrm>
            <a:off x="5897880" y="1920240"/>
            <a:ext cx="2971800" cy="365760"/>
          </a:xfrm>
          <a:prstGeom prst="rect">
            <a:avLst/>
          </a:prstGeom>
          <a:solidFill>
            <a:srgbClr val="F4F8FF"/>
          </a:solidFill>
          <a:ln/>
        </p:spPr>
        <p:txBody>
          <a:bodyPr/>
          <a:lstStyle/>
          <a:p>
            <a:endParaRPr lang="en-US"/>
          </a:p>
        </p:txBody>
      </p:sp>
      <p:sp>
        <p:nvSpPr>
          <p:cNvPr id="35" name="Text 33"/>
          <p:cNvSpPr/>
          <p:nvPr/>
        </p:nvSpPr>
        <p:spPr>
          <a:xfrm>
            <a:off x="5989320" y="1993392"/>
            <a:ext cx="914400" cy="237744"/>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Object</a:t>
            </a:r>
            <a:endParaRPr lang="en-US" sz="1000" dirty="0"/>
          </a:p>
        </p:txBody>
      </p:sp>
      <p:sp>
        <p:nvSpPr>
          <p:cNvPr id="36" name="Text 34"/>
          <p:cNvSpPr/>
          <p:nvPr/>
        </p:nvSpPr>
        <p:spPr>
          <a:xfrm>
            <a:off x="6949440" y="1993392"/>
            <a:ext cx="1828800" cy="23774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FinServ__FinancialAccount__c</a:t>
            </a:r>
            <a:endParaRPr lang="en-US" sz="1000" dirty="0"/>
          </a:p>
        </p:txBody>
      </p:sp>
      <p:sp>
        <p:nvSpPr>
          <p:cNvPr id="37" name="Shape 35"/>
          <p:cNvSpPr/>
          <p:nvPr/>
        </p:nvSpPr>
        <p:spPr>
          <a:xfrm>
            <a:off x="5897880" y="2304288"/>
            <a:ext cx="2971800" cy="365760"/>
          </a:xfrm>
          <a:prstGeom prst="rect">
            <a:avLst/>
          </a:prstGeom>
          <a:solidFill>
            <a:srgbClr val="FFFFFF"/>
          </a:solidFill>
          <a:ln/>
        </p:spPr>
        <p:txBody>
          <a:bodyPr/>
          <a:lstStyle/>
          <a:p>
            <a:endParaRPr lang="en-US"/>
          </a:p>
        </p:txBody>
      </p:sp>
      <p:sp>
        <p:nvSpPr>
          <p:cNvPr id="38" name="Text 36"/>
          <p:cNvSpPr/>
          <p:nvPr/>
        </p:nvSpPr>
        <p:spPr>
          <a:xfrm>
            <a:off x="5989320" y="2377440"/>
            <a:ext cx="914400" cy="237744"/>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Field</a:t>
            </a:r>
            <a:endParaRPr lang="en-US" sz="1000" dirty="0"/>
          </a:p>
        </p:txBody>
      </p:sp>
      <p:sp>
        <p:nvSpPr>
          <p:cNvPr id="39" name="Text 37"/>
          <p:cNvSpPr/>
          <p:nvPr/>
        </p:nvSpPr>
        <p:spPr>
          <a:xfrm>
            <a:off x="6949440" y="2377440"/>
            <a:ext cx="1828800" cy="23774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Id</a:t>
            </a:r>
            <a:endParaRPr lang="en-US" sz="1000" dirty="0"/>
          </a:p>
        </p:txBody>
      </p:sp>
      <p:sp>
        <p:nvSpPr>
          <p:cNvPr id="40" name="Shape 38"/>
          <p:cNvSpPr/>
          <p:nvPr/>
        </p:nvSpPr>
        <p:spPr>
          <a:xfrm>
            <a:off x="5897880" y="2688336"/>
            <a:ext cx="2971800" cy="365760"/>
          </a:xfrm>
          <a:prstGeom prst="rect">
            <a:avLst/>
          </a:prstGeom>
          <a:solidFill>
            <a:srgbClr val="F4F8FF"/>
          </a:solidFill>
          <a:ln/>
        </p:spPr>
        <p:txBody>
          <a:bodyPr/>
          <a:lstStyle/>
          <a:p>
            <a:endParaRPr lang="en-US"/>
          </a:p>
        </p:txBody>
      </p:sp>
      <p:sp>
        <p:nvSpPr>
          <p:cNvPr id="41" name="Text 39"/>
          <p:cNvSpPr/>
          <p:nvPr/>
        </p:nvSpPr>
        <p:spPr>
          <a:xfrm>
            <a:off x="5989320" y="2761488"/>
            <a:ext cx="914400" cy="237744"/>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Operator</a:t>
            </a:r>
            <a:endParaRPr lang="en-US" sz="1000" dirty="0"/>
          </a:p>
        </p:txBody>
      </p:sp>
      <p:sp>
        <p:nvSpPr>
          <p:cNvPr id="42" name="Text 40"/>
          <p:cNvSpPr/>
          <p:nvPr/>
        </p:nvSpPr>
        <p:spPr>
          <a:xfrm>
            <a:off x="6949440" y="2761488"/>
            <a:ext cx="1828800" cy="23774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 (equals)</a:t>
            </a:r>
            <a:endParaRPr lang="en-US" sz="1000" dirty="0"/>
          </a:p>
        </p:txBody>
      </p:sp>
      <p:sp>
        <p:nvSpPr>
          <p:cNvPr id="43" name="Shape 41"/>
          <p:cNvSpPr/>
          <p:nvPr/>
        </p:nvSpPr>
        <p:spPr>
          <a:xfrm>
            <a:off x="5897880" y="3072384"/>
            <a:ext cx="2971800" cy="365760"/>
          </a:xfrm>
          <a:prstGeom prst="rect">
            <a:avLst/>
          </a:prstGeom>
          <a:solidFill>
            <a:srgbClr val="FFFFFF"/>
          </a:solidFill>
          <a:ln/>
        </p:spPr>
        <p:txBody>
          <a:bodyPr/>
          <a:lstStyle/>
          <a:p>
            <a:endParaRPr lang="en-US"/>
          </a:p>
        </p:txBody>
      </p:sp>
      <p:sp>
        <p:nvSpPr>
          <p:cNvPr id="44" name="Text 42"/>
          <p:cNvSpPr/>
          <p:nvPr/>
        </p:nvSpPr>
        <p:spPr>
          <a:xfrm>
            <a:off x="5989320" y="3145536"/>
            <a:ext cx="914400" cy="237744"/>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Value Type</a:t>
            </a:r>
            <a:endParaRPr lang="en-US" sz="1000" dirty="0"/>
          </a:p>
        </p:txBody>
      </p:sp>
      <p:sp>
        <p:nvSpPr>
          <p:cNvPr id="45" name="Text 43"/>
          <p:cNvSpPr/>
          <p:nvPr/>
        </p:nvSpPr>
        <p:spPr>
          <a:xfrm>
            <a:off x="6949440" y="3145536"/>
            <a:ext cx="1828800" cy="23774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Input</a:t>
            </a:r>
            <a:endParaRPr lang="en-US" sz="1000" dirty="0"/>
          </a:p>
        </p:txBody>
      </p:sp>
      <p:sp>
        <p:nvSpPr>
          <p:cNvPr id="46" name="Shape 44"/>
          <p:cNvSpPr/>
          <p:nvPr/>
        </p:nvSpPr>
        <p:spPr>
          <a:xfrm>
            <a:off x="5897880" y="3456432"/>
            <a:ext cx="2971800" cy="365760"/>
          </a:xfrm>
          <a:prstGeom prst="rect">
            <a:avLst/>
          </a:prstGeom>
          <a:solidFill>
            <a:srgbClr val="F4F8FF"/>
          </a:solidFill>
          <a:ln/>
        </p:spPr>
        <p:txBody>
          <a:bodyPr/>
          <a:lstStyle/>
          <a:p>
            <a:endParaRPr lang="en-US"/>
          </a:p>
        </p:txBody>
      </p:sp>
      <p:sp>
        <p:nvSpPr>
          <p:cNvPr id="47" name="Text 45"/>
          <p:cNvSpPr/>
          <p:nvPr/>
        </p:nvSpPr>
        <p:spPr>
          <a:xfrm>
            <a:off x="5989320" y="3529584"/>
            <a:ext cx="914400" cy="237744"/>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Input Name</a:t>
            </a:r>
            <a:endParaRPr lang="en-US" sz="1000" dirty="0"/>
          </a:p>
        </p:txBody>
      </p:sp>
      <p:sp>
        <p:nvSpPr>
          <p:cNvPr id="48" name="Text 46"/>
          <p:cNvSpPr/>
          <p:nvPr/>
        </p:nvSpPr>
        <p:spPr>
          <a:xfrm>
            <a:off x="6949440" y="3529584"/>
            <a:ext cx="1828800" cy="23774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recordId</a:t>
            </a:r>
            <a:endParaRPr lang="en-US" sz="1000" dirty="0"/>
          </a:p>
        </p:txBody>
      </p:sp>
      <p:sp>
        <p:nvSpPr>
          <p:cNvPr id="49" name="Shape 47"/>
          <p:cNvSpPr/>
          <p:nvPr/>
        </p:nvSpPr>
        <p:spPr>
          <a:xfrm>
            <a:off x="5897880" y="3931920"/>
            <a:ext cx="2971800" cy="914400"/>
          </a:xfrm>
          <a:prstGeom prst="rect">
            <a:avLst/>
          </a:prstGeom>
          <a:solidFill>
            <a:srgbClr val="EAF2FF"/>
          </a:solidFill>
          <a:ln/>
        </p:spPr>
        <p:txBody>
          <a:bodyPr/>
          <a:lstStyle/>
          <a:p>
            <a:endParaRPr lang="en-US"/>
          </a:p>
        </p:txBody>
      </p:sp>
      <p:pic>
        <p:nvPicPr>
          <p:cNvPr id="50" name="Image 0" descr="preencoded.png"/>
          <p:cNvPicPr>
            <a:picLocks noChangeAspect="1"/>
          </p:cNvPicPr>
          <p:nvPr/>
        </p:nvPicPr>
        <p:blipFill>
          <a:blip r:embed="rId3"/>
          <a:stretch>
            <a:fillRect/>
          </a:stretch>
        </p:blipFill>
        <p:spPr>
          <a:xfrm>
            <a:off x="5998464" y="4023360"/>
            <a:ext cx="256032" cy="256032"/>
          </a:xfrm>
          <a:prstGeom prst="rect">
            <a:avLst/>
          </a:prstGeom>
        </p:spPr>
      </p:pic>
      <p:sp>
        <p:nvSpPr>
          <p:cNvPr id="51" name="Text 48"/>
          <p:cNvSpPr/>
          <p:nvPr/>
        </p:nvSpPr>
        <p:spPr>
          <a:xfrm>
            <a:off x="6309360" y="3977640"/>
            <a:ext cx="2487168" cy="804672"/>
          </a:xfrm>
          <a:prstGeom prst="rect">
            <a:avLst/>
          </a:prstGeom>
          <a:noFill/>
          <a:ln/>
        </p:spPr>
        <p:txBody>
          <a:bodyPr wrap="square" lIns="0" tIns="0" rIns="0" bIns="0" rtlCol="0" anchor="ctr"/>
          <a:lstStyle/>
          <a:p>
            <a:pPr marL="0" indent="0">
              <a:buNone/>
            </a:pPr>
            <a:r>
              <a:rPr lang="en-US" sz="950" dirty="0">
                <a:solidFill>
                  <a:srgbClr val="0C2D5E"/>
                </a:solidFill>
                <a:latin typeface="Calibri" pitchFamily="34" charset="0"/>
                <a:ea typeface="Calibri" pitchFamily="34" charset="-122"/>
                <a:cs typeface="Calibri" pitchFamily="34" charset="-120"/>
              </a:rPr>
              <a:t>recordId is passed automatically when the FlexCard is placed on a Lightning Record Page. Variable name is case-sensitive.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4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70D2"/>
          </a:solidFill>
          <a:ln/>
        </p:spPr>
        <p:txBody>
          <a:bodyPr/>
          <a:lstStyle/>
          <a:p>
            <a:endParaRPr lang="en-US"/>
          </a:p>
        </p:txBody>
      </p:sp>
      <p:sp>
        <p:nvSpPr>
          <p:cNvPr id="3" name="Text 1"/>
          <p:cNvSpPr/>
          <p:nvPr/>
        </p:nvSpPr>
        <p:spPr>
          <a:xfrm>
            <a:off x="365760" y="73152"/>
            <a:ext cx="8229600" cy="347472"/>
          </a:xfrm>
          <a:prstGeom prst="rect">
            <a:avLst/>
          </a:prstGeom>
          <a:noFill/>
          <a:ln/>
        </p:spPr>
        <p:txBody>
          <a:bodyPr wrap="square" lIns="0" tIns="0" rIns="0" bIns="0" rtlCol="0" anchor="ctr"/>
          <a:lstStyle/>
          <a:p>
            <a:pPr marL="0" indent="0">
              <a:buNone/>
            </a:pPr>
            <a:r>
              <a:rPr lang="en-US" sz="1000" b="1" kern="0" spc="300" dirty="0">
                <a:solidFill>
                  <a:srgbClr val="A0D0FF"/>
                </a:solidFill>
                <a:latin typeface="Calibri" pitchFamily="34" charset="0"/>
                <a:ea typeface="Calibri" pitchFamily="34" charset="-122"/>
                <a:cs typeface="Calibri" pitchFamily="34" charset="-120"/>
              </a:rPr>
              <a:t>SECTION 04</a:t>
            </a:r>
            <a:endParaRPr lang="en-US" sz="1000" dirty="0"/>
          </a:p>
        </p:txBody>
      </p:sp>
      <p:sp>
        <p:nvSpPr>
          <p:cNvPr id="4" name="Text 2"/>
          <p:cNvSpPr/>
          <p:nvPr/>
        </p:nvSpPr>
        <p:spPr>
          <a:xfrm>
            <a:off x="365760" y="438912"/>
            <a:ext cx="822960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FlexCard Fundamentals</a:t>
            </a:r>
            <a:endParaRPr lang="en-US" sz="2200" dirty="0"/>
          </a:p>
        </p:txBody>
      </p:sp>
      <p:sp>
        <p:nvSpPr>
          <p:cNvPr id="5" name="Shape 3"/>
          <p:cNvSpPr/>
          <p:nvPr/>
        </p:nvSpPr>
        <p:spPr>
          <a:xfrm>
            <a:off x="274320" y="1097280"/>
            <a:ext cx="8595360" cy="777240"/>
          </a:xfrm>
          <a:prstGeom prst="rect">
            <a:avLst/>
          </a:prstGeom>
          <a:solidFill>
            <a:srgbClr val="0070D2">
              <a:alpha val="12000"/>
            </a:srgbClr>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411480" y="1188720"/>
            <a:ext cx="329184" cy="329184"/>
          </a:xfrm>
          <a:prstGeom prst="rect">
            <a:avLst/>
          </a:prstGeom>
        </p:spPr>
      </p:pic>
      <p:sp>
        <p:nvSpPr>
          <p:cNvPr id="7" name="Text 4"/>
          <p:cNvSpPr/>
          <p:nvPr/>
        </p:nvSpPr>
        <p:spPr>
          <a:xfrm>
            <a:off x="877824" y="1124712"/>
            <a:ext cx="7845552" cy="713232"/>
          </a:xfrm>
          <a:prstGeom prst="rect">
            <a:avLst/>
          </a:prstGeom>
          <a:noFill/>
          <a:ln/>
        </p:spPr>
        <p:txBody>
          <a:bodyPr wrap="square" lIns="0" tIns="0" rIns="0" bIns="0" rtlCol="0" anchor="ctr"/>
          <a:lstStyle/>
          <a:p>
            <a:pPr marL="0" indent="0">
              <a:buNone/>
            </a:pPr>
            <a:r>
              <a:rPr lang="en-US" sz="1250" i="1" dirty="0">
                <a:solidFill>
                  <a:srgbClr val="334155"/>
                </a:solidFill>
                <a:latin typeface="Calibri" pitchFamily="34" charset="0"/>
                <a:ea typeface="Calibri" pitchFamily="34" charset="-122"/>
                <a:cs typeface="Calibri" pitchFamily="34" charset="-120"/>
              </a:rPr>
              <a:t>A FlexCard is a configurable, low-code OmniStudio card that displays data on Salesforce record pages. It connects to a DataRaptor for data and uses a drag-and-drop canvas to build rich layouts — with no Apex or custom LWC code required.</a:t>
            </a:r>
            <a:endParaRPr lang="en-US" sz="1250" dirty="0"/>
          </a:p>
        </p:txBody>
      </p:sp>
      <p:sp>
        <p:nvSpPr>
          <p:cNvPr id="8" name="Shape 5"/>
          <p:cNvSpPr/>
          <p:nvPr/>
        </p:nvSpPr>
        <p:spPr>
          <a:xfrm>
            <a:off x="274320" y="2011680"/>
            <a:ext cx="4160520" cy="8686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9" name="Shape 6"/>
          <p:cNvSpPr/>
          <p:nvPr/>
        </p:nvSpPr>
        <p:spPr>
          <a:xfrm>
            <a:off x="274320" y="2011680"/>
            <a:ext cx="438912" cy="868680"/>
          </a:xfrm>
          <a:prstGeom prst="rect">
            <a:avLst/>
          </a:prstGeom>
          <a:solidFill>
            <a:srgbClr val="0070D2"/>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338328" y="2231136"/>
            <a:ext cx="274320" cy="274320"/>
          </a:xfrm>
          <a:prstGeom prst="rect">
            <a:avLst/>
          </a:prstGeom>
        </p:spPr>
      </p:pic>
      <p:sp>
        <p:nvSpPr>
          <p:cNvPr id="11" name="Text 7"/>
          <p:cNvSpPr/>
          <p:nvPr/>
        </p:nvSpPr>
        <p:spPr>
          <a:xfrm>
            <a:off x="804672" y="2093976"/>
            <a:ext cx="3547872" cy="310896"/>
          </a:xfrm>
          <a:prstGeom prst="rect">
            <a:avLst/>
          </a:prstGeom>
          <a:noFill/>
          <a:ln/>
        </p:spPr>
        <p:txBody>
          <a:bodyPr wrap="square" lIns="0" tIns="0" rIns="0" bIns="0" rtlCol="0" anchor="ctr"/>
          <a:lstStyle/>
          <a:p>
            <a:pPr marL="0" indent="0">
              <a:buNone/>
            </a:pPr>
            <a:r>
              <a:rPr lang="en-US" sz="1250" b="1" dirty="0">
                <a:solidFill>
                  <a:srgbClr val="0C2D5E"/>
                </a:solidFill>
                <a:latin typeface="Calibri" pitchFamily="34" charset="0"/>
                <a:ea typeface="Calibri" pitchFamily="34" charset="-122"/>
                <a:cs typeface="Calibri" pitchFamily="34" charset="-120"/>
              </a:rPr>
              <a:t>Data Binding</a:t>
            </a:r>
            <a:endParaRPr lang="en-US" sz="1250" dirty="0"/>
          </a:p>
        </p:txBody>
      </p:sp>
      <p:sp>
        <p:nvSpPr>
          <p:cNvPr id="12" name="Text 8"/>
          <p:cNvSpPr/>
          <p:nvPr/>
        </p:nvSpPr>
        <p:spPr>
          <a:xfrm>
            <a:off x="804672" y="2432304"/>
            <a:ext cx="3547872" cy="38404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Connects to DataRaptor, REST, or custom sources. Fields use merge syntax: {Balance}, {Status}</a:t>
            </a:r>
            <a:endParaRPr lang="en-US" sz="1050" dirty="0"/>
          </a:p>
        </p:txBody>
      </p:sp>
      <p:sp>
        <p:nvSpPr>
          <p:cNvPr id="13" name="Shape 9"/>
          <p:cNvSpPr/>
          <p:nvPr/>
        </p:nvSpPr>
        <p:spPr>
          <a:xfrm>
            <a:off x="274320" y="3017520"/>
            <a:ext cx="4160520" cy="8686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4" name="Shape 10"/>
          <p:cNvSpPr/>
          <p:nvPr/>
        </p:nvSpPr>
        <p:spPr>
          <a:xfrm>
            <a:off x="274320" y="3017520"/>
            <a:ext cx="438912" cy="868680"/>
          </a:xfrm>
          <a:prstGeom prst="rect">
            <a:avLst/>
          </a:prstGeom>
          <a:solidFill>
            <a:srgbClr val="028090"/>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338328" y="3236976"/>
            <a:ext cx="274320" cy="274320"/>
          </a:xfrm>
          <a:prstGeom prst="rect">
            <a:avLst/>
          </a:prstGeom>
        </p:spPr>
      </p:pic>
      <p:sp>
        <p:nvSpPr>
          <p:cNvPr id="16" name="Text 11"/>
          <p:cNvSpPr/>
          <p:nvPr/>
        </p:nvSpPr>
        <p:spPr>
          <a:xfrm>
            <a:off x="804672" y="3099816"/>
            <a:ext cx="3547872" cy="310896"/>
          </a:xfrm>
          <a:prstGeom prst="rect">
            <a:avLst/>
          </a:prstGeom>
          <a:noFill/>
          <a:ln/>
        </p:spPr>
        <p:txBody>
          <a:bodyPr wrap="square" lIns="0" tIns="0" rIns="0" bIns="0" rtlCol="0" anchor="ctr"/>
          <a:lstStyle/>
          <a:p>
            <a:pPr marL="0" indent="0">
              <a:buNone/>
            </a:pPr>
            <a:r>
              <a:rPr lang="en-US" sz="1250" b="1" dirty="0">
                <a:solidFill>
                  <a:srgbClr val="0C2D5E"/>
                </a:solidFill>
                <a:latin typeface="Calibri" pitchFamily="34" charset="0"/>
                <a:ea typeface="Calibri" pitchFamily="34" charset="-122"/>
                <a:cs typeface="Calibri" pitchFamily="34" charset="-120"/>
              </a:rPr>
              <a:t>Multiple States</a:t>
            </a:r>
            <a:endParaRPr lang="en-US" sz="1250" dirty="0"/>
          </a:p>
        </p:txBody>
      </p:sp>
      <p:sp>
        <p:nvSpPr>
          <p:cNvPr id="17" name="Text 12"/>
          <p:cNvSpPr/>
          <p:nvPr/>
        </p:nvSpPr>
        <p:spPr>
          <a:xfrm>
            <a:off x="804672" y="3438144"/>
            <a:ext cx="3547872" cy="38404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Default, Error, Empty, and custom states control what displays based on data conditions</a:t>
            </a:r>
            <a:endParaRPr lang="en-US" sz="1050" dirty="0"/>
          </a:p>
        </p:txBody>
      </p:sp>
      <p:sp>
        <p:nvSpPr>
          <p:cNvPr id="18" name="Shape 13"/>
          <p:cNvSpPr/>
          <p:nvPr/>
        </p:nvSpPr>
        <p:spPr>
          <a:xfrm>
            <a:off x="274320" y="4023360"/>
            <a:ext cx="4160520" cy="8686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9" name="Shape 14"/>
          <p:cNvSpPr/>
          <p:nvPr/>
        </p:nvSpPr>
        <p:spPr>
          <a:xfrm>
            <a:off x="274320" y="4023360"/>
            <a:ext cx="438912" cy="868680"/>
          </a:xfrm>
          <a:prstGeom prst="rect">
            <a:avLst/>
          </a:prstGeom>
          <a:solidFill>
            <a:srgbClr val="04844B"/>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338328" y="4242816"/>
            <a:ext cx="274320" cy="274320"/>
          </a:xfrm>
          <a:prstGeom prst="rect">
            <a:avLst/>
          </a:prstGeom>
        </p:spPr>
      </p:pic>
      <p:sp>
        <p:nvSpPr>
          <p:cNvPr id="21" name="Text 15"/>
          <p:cNvSpPr/>
          <p:nvPr/>
        </p:nvSpPr>
        <p:spPr>
          <a:xfrm>
            <a:off x="804672" y="4105656"/>
            <a:ext cx="3547872" cy="310896"/>
          </a:xfrm>
          <a:prstGeom prst="rect">
            <a:avLst/>
          </a:prstGeom>
          <a:noFill/>
          <a:ln/>
        </p:spPr>
        <p:txBody>
          <a:bodyPr wrap="square" lIns="0" tIns="0" rIns="0" bIns="0" rtlCol="0" anchor="ctr"/>
          <a:lstStyle/>
          <a:p>
            <a:pPr marL="0" indent="0">
              <a:buNone/>
            </a:pPr>
            <a:r>
              <a:rPr lang="en-US" sz="1250" b="1" dirty="0">
                <a:solidFill>
                  <a:srgbClr val="0C2D5E"/>
                </a:solidFill>
                <a:latin typeface="Calibri" pitchFamily="34" charset="0"/>
                <a:ea typeface="Calibri" pitchFamily="34" charset="-122"/>
                <a:cs typeface="Calibri" pitchFamily="34" charset="-120"/>
              </a:rPr>
              <a:t>Layout Canvas</a:t>
            </a:r>
            <a:endParaRPr lang="en-US" sz="1250" dirty="0"/>
          </a:p>
        </p:txBody>
      </p:sp>
      <p:sp>
        <p:nvSpPr>
          <p:cNvPr id="22" name="Text 16"/>
          <p:cNvSpPr/>
          <p:nvPr/>
        </p:nvSpPr>
        <p:spPr>
          <a:xfrm>
            <a:off x="804672" y="4443984"/>
            <a:ext cx="3547872" cy="38404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Drag-and-drop Field, Text, Button, Datatable, Image, and Icon elements onto the card</a:t>
            </a:r>
            <a:endParaRPr lang="en-US" sz="1050" dirty="0"/>
          </a:p>
        </p:txBody>
      </p:sp>
      <p:sp>
        <p:nvSpPr>
          <p:cNvPr id="23" name="Shape 17"/>
          <p:cNvSpPr/>
          <p:nvPr/>
        </p:nvSpPr>
        <p:spPr>
          <a:xfrm>
            <a:off x="4754880" y="2011680"/>
            <a:ext cx="4160520" cy="8686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4" name="Shape 18"/>
          <p:cNvSpPr/>
          <p:nvPr/>
        </p:nvSpPr>
        <p:spPr>
          <a:xfrm>
            <a:off x="4754880" y="2011680"/>
            <a:ext cx="438912" cy="868680"/>
          </a:xfrm>
          <a:prstGeom prst="rect">
            <a:avLst/>
          </a:prstGeom>
          <a:solidFill>
            <a:srgbClr val="7C3AED"/>
          </a:solidFill>
          <a:ln/>
        </p:spPr>
        <p:txBody>
          <a:bodyPr/>
          <a:lstStyle/>
          <a:p>
            <a:endParaRPr lang="en-US"/>
          </a:p>
        </p:txBody>
      </p:sp>
      <p:pic>
        <p:nvPicPr>
          <p:cNvPr id="25" name="Image 4" descr="preencoded.png"/>
          <p:cNvPicPr>
            <a:picLocks noChangeAspect="1"/>
          </p:cNvPicPr>
          <p:nvPr/>
        </p:nvPicPr>
        <p:blipFill>
          <a:blip r:embed="rId7"/>
          <a:stretch>
            <a:fillRect/>
          </a:stretch>
        </p:blipFill>
        <p:spPr>
          <a:xfrm>
            <a:off x="4818888" y="2231136"/>
            <a:ext cx="274320" cy="274320"/>
          </a:xfrm>
          <a:prstGeom prst="rect">
            <a:avLst/>
          </a:prstGeom>
        </p:spPr>
      </p:pic>
      <p:sp>
        <p:nvSpPr>
          <p:cNvPr id="26" name="Text 19"/>
          <p:cNvSpPr/>
          <p:nvPr/>
        </p:nvSpPr>
        <p:spPr>
          <a:xfrm>
            <a:off x="5285232" y="2093976"/>
            <a:ext cx="3547872" cy="310896"/>
          </a:xfrm>
          <a:prstGeom prst="rect">
            <a:avLst/>
          </a:prstGeom>
          <a:noFill/>
          <a:ln/>
        </p:spPr>
        <p:txBody>
          <a:bodyPr wrap="square" lIns="0" tIns="0" rIns="0" bIns="0" rtlCol="0" anchor="ctr"/>
          <a:lstStyle/>
          <a:p>
            <a:pPr marL="0" indent="0">
              <a:buNone/>
            </a:pPr>
            <a:r>
              <a:rPr lang="en-US" sz="1250" b="1" dirty="0">
                <a:solidFill>
                  <a:srgbClr val="0C2D5E"/>
                </a:solidFill>
                <a:latin typeface="Calibri" pitchFamily="34" charset="0"/>
                <a:ea typeface="Calibri" pitchFamily="34" charset="-122"/>
                <a:cs typeface="Calibri" pitchFamily="34" charset="-120"/>
              </a:rPr>
              <a:t>Conditional Styling</a:t>
            </a:r>
            <a:endParaRPr lang="en-US" sz="1250" dirty="0"/>
          </a:p>
        </p:txBody>
      </p:sp>
      <p:sp>
        <p:nvSpPr>
          <p:cNvPr id="27" name="Text 20"/>
          <p:cNvSpPr/>
          <p:nvPr/>
        </p:nvSpPr>
        <p:spPr>
          <a:xfrm>
            <a:off x="5285232" y="2432304"/>
            <a:ext cx="3547872" cy="38404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Dynamic badge colors and CSS classes change appearance based on field values (e.g. Status)</a:t>
            </a:r>
            <a:endParaRPr lang="en-US" sz="1050" dirty="0"/>
          </a:p>
        </p:txBody>
      </p:sp>
      <p:sp>
        <p:nvSpPr>
          <p:cNvPr id="28" name="Shape 21"/>
          <p:cNvSpPr/>
          <p:nvPr/>
        </p:nvSpPr>
        <p:spPr>
          <a:xfrm>
            <a:off x="4754880" y="3017520"/>
            <a:ext cx="4160520" cy="8686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9" name="Shape 22"/>
          <p:cNvSpPr/>
          <p:nvPr/>
        </p:nvSpPr>
        <p:spPr>
          <a:xfrm>
            <a:off x="4754880" y="3017520"/>
            <a:ext cx="438912" cy="868680"/>
          </a:xfrm>
          <a:prstGeom prst="rect">
            <a:avLst/>
          </a:prstGeom>
          <a:solidFill>
            <a:srgbClr val="D4860A"/>
          </a:solidFill>
          <a:ln/>
        </p:spPr>
        <p:txBody>
          <a:bodyPr/>
          <a:lstStyle/>
          <a:p>
            <a:endParaRPr lang="en-US"/>
          </a:p>
        </p:txBody>
      </p:sp>
      <p:pic>
        <p:nvPicPr>
          <p:cNvPr id="30" name="Image 5" descr="preencoded.png"/>
          <p:cNvPicPr>
            <a:picLocks noChangeAspect="1"/>
          </p:cNvPicPr>
          <p:nvPr/>
        </p:nvPicPr>
        <p:blipFill>
          <a:blip r:embed="rId8"/>
          <a:stretch>
            <a:fillRect/>
          </a:stretch>
        </p:blipFill>
        <p:spPr>
          <a:xfrm>
            <a:off x="4818888" y="3236976"/>
            <a:ext cx="274320" cy="274320"/>
          </a:xfrm>
          <a:prstGeom prst="rect">
            <a:avLst/>
          </a:prstGeom>
        </p:spPr>
      </p:pic>
      <p:sp>
        <p:nvSpPr>
          <p:cNvPr id="31" name="Text 23"/>
          <p:cNvSpPr/>
          <p:nvPr/>
        </p:nvSpPr>
        <p:spPr>
          <a:xfrm>
            <a:off x="5285232" y="3099816"/>
            <a:ext cx="3547872" cy="310896"/>
          </a:xfrm>
          <a:prstGeom prst="rect">
            <a:avLst/>
          </a:prstGeom>
          <a:noFill/>
          <a:ln/>
        </p:spPr>
        <p:txBody>
          <a:bodyPr wrap="square" lIns="0" tIns="0" rIns="0" bIns="0" rtlCol="0" anchor="ctr"/>
          <a:lstStyle/>
          <a:p>
            <a:pPr marL="0" indent="0">
              <a:buNone/>
            </a:pPr>
            <a:r>
              <a:rPr lang="en-US" sz="1250" b="1" dirty="0">
                <a:solidFill>
                  <a:srgbClr val="0C2D5E"/>
                </a:solidFill>
                <a:latin typeface="Calibri" pitchFamily="34" charset="0"/>
                <a:ea typeface="Calibri" pitchFamily="34" charset="-122"/>
                <a:cs typeface="Calibri" pitchFamily="34" charset="-120"/>
              </a:rPr>
              <a:t>Actions</a:t>
            </a:r>
            <a:endParaRPr lang="en-US" sz="1250" dirty="0"/>
          </a:p>
        </p:txBody>
      </p:sp>
      <p:sp>
        <p:nvSpPr>
          <p:cNvPr id="32" name="Text 24"/>
          <p:cNvSpPr/>
          <p:nvPr/>
        </p:nvSpPr>
        <p:spPr>
          <a:xfrm>
            <a:off x="5285232" y="3438144"/>
            <a:ext cx="3547872" cy="38404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Inline buttons can navigate, launch OmniScripts, or call Apex actions — zero custom code</a:t>
            </a:r>
            <a:endParaRPr lang="en-US" sz="1050" dirty="0"/>
          </a:p>
        </p:txBody>
      </p:sp>
      <p:sp>
        <p:nvSpPr>
          <p:cNvPr id="33" name="Shape 25"/>
          <p:cNvSpPr/>
          <p:nvPr/>
        </p:nvSpPr>
        <p:spPr>
          <a:xfrm>
            <a:off x="4754880" y="4023360"/>
            <a:ext cx="4160520" cy="8686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34" name="Shape 26"/>
          <p:cNvSpPr/>
          <p:nvPr/>
        </p:nvSpPr>
        <p:spPr>
          <a:xfrm>
            <a:off x="4754880" y="4023360"/>
            <a:ext cx="438912" cy="868680"/>
          </a:xfrm>
          <a:prstGeom prst="rect">
            <a:avLst/>
          </a:prstGeom>
          <a:solidFill>
            <a:srgbClr val="0C2D5E"/>
          </a:solidFill>
          <a:ln/>
        </p:spPr>
        <p:txBody>
          <a:bodyPr/>
          <a:lstStyle/>
          <a:p>
            <a:endParaRPr lang="en-US"/>
          </a:p>
        </p:txBody>
      </p:sp>
      <p:pic>
        <p:nvPicPr>
          <p:cNvPr id="35" name="Image 6" descr="preencoded.png"/>
          <p:cNvPicPr>
            <a:picLocks noChangeAspect="1"/>
          </p:cNvPicPr>
          <p:nvPr/>
        </p:nvPicPr>
        <p:blipFill>
          <a:blip r:embed="rId9"/>
          <a:stretch>
            <a:fillRect/>
          </a:stretch>
        </p:blipFill>
        <p:spPr>
          <a:xfrm>
            <a:off x="4818888" y="4242816"/>
            <a:ext cx="274320" cy="274320"/>
          </a:xfrm>
          <a:prstGeom prst="rect">
            <a:avLst/>
          </a:prstGeom>
        </p:spPr>
      </p:pic>
      <p:sp>
        <p:nvSpPr>
          <p:cNvPr id="36" name="Text 27"/>
          <p:cNvSpPr/>
          <p:nvPr/>
        </p:nvSpPr>
        <p:spPr>
          <a:xfrm>
            <a:off x="5285232" y="4105656"/>
            <a:ext cx="3547872" cy="310896"/>
          </a:xfrm>
          <a:prstGeom prst="rect">
            <a:avLst/>
          </a:prstGeom>
          <a:noFill/>
          <a:ln/>
        </p:spPr>
        <p:txBody>
          <a:bodyPr wrap="square" lIns="0" tIns="0" rIns="0" bIns="0" rtlCol="0" anchor="ctr"/>
          <a:lstStyle/>
          <a:p>
            <a:pPr marL="0" indent="0">
              <a:buNone/>
            </a:pPr>
            <a:r>
              <a:rPr lang="en-US" sz="1250" b="1" dirty="0">
                <a:solidFill>
                  <a:srgbClr val="0C2D5E"/>
                </a:solidFill>
                <a:latin typeface="Calibri" pitchFamily="34" charset="0"/>
                <a:ea typeface="Calibri" pitchFamily="34" charset="-122"/>
                <a:cs typeface="Calibri" pitchFamily="34" charset="-120"/>
              </a:rPr>
              <a:t>Deployment</a:t>
            </a:r>
            <a:endParaRPr lang="en-US" sz="1250" dirty="0"/>
          </a:p>
        </p:txBody>
      </p:sp>
      <p:sp>
        <p:nvSpPr>
          <p:cNvPr id="37" name="Text 28"/>
          <p:cNvSpPr/>
          <p:nvPr/>
        </p:nvSpPr>
        <p:spPr>
          <a:xfrm>
            <a:off x="5285232" y="4443984"/>
            <a:ext cx="3547872" cy="38404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Activated FlexCards become LWC components available in Lightning App Builder for any record page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4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70D2"/>
          </a:solidFill>
          <a:ln/>
        </p:spPr>
        <p:txBody>
          <a:bodyPr/>
          <a:lstStyle/>
          <a:p>
            <a:endParaRPr lang="en-US"/>
          </a:p>
        </p:txBody>
      </p:sp>
      <p:sp>
        <p:nvSpPr>
          <p:cNvPr id="3" name="Text 1"/>
          <p:cNvSpPr/>
          <p:nvPr/>
        </p:nvSpPr>
        <p:spPr>
          <a:xfrm>
            <a:off x="365760" y="73152"/>
            <a:ext cx="8229600" cy="347472"/>
          </a:xfrm>
          <a:prstGeom prst="rect">
            <a:avLst/>
          </a:prstGeom>
          <a:noFill/>
          <a:ln/>
        </p:spPr>
        <p:txBody>
          <a:bodyPr wrap="square" lIns="0" tIns="0" rIns="0" bIns="0" rtlCol="0" anchor="ctr"/>
          <a:lstStyle/>
          <a:p>
            <a:pPr marL="0" indent="0">
              <a:buNone/>
            </a:pPr>
            <a:r>
              <a:rPr lang="en-US" sz="1000" b="1" kern="0" spc="300" dirty="0">
                <a:solidFill>
                  <a:srgbClr val="A0D0FF"/>
                </a:solidFill>
                <a:latin typeface="Calibri" pitchFamily="34" charset="0"/>
                <a:ea typeface="Calibri" pitchFamily="34" charset="-122"/>
                <a:cs typeface="Calibri" pitchFamily="34" charset="-120"/>
              </a:rPr>
              <a:t>FLEXCARD DESIGN</a:t>
            </a:r>
            <a:endParaRPr lang="en-US" sz="1000" dirty="0"/>
          </a:p>
        </p:txBody>
      </p:sp>
      <p:sp>
        <p:nvSpPr>
          <p:cNvPr id="4" name="Text 2"/>
          <p:cNvSpPr/>
          <p:nvPr/>
        </p:nvSpPr>
        <p:spPr>
          <a:xfrm>
            <a:off x="365760" y="438912"/>
            <a:ext cx="822960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Financial Account FlexCard — Layout Example</a:t>
            </a:r>
            <a:endParaRPr lang="en-US" sz="2200" dirty="0"/>
          </a:p>
        </p:txBody>
      </p:sp>
      <p:sp>
        <p:nvSpPr>
          <p:cNvPr id="5" name="Shape 3"/>
          <p:cNvSpPr/>
          <p:nvPr/>
        </p:nvSpPr>
        <p:spPr>
          <a:xfrm>
            <a:off x="457200" y="1143000"/>
            <a:ext cx="5212080" cy="37490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457200" y="1143000"/>
            <a:ext cx="5212080" cy="713232"/>
          </a:xfrm>
          <a:prstGeom prst="rect">
            <a:avLst/>
          </a:prstGeom>
          <a:solidFill>
            <a:srgbClr val="0C2D5E"/>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585216" y="1234440"/>
            <a:ext cx="384048" cy="384048"/>
          </a:xfrm>
          <a:prstGeom prst="rect">
            <a:avLst/>
          </a:prstGeom>
        </p:spPr>
      </p:pic>
      <p:sp>
        <p:nvSpPr>
          <p:cNvPr id="8" name="Text 5"/>
          <p:cNvSpPr/>
          <p:nvPr/>
        </p:nvSpPr>
        <p:spPr>
          <a:xfrm>
            <a:off x="1060704" y="1207008"/>
            <a:ext cx="342900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Financial Account</a:t>
            </a:r>
            <a:endParaRPr lang="en-US" sz="1400" dirty="0"/>
          </a:p>
        </p:txBody>
      </p:sp>
      <p:sp>
        <p:nvSpPr>
          <p:cNvPr id="9" name="Text 6"/>
          <p:cNvSpPr/>
          <p:nvPr/>
        </p:nvSpPr>
        <p:spPr>
          <a:xfrm>
            <a:off x="1060704" y="1463040"/>
            <a:ext cx="3429000" cy="256032"/>
          </a:xfrm>
          <a:prstGeom prst="rect">
            <a:avLst/>
          </a:prstGeom>
          <a:noFill/>
          <a:ln/>
        </p:spPr>
        <p:txBody>
          <a:bodyPr wrap="square" lIns="0" tIns="0" rIns="0" bIns="0" rtlCol="0" anchor="ctr"/>
          <a:lstStyle/>
          <a:p>
            <a:pPr marL="0" indent="0">
              <a:buNone/>
            </a:pPr>
            <a:r>
              <a:rPr lang="en-US" sz="1100" dirty="0">
                <a:solidFill>
                  <a:srgbClr val="A8C8F8"/>
                </a:solidFill>
                <a:latin typeface="Calibri" pitchFamily="34" charset="0"/>
                <a:ea typeface="Calibri" pitchFamily="34" charset="-122"/>
                <a:cs typeface="Calibri" pitchFamily="34" charset="-120"/>
              </a:rPr>
              <a:t>Primary Savings Account</a:t>
            </a:r>
            <a:endParaRPr lang="en-US" sz="1100" dirty="0"/>
          </a:p>
        </p:txBody>
      </p:sp>
      <p:sp>
        <p:nvSpPr>
          <p:cNvPr id="10" name="Shape 7"/>
          <p:cNvSpPr/>
          <p:nvPr/>
        </p:nvSpPr>
        <p:spPr>
          <a:xfrm>
            <a:off x="4663440" y="1289304"/>
            <a:ext cx="841248" cy="274320"/>
          </a:xfrm>
          <a:prstGeom prst="rect">
            <a:avLst/>
          </a:prstGeom>
          <a:solidFill>
            <a:srgbClr val="04844B"/>
          </a:solidFill>
          <a:ln/>
        </p:spPr>
        <p:txBody>
          <a:bodyPr/>
          <a:lstStyle/>
          <a:p>
            <a:endParaRPr lang="en-US"/>
          </a:p>
        </p:txBody>
      </p:sp>
      <p:sp>
        <p:nvSpPr>
          <p:cNvPr id="11" name="Text 8"/>
          <p:cNvSpPr/>
          <p:nvPr/>
        </p:nvSpPr>
        <p:spPr>
          <a:xfrm>
            <a:off x="4663440" y="1289304"/>
            <a:ext cx="84124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ACTIVE</a:t>
            </a:r>
            <a:endParaRPr lang="en-US" sz="900" dirty="0"/>
          </a:p>
        </p:txBody>
      </p:sp>
      <p:sp>
        <p:nvSpPr>
          <p:cNvPr id="12" name="Shape 9"/>
          <p:cNvSpPr/>
          <p:nvPr/>
        </p:nvSpPr>
        <p:spPr>
          <a:xfrm>
            <a:off x="457200" y="1920240"/>
            <a:ext cx="5212080" cy="493776"/>
          </a:xfrm>
          <a:prstGeom prst="rect">
            <a:avLst/>
          </a:prstGeom>
          <a:solidFill>
            <a:srgbClr val="F4F8FF"/>
          </a:solidFill>
          <a:ln/>
        </p:spPr>
        <p:txBody>
          <a:bodyPr/>
          <a:lstStyle/>
          <a:p>
            <a:endParaRPr lang="en-US"/>
          </a:p>
        </p:txBody>
      </p:sp>
      <p:sp>
        <p:nvSpPr>
          <p:cNvPr id="13" name="Text 10"/>
          <p:cNvSpPr/>
          <p:nvPr/>
        </p:nvSpPr>
        <p:spPr>
          <a:xfrm>
            <a:off x="621792" y="2020824"/>
            <a:ext cx="2103120" cy="29260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Account Number</a:t>
            </a:r>
            <a:endParaRPr lang="en-US" sz="1100" dirty="0"/>
          </a:p>
        </p:txBody>
      </p:sp>
      <p:sp>
        <p:nvSpPr>
          <p:cNvPr id="14" name="Text 11"/>
          <p:cNvSpPr/>
          <p:nvPr/>
        </p:nvSpPr>
        <p:spPr>
          <a:xfrm>
            <a:off x="2788920" y="2020824"/>
            <a:ext cx="2697480" cy="292608"/>
          </a:xfrm>
          <a:prstGeom prst="rect">
            <a:avLst/>
          </a:prstGeom>
          <a:noFill/>
          <a:ln/>
        </p:spPr>
        <p:txBody>
          <a:bodyPr wrap="square" lIns="0" tIns="0" rIns="0" bIns="0" rtlCol="0" anchor="ctr"/>
          <a:lstStyle/>
          <a:p>
            <a:pPr marL="0" indent="0">
              <a:buNone/>
            </a:pPr>
            <a:r>
              <a:rPr lang="en-US" sz="1200" b="1" dirty="0">
                <a:solidFill>
                  <a:srgbClr val="0C2D5E"/>
                </a:solidFill>
                <a:latin typeface="Calibri" pitchFamily="34" charset="0"/>
                <a:ea typeface="Calibri" pitchFamily="34" charset="-122"/>
                <a:cs typeface="Calibri" pitchFamily="34" charset="-120"/>
              </a:rPr>
              <a:t>****-8823</a:t>
            </a:r>
            <a:endParaRPr lang="en-US" sz="1200" dirty="0"/>
          </a:p>
        </p:txBody>
      </p:sp>
      <p:sp>
        <p:nvSpPr>
          <p:cNvPr id="15" name="Shape 12"/>
          <p:cNvSpPr/>
          <p:nvPr/>
        </p:nvSpPr>
        <p:spPr>
          <a:xfrm>
            <a:off x="457200" y="2432304"/>
            <a:ext cx="5212080" cy="493776"/>
          </a:xfrm>
          <a:prstGeom prst="rect">
            <a:avLst/>
          </a:prstGeom>
          <a:solidFill>
            <a:srgbClr val="FFFFFF"/>
          </a:solidFill>
          <a:ln/>
        </p:spPr>
        <p:txBody>
          <a:bodyPr/>
          <a:lstStyle/>
          <a:p>
            <a:endParaRPr lang="en-US"/>
          </a:p>
        </p:txBody>
      </p:sp>
      <p:sp>
        <p:nvSpPr>
          <p:cNvPr id="16" name="Text 13"/>
          <p:cNvSpPr/>
          <p:nvPr/>
        </p:nvSpPr>
        <p:spPr>
          <a:xfrm>
            <a:off x="621792" y="2532888"/>
            <a:ext cx="2103120" cy="29260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Balance</a:t>
            </a:r>
            <a:endParaRPr lang="en-US" sz="1100" dirty="0"/>
          </a:p>
        </p:txBody>
      </p:sp>
      <p:sp>
        <p:nvSpPr>
          <p:cNvPr id="17" name="Text 14"/>
          <p:cNvSpPr/>
          <p:nvPr/>
        </p:nvSpPr>
        <p:spPr>
          <a:xfrm>
            <a:off x="2788920" y="2532888"/>
            <a:ext cx="2697480" cy="292608"/>
          </a:xfrm>
          <a:prstGeom prst="rect">
            <a:avLst/>
          </a:prstGeom>
          <a:noFill/>
          <a:ln/>
        </p:spPr>
        <p:txBody>
          <a:bodyPr wrap="square" lIns="0" tIns="0" rIns="0" bIns="0" rtlCol="0" anchor="ctr"/>
          <a:lstStyle/>
          <a:p>
            <a:pPr marL="0" indent="0">
              <a:buNone/>
            </a:pPr>
            <a:r>
              <a:rPr lang="en-US" sz="1200" b="1" dirty="0">
                <a:solidFill>
                  <a:srgbClr val="0C2D5E"/>
                </a:solidFill>
                <a:latin typeface="Calibri" pitchFamily="34" charset="0"/>
                <a:ea typeface="Calibri" pitchFamily="34" charset="-122"/>
                <a:cs typeface="Calibri" pitchFamily="34" charset="-120"/>
              </a:rPr>
              <a:t>$124,580.00</a:t>
            </a:r>
            <a:endParaRPr lang="en-US" sz="1200" dirty="0"/>
          </a:p>
        </p:txBody>
      </p:sp>
      <p:sp>
        <p:nvSpPr>
          <p:cNvPr id="18" name="Shape 15"/>
          <p:cNvSpPr/>
          <p:nvPr/>
        </p:nvSpPr>
        <p:spPr>
          <a:xfrm>
            <a:off x="457200" y="2944368"/>
            <a:ext cx="5212080" cy="493776"/>
          </a:xfrm>
          <a:prstGeom prst="rect">
            <a:avLst/>
          </a:prstGeom>
          <a:solidFill>
            <a:srgbClr val="F4F8FF"/>
          </a:solidFill>
          <a:ln/>
        </p:spPr>
        <p:txBody>
          <a:bodyPr/>
          <a:lstStyle/>
          <a:p>
            <a:endParaRPr lang="en-US"/>
          </a:p>
        </p:txBody>
      </p:sp>
      <p:sp>
        <p:nvSpPr>
          <p:cNvPr id="19" name="Text 16"/>
          <p:cNvSpPr/>
          <p:nvPr/>
        </p:nvSpPr>
        <p:spPr>
          <a:xfrm>
            <a:off x="621792" y="3044952"/>
            <a:ext cx="2103120" cy="29260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Account Type</a:t>
            </a:r>
            <a:endParaRPr lang="en-US" sz="1100" dirty="0"/>
          </a:p>
        </p:txBody>
      </p:sp>
      <p:sp>
        <p:nvSpPr>
          <p:cNvPr id="20" name="Text 17"/>
          <p:cNvSpPr/>
          <p:nvPr/>
        </p:nvSpPr>
        <p:spPr>
          <a:xfrm>
            <a:off x="2788920" y="3044952"/>
            <a:ext cx="2697480" cy="292608"/>
          </a:xfrm>
          <a:prstGeom prst="rect">
            <a:avLst/>
          </a:prstGeom>
          <a:noFill/>
          <a:ln/>
        </p:spPr>
        <p:txBody>
          <a:bodyPr wrap="square" lIns="0" tIns="0" rIns="0" bIns="0" rtlCol="0" anchor="ctr"/>
          <a:lstStyle/>
          <a:p>
            <a:pPr marL="0" indent="0">
              <a:buNone/>
            </a:pPr>
            <a:r>
              <a:rPr lang="en-US" sz="1200" b="1" dirty="0">
                <a:solidFill>
                  <a:srgbClr val="0C2D5E"/>
                </a:solidFill>
                <a:latin typeface="Calibri" pitchFamily="34" charset="0"/>
                <a:ea typeface="Calibri" pitchFamily="34" charset="-122"/>
                <a:cs typeface="Calibri" pitchFamily="34" charset="-120"/>
              </a:rPr>
              <a:t>Savings</a:t>
            </a:r>
            <a:endParaRPr lang="en-US" sz="1200" dirty="0"/>
          </a:p>
        </p:txBody>
      </p:sp>
      <p:sp>
        <p:nvSpPr>
          <p:cNvPr id="21" name="Shape 18"/>
          <p:cNvSpPr/>
          <p:nvPr/>
        </p:nvSpPr>
        <p:spPr>
          <a:xfrm>
            <a:off x="457200" y="3456432"/>
            <a:ext cx="5212080" cy="493776"/>
          </a:xfrm>
          <a:prstGeom prst="rect">
            <a:avLst/>
          </a:prstGeom>
          <a:solidFill>
            <a:srgbClr val="FFFFFF"/>
          </a:solidFill>
          <a:ln/>
        </p:spPr>
        <p:txBody>
          <a:bodyPr/>
          <a:lstStyle/>
          <a:p>
            <a:endParaRPr lang="en-US"/>
          </a:p>
        </p:txBody>
      </p:sp>
      <p:sp>
        <p:nvSpPr>
          <p:cNvPr id="22" name="Text 19"/>
          <p:cNvSpPr/>
          <p:nvPr/>
        </p:nvSpPr>
        <p:spPr>
          <a:xfrm>
            <a:off x="621792" y="3557016"/>
            <a:ext cx="2103120" cy="29260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Opened On</a:t>
            </a:r>
            <a:endParaRPr lang="en-US" sz="1100" dirty="0"/>
          </a:p>
        </p:txBody>
      </p:sp>
      <p:sp>
        <p:nvSpPr>
          <p:cNvPr id="23" name="Text 20"/>
          <p:cNvSpPr/>
          <p:nvPr/>
        </p:nvSpPr>
        <p:spPr>
          <a:xfrm>
            <a:off x="2788920" y="3557016"/>
            <a:ext cx="2697480" cy="292608"/>
          </a:xfrm>
          <a:prstGeom prst="rect">
            <a:avLst/>
          </a:prstGeom>
          <a:noFill/>
          <a:ln/>
        </p:spPr>
        <p:txBody>
          <a:bodyPr wrap="square" lIns="0" tIns="0" rIns="0" bIns="0" rtlCol="0" anchor="ctr"/>
          <a:lstStyle/>
          <a:p>
            <a:pPr marL="0" indent="0">
              <a:buNone/>
            </a:pPr>
            <a:r>
              <a:rPr lang="en-US" sz="1200" b="1" dirty="0">
                <a:solidFill>
                  <a:srgbClr val="0C2D5E"/>
                </a:solidFill>
                <a:latin typeface="Calibri" pitchFamily="34" charset="0"/>
                <a:ea typeface="Calibri" pitchFamily="34" charset="-122"/>
                <a:cs typeface="Calibri" pitchFamily="34" charset="-120"/>
              </a:rPr>
              <a:t>March 12, 2019</a:t>
            </a:r>
            <a:endParaRPr lang="en-US" sz="1200" dirty="0"/>
          </a:p>
        </p:txBody>
      </p:sp>
      <p:sp>
        <p:nvSpPr>
          <p:cNvPr id="24" name="Shape 21"/>
          <p:cNvSpPr/>
          <p:nvPr/>
        </p:nvSpPr>
        <p:spPr>
          <a:xfrm>
            <a:off x="457200" y="3968496"/>
            <a:ext cx="5212080" cy="493776"/>
          </a:xfrm>
          <a:prstGeom prst="rect">
            <a:avLst/>
          </a:prstGeom>
          <a:solidFill>
            <a:srgbClr val="F4F8FF"/>
          </a:solidFill>
          <a:ln/>
        </p:spPr>
        <p:txBody>
          <a:bodyPr/>
          <a:lstStyle/>
          <a:p>
            <a:endParaRPr lang="en-US"/>
          </a:p>
        </p:txBody>
      </p:sp>
      <p:sp>
        <p:nvSpPr>
          <p:cNvPr id="25" name="Text 22"/>
          <p:cNvSpPr/>
          <p:nvPr/>
        </p:nvSpPr>
        <p:spPr>
          <a:xfrm>
            <a:off x="621792" y="4069080"/>
            <a:ext cx="2103120" cy="29260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Primary Owner</a:t>
            </a:r>
            <a:endParaRPr lang="en-US" sz="1100" dirty="0"/>
          </a:p>
        </p:txBody>
      </p:sp>
      <p:sp>
        <p:nvSpPr>
          <p:cNvPr id="26" name="Text 23"/>
          <p:cNvSpPr/>
          <p:nvPr/>
        </p:nvSpPr>
        <p:spPr>
          <a:xfrm>
            <a:off x="2788920" y="4069080"/>
            <a:ext cx="2697480" cy="292608"/>
          </a:xfrm>
          <a:prstGeom prst="rect">
            <a:avLst/>
          </a:prstGeom>
          <a:noFill/>
          <a:ln/>
        </p:spPr>
        <p:txBody>
          <a:bodyPr wrap="square" lIns="0" tIns="0" rIns="0" bIns="0" rtlCol="0" anchor="ctr"/>
          <a:lstStyle/>
          <a:p>
            <a:pPr marL="0" indent="0">
              <a:buNone/>
            </a:pPr>
            <a:r>
              <a:rPr lang="en-US" sz="1200" b="1" dirty="0">
                <a:solidFill>
                  <a:srgbClr val="0C2D5E"/>
                </a:solidFill>
                <a:latin typeface="Calibri" pitchFamily="34" charset="0"/>
                <a:ea typeface="Calibri" pitchFamily="34" charset="-122"/>
                <a:cs typeface="Calibri" pitchFamily="34" charset="-120"/>
              </a:rPr>
              <a:t>Sarah Johnson</a:t>
            </a:r>
            <a:endParaRPr lang="en-US" sz="1200" dirty="0"/>
          </a:p>
        </p:txBody>
      </p:sp>
      <p:sp>
        <p:nvSpPr>
          <p:cNvPr id="27" name="Shape 24"/>
          <p:cNvSpPr/>
          <p:nvPr/>
        </p:nvSpPr>
        <p:spPr>
          <a:xfrm>
            <a:off x="621792" y="4572000"/>
            <a:ext cx="1828800" cy="256032"/>
          </a:xfrm>
          <a:prstGeom prst="rect">
            <a:avLst/>
          </a:prstGeom>
          <a:solidFill>
            <a:srgbClr val="0070D2"/>
          </a:solidFill>
          <a:ln/>
        </p:spPr>
        <p:txBody>
          <a:bodyPr/>
          <a:lstStyle/>
          <a:p>
            <a:endParaRPr lang="en-US"/>
          </a:p>
        </p:txBody>
      </p:sp>
      <p:sp>
        <p:nvSpPr>
          <p:cNvPr id="28" name="Text 25"/>
          <p:cNvSpPr/>
          <p:nvPr/>
        </p:nvSpPr>
        <p:spPr>
          <a:xfrm>
            <a:off x="621792" y="4572000"/>
            <a:ext cx="18288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View Full Details</a:t>
            </a:r>
            <a:endParaRPr lang="en-US" sz="950" dirty="0"/>
          </a:p>
        </p:txBody>
      </p:sp>
      <p:sp>
        <p:nvSpPr>
          <p:cNvPr id="29" name="Shape 26"/>
          <p:cNvSpPr/>
          <p:nvPr/>
        </p:nvSpPr>
        <p:spPr>
          <a:xfrm>
            <a:off x="2542032" y="4572000"/>
            <a:ext cx="1417320" cy="256032"/>
          </a:xfrm>
          <a:prstGeom prst="rect">
            <a:avLst/>
          </a:prstGeom>
          <a:solidFill>
            <a:srgbClr val="F0F4F8"/>
          </a:solidFill>
          <a:ln/>
        </p:spPr>
        <p:txBody>
          <a:bodyPr/>
          <a:lstStyle/>
          <a:p>
            <a:endParaRPr lang="en-US"/>
          </a:p>
        </p:txBody>
      </p:sp>
      <p:sp>
        <p:nvSpPr>
          <p:cNvPr id="30" name="Text 27"/>
          <p:cNvSpPr/>
          <p:nvPr/>
        </p:nvSpPr>
        <p:spPr>
          <a:xfrm>
            <a:off x="2542032" y="4572000"/>
            <a:ext cx="1417320" cy="256032"/>
          </a:xfrm>
          <a:prstGeom prst="rect">
            <a:avLst/>
          </a:prstGeom>
          <a:noFill/>
          <a:ln/>
        </p:spPr>
        <p:txBody>
          <a:bodyPr wrap="square" lIns="0" tIns="0" rIns="0" bIns="0" rtlCol="0" anchor="ctr"/>
          <a:lstStyle/>
          <a:p>
            <a:pPr marL="0" indent="0" algn="ctr">
              <a:buNone/>
            </a:pPr>
            <a:r>
              <a:rPr lang="en-US" sz="950" b="1" dirty="0">
                <a:solidFill>
                  <a:srgbClr val="0C2D5E"/>
                </a:solidFill>
                <a:latin typeface="Calibri" pitchFamily="34" charset="0"/>
                <a:ea typeface="Calibri" pitchFamily="34" charset="-122"/>
                <a:cs typeface="Calibri" pitchFamily="34" charset="-120"/>
              </a:rPr>
              <a:t>Edit Account</a:t>
            </a:r>
            <a:endParaRPr lang="en-US" sz="950" dirty="0"/>
          </a:p>
        </p:txBody>
      </p:sp>
      <p:sp>
        <p:nvSpPr>
          <p:cNvPr id="31" name="Text 28"/>
          <p:cNvSpPr/>
          <p:nvPr/>
        </p:nvSpPr>
        <p:spPr>
          <a:xfrm>
            <a:off x="6035040" y="1143000"/>
            <a:ext cx="2834640" cy="365760"/>
          </a:xfrm>
          <a:prstGeom prst="rect">
            <a:avLst/>
          </a:prstGeom>
          <a:noFill/>
          <a:ln/>
        </p:spPr>
        <p:txBody>
          <a:bodyPr wrap="square" lIns="0" tIns="0" rIns="0" bIns="0" rtlCol="0" anchor="ctr"/>
          <a:lstStyle/>
          <a:p>
            <a:pPr marL="0" indent="0">
              <a:buNone/>
            </a:pPr>
            <a:r>
              <a:rPr lang="en-US" sz="1400" b="1" dirty="0">
                <a:solidFill>
                  <a:srgbClr val="0C2D5E"/>
                </a:solidFill>
                <a:latin typeface="Calibri" pitchFamily="34" charset="0"/>
                <a:ea typeface="Calibri" pitchFamily="34" charset="-122"/>
                <a:cs typeface="Calibri" pitchFamily="34" charset="-120"/>
              </a:rPr>
              <a:t>FlexCard Anatomy</a:t>
            </a:r>
            <a:endParaRPr lang="en-US" sz="1400" dirty="0"/>
          </a:p>
        </p:txBody>
      </p:sp>
      <p:sp>
        <p:nvSpPr>
          <p:cNvPr id="32" name="Shape 29"/>
          <p:cNvSpPr/>
          <p:nvPr/>
        </p:nvSpPr>
        <p:spPr>
          <a:xfrm>
            <a:off x="5943600" y="1600200"/>
            <a:ext cx="91440" cy="685800"/>
          </a:xfrm>
          <a:prstGeom prst="rect">
            <a:avLst/>
          </a:prstGeom>
          <a:solidFill>
            <a:srgbClr val="0C2D5E"/>
          </a:solidFill>
          <a:ln/>
        </p:spPr>
        <p:txBody>
          <a:bodyPr/>
          <a:lstStyle/>
          <a:p>
            <a:endParaRPr lang="en-US"/>
          </a:p>
        </p:txBody>
      </p:sp>
      <p:sp>
        <p:nvSpPr>
          <p:cNvPr id="33" name="Text 30"/>
          <p:cNvSpPr/>
          <p:nvPr/>
        </p:nvSpPr>
        <p:spPr>
          <a:xfrm>
            <a:off x="6108192" y="1627632"/>
            <a:ext cx="2743200" cy="274320"/>
          </a:xfrm>
          <a:prstGeom prst="rect">
            <a:avLst/>
          </a:prstGeom>
          <a:noFill/>
          <a:ln/>
        </p:spPr>
        <p:txBody>
          <a:bodyPr wrap="square" lIns="0" tIns="0" rIns="0" bIns="0" rtlCol="0" anchor="ctr"/>
          <a:lstStyle/>
          <a:p>
            <a:pPr marL="0" indent="0">
              <a:buNone/>
            </a:pPr>
            <a:r>
              <a:rPr lang="en-US" sz="1150" b="1" dirty="0">
                <a:solidFill>
                  <a:srgbClr val="0C2D5E"/>
                </a:solidFill>
                <a:latin typeface="Calibri" pitchFamily="34" charset="0"/>
                <a:ea typeface="Calibri" pitchFamily="34" charset="-122"/>
                <a:cs typeface="Calibri" pitchFamily="34" charset="-120"/>
              </a:rPr>
              <a:t>Card Header</a:t>
            </a:r>
            <a:endParaRPr lang="en-US" sz="1150" dirty="0"/>
          </a:p>
        </p:txBody>
      </p:sp>
      <p:sp>
        <p:nvSpPr>
          <p:cNvPr id="34" name="Text 31"/>
          <p:cNvSpPr/>
          <p:nvPr/>
        </p:nvSpPr>
        <p:spPr>
          <a:xfrm>
            <a:off x="6108192" y="1920240"/>
            <a:ext cx="2743200" cy="34747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Icon + title from DataRaptor output. Status badge with conditional color.</a:t>
            </a:r>
            <a:endParaRPr lang="en-US" sz="1000" dirty="0"/>
          </a:p>
        </p:txBody>
      </p:sp>
      <p:sp>
        <p:nvSpPr>
          <p:cNvPr id="35" name="Shape 32"/>
          <p:cNvSpPr/>
          <p:nvPr/>
        </p:nvSpPr>
        <p:spPr>
          <a:xfrm>
            <a:off x="5943600" y="2459736"/>
            <a:ext cx="91440" cy="685800"/>
          </a:xfrm>
          <a:prstGeom prst="rect">
            <a:avLst/>
          </a:prstGeom>
          <a:solidFill>
            <a:srgbClr val="028090"/>
          </a:solidFill>
          <a:ln/>
        </p:spPr>
        <p:txBody>
          <a:bodyPr/>
          <a:lstStyle/>
          <a:p>
            <a:endParaRPr lang="en-US"/>
          </a:p>
        </p:txBody>
      </p:sp>
      <p:sp>
        <p:nvSpPr>
          <p:cNvPr id="36" name="Text 33"/>
          <p:cNvSpPr/>
          <p:nvPr/>
        </p:nvSpPr>
        <p:spPr>
          <a:xfrm>
            <a:off x="6108192" y="2487168"/>
            <a:ext cx="2743200" cy="274320"/>
          </a:xfrm>
          <a:prstGeom prst="rect">
            <a:avLst/>
          </a:prstGeom>
          <a:noFill/>
          <a:ln/>
        </p:spPr>
        <p:txBody>
          <a:bodyPr wrap="square" lIns="0" tIns="0" rIns="0" bIns="0" rtlCol="0" anchor="ctr"/>
          <a:lstStyle/>
          <a:p>
            <a:pPr marL="0" indent="0">
              <a:buNone/>
            </a:pPr>
            <a:r>
              <a:rPr lang="en-US" sz="1150" b="1" dirty="0">
                <a:solidFill>
                  <a:srgbClr val="028090"/>
                </a:solidFill>
                <a:latin typeface="Calibri" pitchFamily="34" charset="0"/>
                <a:ea typeface="Calibri" pitchFamily="34" charset="-122"/>
                <a:cs typeface="Calibri" pitchFamily="34" charset="-120"/>
              </a:rPr>
              <a:t>Field Rows</a:t>
            </a:r>
            <a:endParaRPr lang="en-US" sz="1150" dirty="0"/>
          </a:p>
        </p:txBody>
      </p:sp>
      <p:sp>
        <p:nvSpPr>
          <p:cNvPr id="37" name="Text 34"/>
          <p:cNvSpPr/>
          <p:nvPr/>
        </p:nvSpPr>
        <p:spPr>
          <a:xfrm>
            <a:off x="6108192" y="2779776"/>
            <a:ext cx="2743200" cy="34747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Field elements bound to DataRaptor merge fields like {Balance}.</a:t>
            </a:r>
            <a:endParaRPr lang="en-US" sz="1000" dirty="0"/>
          </a:p>
        </p:txBody>
      </p:sp>
      <p:sp>
        <p:nvSpPr>
          <p:cNvPr id="38" name="Shape 35"/>
          <p:cNvSpPr/>
          <p:nvPr/>
        </p:nvSpPr>
        <p:spPr>
          <a:xfrm>
            <a:off x="5943600" y="3319272"/>
            <a:ext cx="91440" cy="685800"/>
          </a:xfrm>
          <a:prstGeom prst="rect">
            <a:avLst/>
          </a:prstGeom>
          <a:solidFill>
            <a:srgbClr val="04844B"/>
          </a:solidFill>
          <a:ln/>
        </p:spPr>
        <p:txBody>
          <a:bodyPr/>
          <a:lstStyle/>
          <a:p>
            <a:endParaRPr lang="en-US"/>
          </a:p>
        </p:txBody>
      </p:sp>
      <p:sp>
        <p:nvSpPr>
          <p:cNvPr id="39" name="Text 36"/>
          <p:cNvSpPr/>
          <p:nvPr/>
        </p:nvSpPr>
        <p:spPr>
          <a:xfrm>
            <a:off x="6108192" y="3346704"/>
            <a:ext cx="2743200" cy="274320"/>
          </a:xfrm>
          <a:prstGeom prst="rect">
            <a:avLst/>
          </a:prstGeom>
          <a:noFill/>
          <a:ln/>
        </p:spPr>
        <p:txBody>
          <a:bodyPr wrap="square" lIns="0" tIns="0" rIns="0" bIns="0" rtlCol="0" anchor="ctr"/>
          <a:lstStyle/>
          <a:p>
            <a:pPr marL="0" indent="0">
              <a:buNone/>
            </a:pPr>
            <a:r>
              <a:rPr lang="en-US" sz="1150" b="1" dirty="0">
                <a:solidFill>
                  <a:srgbClr val="04844B"/>
                </a:solidFill>
                <a:latin typeface="Calibri" pitchFamily="34" charset="0"/>
                <a:ea typeface="Calibri" pitchFamily="34" charset="-122"/>
                <a:cs typeface="Calibri" pitchFamily="34" charset="-120"/>
              </a:rPr>
              <a:t>Alternating Rows</a:t>
            </a:r>
            <a:endParaRPr lang="en-US" sz="1150" dirty="0"/>
          </a:p>
        </p:txBody>
      </p:sp>
      <p:sp>
        <p:nvSpPr>
          <p:cNvPr id="40" name="Text 37"/>
          <p:cNvSpPr/>
          <p:nvPr/>
        </p:nvSpPr>
        <p:spPr>
          <a:xfrm>
            <a:off x="6108192" y="3639312"/>
            <a:ext cx="2743200" cy="34747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Even/odd shading via conditional styling rules on elements.</a:t>
            </a:r>
            <a:endParaRPr lang="en-US" sz="1000" dirty="0"/>
          </a:p>
        </p:txBody>
      </p:sp>
      <p:sp>
        <p:nvSpPr>
          <p:cNvPr id="41" name="Shape 38"/>
          <p:cNvSpPr/>
          <p:nvPr/>
        </p:nvSpPr>
        <p:spPr>
          <a:xfrm>
            <a:off x="5943600" y="4178808"/>
            <a:ext cx="91440" cy="685800"/>
          </a:xfrm>
          <a:prstGeom prst="rect">
            <a:avLst/>
          </a:prstGeom>
          <a:solidFill>
            <a:srgbClr val="D4860A"/>
          </a:solidFill>
          <a:ln/>
        </p:spPr>
        <p:txBody>
          <a:bodyPr/>
          <a:lstStyle/>
          <a:p>
            <a:endParaRPr lang="en-US"/>
          </a:p>
        </p:txBody>
      </p:sp>
      <p:sp>
        <p:nvSpPr>
          <p:cNvPr id="42" name="Text 39"/>
          <p:cNvSpPr/>
          <p:nvPr/>
        </p:nvSpPr>
        <p:spPr>
          <a:xfrm>
            <a:off x="6108192" y="4206240"/>
            <a:ext cx="2743200" cy="274320"/>
          </a:xfrm>
          <a:prstGeom prst="rect">
            <a:avLst/>
          </a:prstGeom>
          <a:noFill/>
          <a:ln/>
        </p:spPr>
        <p:txBody>
          <a:bodyPr wrap="square" lIns="0" tIns="0" rIns="0" bIns="0" rtlCol="0" anchor="ctr"/>
          <a:lstStyle/>
          <a:p>
            <a:pPr marL="0" indent="0">
              <a:buNone/>
            </a:pPr>
            <a:r>
              <a:rPr lang="en-US" sz="1150" b="1" dirty="0">
                <a:solidFill>
                  <a:srgbClr val="D4860A"/>
                </a:solidFill>
                <a:latin typeface="Calibri" pitchFamily="34" charset="0"/>
                <a:ea typeface="Calibri" pitchFamily="34" charset="-122"/>
                <a:cs typeface="Calibri" pitchFamily="34" charset="-120"/>
              </a:rPr>
              <a:t>Action Buttons</a:t>
            </a:r>
            <a:endParaRPr lang="en-US" sz="1150" dirty="0"/>
          </a:p>
        </p:txBody>
      </p:sp>
      <p:sp>
        <p:nvSpPr>
          <p:cNvPr id="43" name="Text 40"/>
          <p:cNvSpPr/>
          <p:nvPr/>
        </p:nvSpPr>
        <p:spPr>
          <a:xfrm>
            <a:off x="6108192" y="4498848"/>
            <a:ext cx="2743200" cy="34747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Navigate, launch OmniScript, or call custom Apex actions.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F4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C2D5E"/>
          </a:solidFill>
          <a:ln/>
        </p:spPr>
        <p:txBody>
          <a:bodyPr/>
          <a:lstStyle/>
          <a:p>
            <a:endParaRPr lang="en-US"/>
          </a:p>
        </p:txBody>
      </p:sp>
      <p:sp>
        <p:nvSpPr>
          <p:cNvPr id="3" name="Text 1"/>
          <p:cNvSpPr/>
          <p:nvPr/>
        </p:nvSpPr>
        <p:spPr>
          <a:xfrm>
            <a:off x="365760" y="73152"/>
            <a:ext cx="8229600" cy="347472"/>
          </a:xfrm>
          <a:prstGeom prst="rect">
            <a:avLst/>
          </a:prstGeom>
          <a:noFill/>
          <a:ln/>
        </p:spPr>
        <p:txBody>
          <a:bodyPr wrap="square" lIns="0" tIns="0" rIns="0" bIns="0" rtlCol="0" anchor="ctr"/>
          <a:lstStyle/>
          <a:p>
            <a:pPr marL="0" indent="0">
              <a:buNone/>
            </a:pPr>
            <a:r>
              <a:rPr lang="en-US" sz="1000" b="1" kern="0" spc="300" dirty="0">
                <a:solidFill>
                  <a:srgbClr val="00A1E0"/>
                </a:solidFill>
                <a:latin typeface="Calibri" pitchFamily="34" charset="0"/>
                <a:ea typeface="Calibri" pitchFamily="34" charset="-122"/>
                <a:cs typeface="Calibri" pitchFamily="34" charset="-120"/>
              </a:rPr>
              <a:t>SECTION 06</a:t>
            </a:r>
            <a:endParaRPr lang="en-US" sz="1000" dirty="0"/>
          </a:p>
        </p:txBody>
      </p:sp>
      <p:sp>
        <p:nvSpPr>
          <p:cNvPr id="4" name="Text 2"/>
          <p:cNvSpPr/>
          <p:nvPr/>
        </p:nvSpPr>
        <p:spPr>
          <a:xfrm>
            <a:off x="365760" y="438912"/>
            <a:ext cx="822960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End-to-End Architecture &amp; Data Flow</a:t>
            </a:r>
            <a:endParaRPr lang="en-US" sz="2200" dirty="0"/>
          </a:p>
        </p:txBody>
      </p:sp>
      <p:sp>
        <p:nvSpPr>
          <p:cNvPr id="5" name="Shape 3"/>
          <p:cNvSpPr/>
          <p:nvPr/>
        </p:nvSpPr>
        <p:spPr>
          <a:xfrm>
            <a:off x="274320" y="1143000"/>
            <a:ext cx="1463040" cy="713232"/>
          </a:xfrm>
          <a:prstGeom prst="rect">
            <a:avLst/>
          </a:prstGeom>
          <a:solidFill>
            <a:srgbClr val="3B4F8C"/>
          </a:solidFill>
          <a:ln/>
        </p:spPr>
        <p:txBody>
          <a:bodyPr/>
          <a:lstStyle/>
          <a:p>
            <a:endParaRPr lang="en-US"/>
          </a:p>
        </p:txBody>
      </p:sp>
      <p:sp>
        <p:nvSpPr>
          <p:cNvPr id="6" name="Text 4"/>
          <p:cNvSpPr/>
          <p:nvPr/>
        </p:nvSpPr>
        <p:spPr>
          <a:xfrm>
            <a:off x="292608" y="1271016"/>
            <a:ext cx="1426464"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User Action</a:t>
            </a:r>
            <a:endParaRPr lang="en-US" sz="1050" dirty="0"/>
          </a:p>
        </p:txBody>
      </p:sp>
      <p:sp>
        <p:nvSpPr>
          <p:cNvPr id="7" name="Shape 5"/>
          <p:cNvSpPr/>
          <p:nvPr/>
        </p:nvSpPr>
        <p:spPr>
          <a:xfrm>
            <a:off x="1874520" y="1216152"/>
            <a:ext cx="2212848" cy="56692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1874520" y="1216152"/>
            <a:ext cx="54864" cy="566928"/>
          </a:xfrm>
          <a:prstGeom prst="rect">
            <a:avLst/>
          </a:prstGeom>
          <a:solidFill>
            <a:srgbClr val="3B4F8C"/>
          </a:solidFill>
          <a:ln/>
        </p:spPr>
        <p:txBody>
          <a:bodyPr/>
          <a:lstStyle/>
          <a:p>
            <a:endParaRPr lang="en-US"/>
          </a:p>
        </p:txBody>
      </p:sp>
      <p:sp>
        <p:nvSpPr>
          <p:cNvPr id="9" name="Text 7"/>
          <p:cNvSpPr/>
          <p:nvPr/>
        </p:nvSpPr>
        <p:spPr>
          <a:xfrm>
            <a:off x="2002536" y="1271016"/>
            <a:ext cx="2029968" cy="4572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User opens</a:t>
            </a:r>
            <a:endParaRPr lang="en-US" sz="950" dirty="0"/>
          </a:p>
          <a:p>
            <a:pPr marL="0" indent="0">
              <a:buNone/>
            </a:pPr>
            <a:r>
              <a:rPr lang="en-US" sz="950" dirty="0">
                <a:solidFill>
                  <a:srgbClr val="334155"/>
                </a:solidFill>
                <a:latin typeface="Calibri" pitchFamily="34" charset="0"/>
                <a:ea typeface="Calibri" pitchFamily="34" charset="-122"/>
                <a:cs typeface="Calibri" pitchFamily="34" charset="-120"/>
              </a:rPr>
              <a:t>Financial Account record</a:t>
            </a:r>
            <a:endParaRPr lang="en-US" sz="950" dirty="0"/>
          </a:p>
        </p:txBody>
      </p:sp>
      <p:sp>
        <p:nvSpPr>
          <p:cNvPr id="10" name="Shape 8"/>
          <p:cNvSpPr/>
          <p:nvPr/>
        </p:nvSpPr>
        <p:spPr>
          <a:xfrm>
            <a:off x="274320" y="1947672"/>
            <a:ext cx="1463040" cy="713232"/>
          </a:xfrm>
          <a:prstGeom prst="rect">
            <a:avLst/>
          </a:prstGeom>
          <a:solidFill>
            <a:srgbClr val="0070D2"/>
          </a:solidFill>
          <a:ln/>
        </p:spPr>
        <p:txBody>
          <a:bodyPr/>
          <a:lstStyle/>
          <a:p>
            <a:endParaRPr lang="en-US"/>
          </a:p>
        </p:txBody>
      </p:sp>
      <p:sp>
        <p:nvSpPr>
          <p:cNvPr id="11" name="Text 9"/>
          <p:cNvSpPr/>
          <p:nvPr/>
        </p:nvSpPr>
        <p:spPr>
          <a:xfrm>
            <a:off x="292608" y="2075688"/>
            <a:ext cx="1426464"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FlexCard</a:t>
            </a:r>
            <a:endParaRPr lang="en-US" sz="1050" dirty="0"/>
          </a:p>
        </p:txBody>
      </p:sp>
      <p:sp>
        <p:nvSpPr>
          <p:cNvPr id="12" name="Shape 10"/>
          <p:cNvSpPr/>
          <p:nvPr/>
        </p:nvSpPr>
        <p:spPr>
          <a:xfrm>
            <a:off x="1874520" y="2020824"/>
            <a:ext cx="2212848" cy="56692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1874520" y="2020824"/>
            <a:ext cx="54864" cy="566928"/>
          </a:xfrm>
          <a:prstGeom prst="rect">
            <a:avLst/>
          </a:prstGeom>
          <a:solidFill>
            <a:srgbClr val="0070D2"/>
          </a:solidFill>
          <a:ln/>
        </p:spPr>
        <p:txBody>
          <a:bodyPr/>
          <a:lstStyle/>
          <a:p>
            <a:endParaRPr lang="en-US"/>
          </a:p>
        </p:txBody>
      </p:sp>
      <p:sp>
        <p:nvSpPr>
          <p:cNvPr id="14" name="Text 12"/>
          <p:cNvSpPr/>
          <p:nvPr/>
        </p:nvSpPr>
        <p:spPr>
          <a:xfrm>
            <a:off x="2002536" y="2075688"/>
            <a:ext cx="2029968" cy="4572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Component loads</a:t>
            </a:r>
            <a:endParaRPr lang="en-US" sz="950" dirty="0"/>
          </a:p>
          <a:p>
            <a:pPr marL="0" indent="0">
              <a:buNone/>
            </a:pPr>
            <a:r>
              <a:rPr lang="en-US" sz="950" dirty="0">
                <a:solidFill>
                  <a:srgbClr val="334155"/>
                </a:solidFill>
                <a:latin typeface="Calibri" pitchFamily="34" charset="0"/>
                <a:ea typeface="Calibri" pitchFamily="34" charset="-122"/>
                <a:cs typeface="Calibri" pitchFamily="34" charset="-120"/>
              </a:rPr>
              <a:t>on page</a:t>
            </a:r>
            <a:endParaRPr lang="en-US" sz="950" dirty="0"/>
          </a:p>
        </p:txBody>
      </p:sp>
      <p:sp>
        <p:nvSpPr>
          <p:cNvPr id="15" name="Shape 13"/>
          <p:cNvSpPr/>
          <p:nvPr/>
        </p:nvSpPr>
        <p:spPr>
          <a:xfrm>
            <a:off x="4270248" y="2020824"/>
            <a:ext cx="2212848" cy="56692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4270248" y="2020824"/>
            <a:ext cx="54864" cy="566928"/>
          </a:xfrm>
          <a:prstGeom prst="rect">
            <a:avLst/>
          </a:prstGeom>
          <a:solidFill>
            <a:srgbClr val="0070D2"/>
          </a:solidFill>
          <a:ln/>
        </p:spPr>
        <p:txBody>
          <a:bodyPr/>
          <a:lstStyle/>
          <a:p>
            <a:endParaRPr lang="en-US"/>
          </a:p>
        </p:txBody>
      </p:sp>
      <p:sp>
        <p:nvSpPr>
          <p:cNvPr id="17" name="Text 15"/>
          <p:cNvSpPr/>
          <p:nvPr/>
        </p:nvSpPr>
        <p:spPr>
          <a:xfrm>
            <a:off x="4398264" y="2075688"/>
            <a:ext cx="2029968" cy="4572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Reads {recordId}</a:t>
            </a:r>
            <a:endParaRPr lang="en-US" sz="950" dirty="0"/>
          </a:p>
          <a:p>
            <a:pPr marL="0" indent="0">
              <a:buNone/>
            </a:pPr>
            <a:r>
              <a:rPr lang="en-US" sz="950" dirty="0">
                <a:solidFill>
                  <a:srgbClr val="334155"/>
                </a:solidFill>
                <a:latin typeface="Calibri" pitchFamily="34" charset="0"/>
                <a:ea typeface="Calibri" pitchFamily="34" charset="-122"/>
                <a:cs typeface="Calibri" pitchFamily="34" charset="-120"/>
              </a:rPr>
              <a:t>from URL context</a:t>
            </a:r>
            <a:endParaRPr lang="en-US" sz="950" dirty="0"/>
          </a:p>
        </p:txBody>
      </p:sp>
      <p:sp>
        <p:nvSpPr>
          <p:cNvPr id="18" name="Shape 16"/>
          <p:cNvSpPr/>
          <p:nvPr/>
        </p:nvSpPr>
        <p:spPr>
          <a:xfrm>
            <a:off x="274320" y="2752344"/>
            <a:ext cx="1463040" cy="713232"/>
          </a:xfrm>
          <a:prstGeom prst="rect">
            <a:avLst/>
          </a:prstGeom>
          <a:solidFill>
            <a:srgbClr val="028090"/>
          </a:solidFill>
          <a:ln/>
        </p:spPr>
        <p:txBody>
          <a:bodyPr/>
          <a:lstStyle/>
          <a:p>
            <a:endParaRPr lang="en-US"/>
          </a:p>
        </p:txBody>
      </p:sp>
      <p:sp>
        <p:nvSpPr>
          <p:cNvPr id="19" name="Text 17"/>
          <p:cNvSpPr/>
          <p:nvPr/>
        </p:nvSpPr>
        <p:spPr>
          <a:xfrm>
            <a:off x="292608" y="2880360"/>
            <a:ext cx="1426464"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DataRaptor Extract</a:t>
            </a:r>
            <a:endParaRPr lang="en-US" sz="1050" dirty="0"/>
          </a:p>
        </p:txBody>
      </p:sp>
      <p:sp>
        <p:nvSpPr>
          <p:cNvPr id="20" name="Shape 18"/>
          <p:cNvSpPr/>
          <p:nvPr/>
        </p:nvSpPr>
        <p:spPr>
          <a:xfrm>
            <a:off x="1874520" y="2825496"/>
            <a:ext cx="2212848" cy="56692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1874520" y="2825496"/>
            <a:ext cx="54864" cy="566928"/>
          </a:xfrm>
          <a:prstGeom prst="rect">
            <a:avLst/>
          </a:prstGeom>
          <a:solidFill>
            <a:srgbClr val="028090"/>
          </a:solidFill>
          <a:ln/>
        </p:spPr>
        <p:txBody>
          <a:bodyPr/>
          <a:lstStyle/>
          <a:p>
            <a:endParaRPr lang="en-US"/>
          </a:p>
        </p:txBody>
      </p:sp>
      <p:sp>
        <p:nvSpPr>
          <p:cNvPr id="22" name="Text 20"/>
          <p:cNvSpPr/>
          <p:nvPr/>
        </p:nvSpPr>
        <p:spPr>
          <a:xfrm>
            <a:off x="2002536" y="2880360"/>
            <a:ext cx="2029968" cy="4572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Receives {recordId}</a:t>
            </a:r>
            <a:endParaRPr lang="en-US" sz="950" dirty="0"/>
          </a:p>
        </p:txBody>
      </p:sp>
      <p:sp>
        <p:nvSpPr>
          <p:cNvPr id="23" name="Shape 21"/>
          <p:cNvSpPr/>
          <p:nvPr/>
        </p:nvSpPr>
        <p:spPr>
          <a:xfrm>
            <a:off x="4270248" y="2825496"/>
            <a:ext cx="2212848" cy="56692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4" name="Shape 22"/>
          <p:cNvSpPr/>
          <p:nvPr/>
        </p:nvSpPr>
        <p:spPr>
          <a:xfrm>
            <a:off x="4270248" y="2825496"/>
            <a:ext cx="54864" cy="566928"/>
          </a:xfrm>
          <a:prstGeom prst="rect">
            <a:avLst/>
          </a:prstGeom>
          <a:solidFill>
            <a:srgbClr val="028090"/>
          </a:solidFill>
          <a:ln/>
        </p:spPr>
        <p:txBody>
          <a:bodyPr/>
          <a:lstStyle/>
          <a:p>
            <a:endParaRPr lang="en-US"/>
          </a:p>
        </p:txBody>
      </p:sp>
      <p:sp>
        <p:nvSpPr>
          <p:cNvPr id="25" name="Text 23"/>
          <p:cNvSpPr/>
          <p:nvPr/>
        </p:nvSpPr>
        <p:spPr>
          <a:xfrm>
            <a:off x="4398264" y="2880360"/>
            <a:ext cx="2029968" cy="4572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Queries FinancialAccount__c</a:t>
            </a:r>
            <a:endParaRPr lang="en-US" sz="950" dirty="0"/>
          </a:p>
        </p:txBody>
      </p:sp>
      <p:sp>
        <p:nvSpPr>
          <p:cNvPr id="26" name="Shape 24"/>
          <p:cNvSpPr/>
          <p:nvPr/>
        </p:nvSpPr>
        <p:spPr>
          <a:xfrm>
            <a:off x="6665976" y="2825496"/>
            <a:ext cx="2212848" cy="56692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7" name="Shape 25"/>
          <p:cNvSpPr/>
          <p:nvPr/>
        </p:nvSpPr>
        <p:spPr>
          <a:xfrm>
            <a:off x="6665976" y="2825496"/>
            <a:ext cx="54864" cy="566928"/>
          </a:xfrm>
          <a:prstGeom prst="rect">
            <a:avLst/>
          </a:prstGeom>
          <a:solidFill>
            <a:srgbClr val="028090"/>
          </a:solidFill>
          <a:ln/>
        </p:spPr>
        <p:txBody>
          <a:bodyPr/>
          <a:lstStyle/>
          <a:p>
            <a:endParaRPr lang="en-US"/>
          </a:p>
        </p:txBody>
      </p:sp>
      <p:sp>
        <p:nvSpPr>
          <p:cNvPr id="28" name="Text 26"/>
          <p:cNvSpPr/>
          <p:nvPr/>
        </p:nvSpPr>
        <p:spPr>
          <a:xfrm>
            <a:off x="6793992" y="2880360"/>
            <a:ext cx="2029968" cy="4572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Maps fields to JSON</a:t>
            </a:r>
            <a:endParaRPr lang="en-US" sz="950" dirty="0"/>
          </a:p>
        </p:txBody>
      </p:sp>
      <p:sp>
        <p:nvSpPr>
          <p:cNvPr id="29" name="Shape 27"/>
          <p:cNvSpPr/>
          <p:nvPr/>
        </p:nvSpPr>
        <p:spPr>
          <a:xfrm>
            <a:off x="274320" y="3557016"/>
            <a:ext cx="1463040" cy="713232"/>
          </a:xfrm>
          <a:prstGeom prst="rect">
            <a:avLst/>
          </a:prstGeom>
          <a:solidFill>
            <a:srgbClr val="04844B"/>
          </a:solidFill>
          <a:ln/>
        </p:spPr>
        <p:txBody>
          <a:bodyPr/>
          <a:lstStyle/>
          <a:p>
            <a:endParaRPr lang="en-US"/>
          </a:p>
        </p:txBody>
      </p:sp>
      <p:sp>
        <p:nvSpPr>
          <p:cNvPr id="30" name="Text 28"/>
          <p:cNvSpPr/>
          <p:nvPr/>
        </p:nvSpPr>
        <p:spPr>
          <a:xfrm>
            <a:off x="292608" y="3685032"/>
            <a:ext cx="1426464"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FSC Data Layer</a:t>
            </a:r>
            <a:endParaRPr lang="en-US" sz="1050" dirty="0"/>
          </a:p>
        </p:txBody>
      </p:sp>
      <p:sp>
        <p:nvSpPr>
          <p:cNvPr id="31" name="Shape 29"/>
          <p:cNvSpPr/>
          <p:nvPr/>
        </p:nvSpPr>
        <p:spPr>
          <a:xfrm>
            <a:off x="1874520" y="3630168"/>
            <a:ext cx="2212848" cy="56692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32" name="Shape 30"/>
          <p:cNvSpPr/>
          <p:nvPr/>
        </p:nvSpPr>
        <p:spPr>
          <a:xfrm>
            <a:off x="1874520" y="3630168"/>
            <a:ext cx="54864" cy="566928"/>
          </a:xfrm>
          <a:prstGeom prst="rect">
            <a:avLst/>
          </a:prstGeom>
          <a:solidFill>
            <a:srgbClr val="04844B"/>
          </a:solidFill>
          <a:ln/>
        </p:spPr>
        <p:txBody>
          <a:bodyPr/>
          <a:lstStyle/>
          <a:p>
            <a:endParaRPr lang="en-US"/>
          </a:p>
        </p:txBody>
      </p:sp>
      <p:sp>
        <p:nvSpPr>
          <p:cNvPr id="33" name="Text 31"/>
          <p:cNvSpPr/>
          <p:nvPr/>
        </p:nvSpPr>
        <p:spPr>
          <a:xfrm>
            <a:off x="2002536" y="3685032"/>
            <a:ext cx="2029968" cy="4572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Returns:</a:t>
            </a:r>
            <a:endParaRPr lang="en-US" sz="950" dirty="0"/>
          </a:p>
          <a:p>
            <a:pPr marL="0" indent="0">
              <a:buNone/>
            </a:pPr>
            <a:r>
              <a:rPr lang="en-US" sz="950" dirty="0">
                <a:solidFill>
                  <a:srgbClr val="334155"/>
                </a:solidFill>
                <a:latin typeface="Calibri" pitchFamily="34" charset="0"/>
                <a:ea typeface="Calibri" pitchFamily="34" charset="-122"/>
                <a:cs typeface="Calibri" pitchFamily="34" charset="-120"/>
              </a:rPr>
              <a:t>Name, Balance, Status,</a:t>
            </a:r>
            <a:endParaRPr lang="en-US" sz="950" dirty="0"/>
          </a:p>
          <a:p>
            <a:pPr marL="0" indent="0">
              <a:buNone/>
            </a:pPr>
            <a:r>
              <a:rPr lang="en-US" sz="950" dirty="0">
                <a:solidFill>
                  <a:srgbClr val="334155"/>
                </a:solidFill>
                <a:latin typeface="Calibri" pitchFamily="34" charset="0"/>
                <a:ea typeface="Calibri" pitchFamily="34" charset="-122"/>
                <a:cs typeface="Calibri" pitchFamily="34" charset="-120"/>
              </a:rPr>
              <a:t>Type, Owner, OpenDate</a:t>
            </a:r>
            <a:endParaRPr lang="en-US" sz="950" dirty="0"/>
          </a:p>
        </p:txBody>
      </p:sp>
      <p:sp>
        <p:nvSpPr>
          <p:cNvPr id="34" name="Shape 32"/>
          <p:cNvSpPr/>
          <p:nvPr/>
        </p:nvSpPr>
        <p:spPr>
          <a:xfrm>
            <a:off x="274320" y="4361688"/>
            <a:ext cx="1463040" cy="713232"/>
          </a:xfrm>
          <a:prstGeom prst="rect">
            <a:avLst/>
          </a:prstGeom>
          <a:solidFill>
            <a:srgbClr val="7C3AED"/>
          </a:solidFill>
          <a:ln/>
        </p:spPr>
        <p:txBody>
          <a:bodyPr/>
          <a:lstStyle/>
          <a:p>
            <a:endParaRPr lang="en-US"/>
          </a:p>
        </p:txBody>
      </p:sp>
      <p:sp>
        <p:nvSpPr>
          <p:cNvPr id="35" name="Text 33"/>
          <p:cNvSpPr/>
          <p:nvPr/>
        </p:nvSpPr>
        <p:spPr>
          <a:xfrm>
            <a:off x="292608" y="4489704"/>
            <a:ext cx="1426464"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FlexCard Display</a:t>
            </a:r>
            <a:endParaRPr lang="en-US" sz="1050" dirty="0"/>
          </a:p>
        </p:txBody>
      </p:sp>
      <p:sp>
        <p:nvSpPr>
          <p:cNvPr id="36" name="Shape 34"/>
          <p:cNvSpPr/>
          <p:nvPr/>
        </p:nvSpPr>
        <p:spPr>
          <a:xfrm>
            <a:off x="1874520" y="4434840"/>
            <a:ext cx="2212848" cy="56692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37" name="Shape 35"/>
          <p:cNvSpPr/>
          <p:nvPr/>
        </p:nvSpPr>
        <p:spPr>
          <a:xfrm>
            <a:off x="1874520" y="4434840"/>
            <a:ext cx="54864" cy="566928"/>
          </a:xfrm>
          <a:prstGeom prst="rect">
            <a:avLst/>
          </a:prstGeom>
          <a:solidFill>
            <a:srgbClr val="7C3AED"/>
          </a:solidFill>
          <a:ln/>
        </p:spPr>
        <p:txBody>
          <a:bodyPr/>
          <a:lstStyle/>
          <a:p>
            <a:endParaRPr lang="en-US"/>
          </a:p>
        </p:txBody>
      </p:sp>
      <p:sp>
        <p:nvSpPr>
          <p:cNvPr id="38" name="Text 36"/>
          <p:cNvSpPr/>
          <p:nvPr/>
        </p:nvSpPr>
        <p:spPr>
          <a:xfrm>
            <a:off x="2002536" y="4489704"/>
            <a:ext cx="2029968" cy="4572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Populates merge fields</a:t>
            </a:r>
            <a:endParaRPr lang="en-US" sz="950" dirty="0"/>
          </a:p>
        </p:txBody>
      </p:sp>
      <p:sp>
        <p:nvSpPr>
          <p:cNvPr id="39" name="Shape 37"/>
          <p:cNvSpPr/>
          <p:nvPr/>
        </p:nvSpPr>
        <p:spPr>
          <a:xfrm>
            <a:off x="4270248" y="4434840"/>
            <a:ext cx="2212848" cy="56692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40" name="Shape 38"/>
          <p:cNvSpPr/>
          <p:nvPr/>
        </p:nvSpPr>
        <p:spPr>
          <a:xfrm>
            <a:off x="4270248" y="4434840"/>
            <a:ext cx="54864" cy="566928"/>
          </a:xfrm>
          <a:prstGeom prst="rect">
            <a:avLst/>
          </a:prstGeom>
          <a:solidFill>
            <a:srgbClr val="7C3AED"/>
          </a:solidFill>
          <a:ln/>
        </p:spPr>
        <p:txBody>
          <a:bodyPr/>
          <a:lstStyle/>
          <a:p>
            <a:endParaRPr lang="en-US"/>
          </a:p>
        </p:txBody>
      </p:sp>
      <p:sp>
        <p:nvSpPr>
          <p:cNvPr id="41" name="Text 39"/>
          <p:cNvSpPr/>
          <p:nvPr/>
        </p:nvSpPr>
        <p:spPr>
          <a:xfrm>
            <a:off x="4398264" y="4489704"/>
            <a:ext cx="2029968" cy="4572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Applies conditional</a:t>
            </a:r>
            <a:endParaRPr lang="en-US" sz="950" dirty="0"/>
          </a:p>
          <a:p>
            <a:pPr marL="0" indent="0">
              <a:buNone/>
            </a:pPr>
            <a:r>
              <a:rPr lang="en-US" sz="950" dirty="0">
                <a:solidFill>
                  <a:srgbClr val="334155"/>
                </a:solidFill>
                <a:latin typeface="Calibri" pitchFamily="34" charset="0"/>
                <a:ea typeface="Calibri" pitchFamily="34" charset="-122"/>
                <a:cs typeface="Calibri" pitchFamily="34" charset="-120"/>
              </a:rPr>
              <a:t>badge styling</a:t>
            </a:r>
            <a:endParaRPr lang="en-US" sz="950" dirty="0"/>
          </a:p>
        </p:txBody>
      </p:sp>
      <p:sp>
        <p:nvSpPr>
          <p:cNvPr id="42" name="Shape 40"/>
          <p:cNvSpPr/>
          <p:nvPr/>
        </p:nvSpPr>
        <p:spPr>
          <a:xfrm>
            <a:off x="6665976" y="4434840"/>
            <a:ext cx="2212848" cy="56692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43" name="Shape 41"/>
          <p:cNvSpPr/>
          <p:nvPr/>
        </p:nvSpPr>
        <p:spPr>
          <a:xfrm>
            <a:off x="6665976" y="4434840"/>
            <a:ext cx="54864" cy="566928"/>
          </a:xfrm>
          <a:prstGeom prst="rect">
            <a:avLst/>
          </a:prstGeom>
          <a:solidFill>
            <a:srgbClr val="7C3AED"/>
          </a:solidFill>
          <a:ln/>
        </p:spPr>
        <p:txBody>
          <a:bodyPr/>
          <a:lstStyle/>
          <a:p>
            <a:endParaRPr lang="en-US"/>
          </a:p>
        </p:txBody>
      </p:sp>
      <p:sp>
        <p:nvSpPr>
          <p:cNvPr id="44" name="Text 42"/>
          <p:cNvSpPr/>
          <p:nvPr/>
        </p:nvSpPr>
        <p:spPr>
          <a:xfrm>
            <a:off x="6793992" y="4489704"/>
            <a:ext cx="2029968" cy="4572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Renders on record page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5EC4FAED17FD4FA002B715A7CB3129" ma:contentTypeVersion="19" ma:contentTypeDescription="Create a new document." ma:contentTypeScope="" ma:versionID="fc607e3a73fbd72e1e6558e9065345a3">
  <xsd:schema xmlns:xsd="http://www.w3.org/2001/XMLSchema" xmlns:xs="http://www.w3.org/2001/XMLSchema" xmlns:p="http://schemas.microsoft.com/office/2006/metadata/properties" xmlns:ns2="92e4be8c-5aca-45ec-8e17-deab1f90d7c8" xmlns:ns3="92b31412-8c8f-44f1-a883-141cef3f34cc" targetNamespace="http://schemas.microsoft.com/office/2006/metadata/properties" ma:root="true" ma:fieldsID="33e2405e61dc50088f30f9e2951fba88" ns2:_="" ns3:_="">
    <xsd:import namespace="92e4be8c-5aca-45ec-8e17-deab1f90d7c8"/>
    <xsd:import namespace="92b31412-8c8f-44f1-a883-141cef3f34c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Duratio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e4be8c-5aca-45ec-8e17-deab1f90d7c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795d2f5-1cbf-45cb-9409-0dc909a94953}" ma:internalName="TaxCatchAll" ma:showField="CatchAllData" ma:web="92e4be8c-5aca-45ec-8e17-deab1f90d7c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2b31412-8c8f-44f1-a883-141cef3f34c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Duration" ma:index="19" nillable="true" ma:displayName="Duration" ma:internalName="Duration">
      <xsd:simpleType>
        <xsd:restriction base="dms:Text">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c4206cbd-ed67-49c0-b8a0-af32ee4f262e" ma:termSetId="09814cd3-568e-fe90-9814-8d621ff8fb84" ma:anchorId="fba54fb3-c3e1-fe81-a776-ca4b69148c4d" ma:open="true" ma:isKeyword="false">
      <xsd:complexType>
        <xsd:sequence>
          <xsd:element ref="pc:Terms" minOccurs="0" maxOccurs="1"/>
        </xsd:sequence>
      </xsd:complex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2b31412-8c8f-44f1-a883-141cef3f34cc">
      <Terms xmlns="http://schemas.microsoft.com/office/infopath/2007/PartnerControls"/>
    </lcf76f155ced4ddcb4097134ff3c332f>
    <TaxCatchAll xmlns="92e4be8c-5aca-45ec-8e17-deab1f90d7c8" xsi:nil="true"/>
    <Duration xmlns="92b31412-8c8f-44f1-a883-141cef3f34cc" xsi:nil="true"/>
    <SharedWithUsers xmlns="92e4be8c-5aca-45ec-8e17-deab1f90d7c8">
      <UserInfo>
        <DisplayName/>
        <AccountId xsi:nil="true"/>
        <AccountType/>
      </UserInfo>
    </SharedWithUsers>
  </documentManagement>
</p:properties>
</file>

<file path=customXml/itemProps1.xml><?xml version="1.0" encoding="utf-8"?>
<ds:datastoreItem xmlns:ds="http://schemas.openxmlformats.org/officeDocument/2006/customXml" ds:itemID="{551A016C-1273-402B-911A-7D9D59140EAD}"/>
</file>

<file path=customXml/itemProps2.xml><?xml version="1.0" encoding="utf-8"?>
<ds:datastoreItem xmlns:ds="http://schemas.openxmlformats.org/officeDocument/2006/customXml" ds:itemID="{D1D09FB7-4523-4264-88B2-D072252F082E}"/>
</file>

<file path=customXml/itemProps3.xml><?xml version="1.0" encoding="utf-8"?>
<ds:datastoreItem xmlns:ds="http://schemas.openxmlformats.org/officeDocument/2006/customXml" ds:itemID="{27C78CD7-2D81-49B4-81D4-A396D01B60BD}"/>
</file>

<file path=docProps/app.xml><?xml version="1.0" encoding="utf-8"?>
<Properties xmlns="http://schemas.openxmlformats.org/officeDocument/2006/extended-properties" xmlns:vt="http://schemas.openxmlformats.org/officeDocument/2006/docPropsVTypes">
  <TotalTime>4</TotalTime>
  <Words>810</Words>
  <Application>Microsoft Office PowerPoint</Application>
  <PresentationFormat>On-screen Show (16:9)</PresentationFormat>
  <Paragraphs>158</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PptxGenJS Presentation</dc:subject>
  <dc:creator>PptxGenJS</dc:creator>
  <cp:lastModifiedBy>Sim Aulakh</cp:lastModifiedBy>
  <cp:revision>1</cp:revision>
  <dcterms:created xsi:type="dcterms:W3CDTF">2026-03-02T22:43:33Z</dcterms:created>
  <dcterms:modified xsi:type="dcterms:W3CDTF">2026-03-02T22:50:22Z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0x010100AF5EC4FAED17FD4FA002B715A7CB3129</vt:lpwstr>
  </property>
  <property fmtid="{D5CDD505-2E9C-101B-9397-08002B2CF9AE}" pid="3" name="Order">
    <vt:r8>10733500</vt:r8>
  </property>
  <property fmtid="{D5CDD505-2E9C-101B-9397-08002B2CF9AE}" pid="4" name="TriggerFlowInfo">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_ExtendedDescription">
    <vt:lpwstr/>
  </property>
</Properties>
</file>