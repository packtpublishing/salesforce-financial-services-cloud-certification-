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2" r:id="rId6"/>
    <p:sldId id="265" r:id="rId7"/>
    <p:sldId id="266" r:id="rId8"/>
    <p:sldId id="268" r:id="rId9"/>
    <p:sldId id="26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44F005-4D9E-47A4-B44F-E2AE5A62C423}" v="22" dt="2026-03-10T12:28:53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2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undo custSel addSld delSld modSld">
      <pc:chgData name="Sim Aulakh" userId="d6babfaf87fe36d4" providerId="LiveId" clId="{B442A88C-B6CB-4329-AF62-B197A214B4A4}" dt="2026-03-10T12:34:13.561" v="155" actId="47"/>
      <pc:docMkLst>
        <pc:docMk/>
      </pc:docMkLst>
      <pc:sldChg chg="delSp modSp mod">
        <pc:chgData name="Sim Aulakh" userId="d6babfaf87fe36d4" providerId="LiveId" clId="{B442A88C-B6CB-4329-AF62-B197A214B4A4}" dt="2026-03-10T12:11:30.669" v="1" actId="6549"/>
        <pc:sldMkLst>
          <pc:docMk/>
          <pc:sldMk cId="0" sldId="256"/>
        </pc:sldMkLst>
        <pc:spChg chg="del">
          <ac:chgData name="Sim Aulakh" userId="d6babfaf87fe36d4" providerId="LiveId" clId="{B442A88C-B6CB-4329-AF62-B197A214B4A4}" dt="2026-03-10T12:11:28.105" v="0" actId="47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Sim Aulakh" userId="d6babfaf87fe36d4" providerId="LiveId" clId="{B442A88C-B6CB-4329-AF62-B197A214B4A4}" dt="2026-03-10T12:11:30.669" v="1" actId="6549"/>
          <ac:spMkLst>
            <pc:docMk/>
            <pc:sldMk cId="0" sldId="256"/>
            <ac:spMk id="22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10T12:11:40.278" v="2" actId="47"/>
        <pc:sldMkLst>
          <pc:docMk/>
          <pc:sldMk cId="0" sldId="257"/>
        </pc:sldMkLst>
      </pc:sldChg>
      <pc:sldChg chg="addSp delSp modSp mod">
        <pc:chgData name="Sim Aulakh" userId="d6babfaf87fe36d4" providerId="LiveId" clId="{B442A88C-B6CB-4329-AF62-B197A214B4A4}" dt="2026-03-10T12:13:50.449" v="24" actId="207"/>
        <pc:sldMkLst>
          <pc:docMk/>
          <pc:sldMk cId="0" sldId="258"/>
        </pc:sldMkLst>
        <pc:spChg chg="add del mod">
          <ac:chgData name="Sim Aulakh" userId="d6babfaf87fe36d4" providerId="LiveId" clId="{B442A88C-B6CB-4329-AF62-B197A214B4A4}" dt="2026-03-10T12:13:17.545" v="19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Sim Aulakh" userId="d6babfaf87fe36d4" providerId="LiveId" clId="{B442A88C-B6CB-4329-AF62-B197A214B4A4}" dt="2026-03-10T12:13:50.449" v="24" actId="207"/>
          <ac:spMkLst>
            <pc:docMk/>
            <pc:sldMk cId="0" sldId="258"/>
            <ac:spMk id="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9.590" v="4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8" creationId="{00000000-0000-0000-0000-000000000000}"/>
          </ac:spMkLst>
        </pc:spChg>
        <pc:spChg chg="add del">
          <ac:chgData name="Sim Aulakh" userId="d6babfaf87fe36d4" providerId="LiveId" clId="{B442A88C-B6CB-4329-AF62-B197A214B4A4}" dt="2026-03-10T12:12:53.183" v="10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4" creationId="{00000000-0000-0000-0000-000000000000}"/>
          </ac:spMkLst>
        </pc:spChg>
        <pc:spChg chg="add del">
          <ac:chgData name="Sim Aulakh" userId="d6babfaf87fe36d4" providerId="LiveId" clId="{B442A88C-B6CB-4329-AF62-B197A214B4A4}" dt="2026-03-10T12:12:53.183" v="10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31.196" v="5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Sim Aulakh" userId="d6babfaf87fe36d4" providerId="LiveId" clId="{B442A88C-B6CB-4329-AF62-B197A214B4A4}" dt="2026-03-10T12:12:53.183" v="10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12:27.438" v="3" actId="478"/>
          <ac:spMkLst>
            <pc:docMk/>
            <pc:sldMk cId="0" sldId="258"/>
            <ac:spMk id="24" creationId="{00000000-0000-0000-0000-000000000000}"/>
          </ac:spMkLst>
        </pc:spChg>
        <pc:picChg chg="del">
          <ac:chgData name="Sim Aulakh" userId="d6babfaf87fe36d4" providerId="LiveId" clId="{B442A88C-B6CB-4329-AF62-B197A214B4A4}" dt="2026-03-10T12:12:32.955" v="6" actId="478"/>
          <ac:picMkLst>
            <pc:docMk/>
            <pc:sldMk cId="0" sldId="258"/>
            <ac:picMk id="16" creationId="{00000000-0000-0000-0000-000000000000}"/>
          </ac:picMkLst>
        </pc:picChg>
      </pc:sldChg>
      <pc:sldChg chg="delSp modSp mod">
        <pc:chgData name="Sim Aulakh" userId="d6babfaf87fe36d4" providerId="LiveId" clId="{B442A88C-B6CB-4329-AF62-B197A214B4A4}" dt="2026-03-10T12:21:52.799" v="88" actId="20577"/>
        <pc:sldMkLst>
          <pc:docMk/>
          <pc:sldMk cId="0" sldId="259"/>
        </pc:sldMkLst>
        <pc:spChg chg="mod">
          <ac:chgData name="Sim Aulakh" userId="d6babfaf87fe36d4" providerId="LiveId" clId="{B442A88C-B6CB-4329-AF62-B197A214B4A4}" dt="2026-03-10T12:17:32.471" v="28" actId="113"/>
          <ac:spMkLst>
            <pc:docMk/>
            <pc:sldMk cId="0" sldId="259"/>
            <ac:spMk id="3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08.885" v="7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15.074" v="82" actId="404"/>
          <ac:spMkLst>
            <pc:docMk/>
            <pc:sldMk cId="0" sldId="259"/>
            <ac:spMk id="7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15.074" v="82" actId="404"/>
          <ac:spMkLst>
            <pc:docMk/>
            <pc:sldMk cId="0" sldId="259"/>
            <ac:spMk id="8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0:45.929" v="74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52.799" v="88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25.027" v="85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0:50.244" v="75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41.780" v="87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1:35.721" v="86" actId="255"/>
          <ac:spMkLst>
            <pc:docMk/>
            <pc:sldMk cId="0" sldId="259"/>
            <ac:spMk id="1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0:32.641" v="71" actId="6549"/>
          <ac:spMkLst>
            <pc:docMk/>
            <pc:sldMk cId="0" sldId="259"/>
            <ac:spMk id="22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35.561" v="72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35.561" v="72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3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0:28.627" v="69" actId="478"/>
          <ac:spMkLst>
            <pc:docMk/>
            <pc:sldMk cId="0" sldId="259"/>
            <ac:spMk id="32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10T12:22:04.551" v="89" actId="47"/>
        <pc:sldMkLst>
          <pc:docMk/>
          <pc:sldMk cId="0" sldId="260"/>
        </pc:sldMkLst>
      </pc:sldChg>
      <pc:sldChg chg="delSp modSp mod">
        <pc:chgData name="Sim Aulakh" userId="d6babfaf87fe36d4" providerId="LiveId" clId="{B442A88C-B6CB-4329-AF62-B197A214B4A4}" dt="2026-03-10T12:25:39.987" v="109" actId="20577"/>
        <pc:sldMkLst>
          <pc:docMk/>
          <pc:sldMk cId="0" sldId="261"/>
        </pc:sldMkLst>
        <pc:spChg chg="mod">
          <ac:chgData name="Sim Aulakh" userId="d6babfaf87fe36d4" providerId="LiveId" clId="{B442A88C-B6CB-4329-AF62-B197A214B4A4}" dt="2026-03-10T12:25:30.054" v="107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5:30.054" v="107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3:32.323" v="93"/>
          <ac:spMkLst>
            <pc:docMk/>
            <pc:sldMk cId="0" sldId="261"/>
            <ac:spMk id="8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3:43.306" v="94"/>
          <ac:spMkLst>
            <pc:docMk/>
            <pc:sldMk cId="0" sldId="261"/>
            <ac:spMk id="9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3:52.789" v="9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4:08.049" v="9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4:15.818" v="9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4:24.756" v="9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4:30.701" v="99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4:48.827" v="100"/>
          <ac:spMkLst>
            <pc:docMk/>
            <pc:sldMk cId="0" sldId="261"/>
            <ac:spMk id="2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14.925" v="90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14.925" v="90" actId="478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5:39.987" v="109" actId="20577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30.476" v="92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30.476" v="92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4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30.476" v="92" actId="478"/>
          <ac:spMkLst>
            <pc:docMk/>
            <pc:sldMk cId="0" sldId="261"/>
            <ac:spMk id="3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23:25.941" v="91" actId="478"/>
          <ac:spMkLst>
            <pc:docMk/>
            <pc:sldMk cId="0" sldId="261"/>
            <ac:spMk id="39" creationId="{00000000-0000-0000-0000-000000000000}"/>
          </ac:spMkLst>
        </pc:spChg>
        <pc:picChg chg="del">
          <ac:chgData name="Sim Aulakh" userId="d6babfaf87fe36d4" providerId="LiveId" clId="{B442A88C-B6CB-4329-AF62-B197A214B4A4}" dt="2026-03-10T12:23:25.941" v="91" actId="478"/>
          <ac:picMkLst>
            <pc:docMk/>
            <pc:sldMk cId="0" sldId="261"/>
            <ac:picMk id="29" creationId="{00000000-0000-0000-0000-000000000000}"/>
          </ac:picMkLst>
        </pc:picChg>
        <pc:picChg chg="del">
          <ac:chgData name="Sim Aulakh" userId="d6babfaf87fe36d4" providerId="LiveId" clId="{B442A88C-B6CB-4329-AF62-B197A214B4A4}" dt="2026-03-10T12:23:25.941" v="91" actId="478"/>
          <ac:picMkLst>
            <pc:docMk/>
            <pc:sldMk cId="0" sldId="261"/>
            <ac:picMk id="33" creationId="{00000000-0000-0000-0000-000000000000}"/>
          </ac:picMkLst>
        </pc:picChg>
      </pc:sldChg>
      <pc:sldChg chg="addSp modSp mod">
        <pc:chgData name="Sim Aulakh" userId="d6babfaf87fe36d4" providerId="LiveId" clId="{B442A88C-B6CB-4329-AF62-B197A214B4A4}" dt="2026-03-10T12:27:44.815" v="125" actId="113"/>
        <pc:sldMkLst>
          <pc:docMk/>
          <pc:sldMk cId="0" sldId="262"/>
        </pc:sldMkLst>
        <pc:spChg chg="mod">
          <ac:chgData name="Sim Aulakh" userId="d6babfaf87fe36d4" providerId="LiveId" clId="{B442A88C-B6CB-4329-AF62-B197A214B4A4}" dt="2026-03-10T12:25:55.621" v="111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5:53.922" v="110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6:05.124" v="113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6:40.071" v="119" actId="403"/>
          <ac:spMkLst>
            <pc:docMk/>
            <pc:sldMk cId="0" sldId="262"/>
            <ac:spMk id="9" creationId="{00000000-0000-0000-0000-000000000000}"/>
          </ac:spMkLst>
        </pc:spChg>
        <pc:graphicFrameChg chg="add mod modGraphic">
          <ac:chgData name="Sim Aulakh" userId="d6babfaf87fe36d4" providerId="LiveId" clId="{B442A88C-B6CB-4329-AF62-B197A214B4A4}" dt="2026-03-10T12:27:44.815" v="125" actId="113"/>
          <ac:graphicFrameMkLst>
            <pc:docMk/>
            <pc:sldMk cId="0" sldId="262"/>
            <ac:graphicFrameMk id="10" creationId="{96DDF136-BC94-1D57-8056-3046ABB27952}"/>
          </ac:graphicFrameMkLst>
        </pc:graphicFrameChg>
      </pc:sldChg>
      <pc:sldChg chg="delSp del mod">
        <pc:chgData name="Sim Aulakh" userId="d6babfaf87fe36d4" providerId="LiveId" clId="{B442A88C-B6CB-4329-AF62-B197A214B4A4}" dt="2026-03-10T12:27:59.638" v="127" actId="47"/>
        <pc:sldMkLst>
          <pc:docMk/>
          <pc:sldMk cId="0" sldId="263"/>
        </pc:sldMkLst>
        <pc:spChg chg="del">
          <ac:chgData name="Sim Aulakh" userId="d6babfaf87fe36d4" providerId="LiveId" clId="{B442A88C-B6CB-4329-AF62-B197A214B4A4}" dt="2026-03-10T12:27:57.245" v="126" actId="478"/>
          <ac:spMkLst>
            <pc:docMk/>
            <pc:sldMk cId="0" sldId="263"/>
            <ac:spMk id="23" creationId="{00000000-0000-0000-0000-000000000000}"/>
          </ac:spMkLst>
        </pc:spChg>
      </pc:sldChg>
      <pc:sldChg chg="add del">
        <pc:chgData name="Sim Aulakh" userId="d6babfaf87fe36d4" providerId="LiveId" clId="{B442A88C-B6CB-4329-AF62-B197A214B4A4}" dt="2026-03-10T12:28:16.369" v="132" actId="47"/>
        <pc:sldMkLst>
          <pc:docMk/>
          <pc:sldMk cId="0" sldId="264"/>
        </pc:sldMkLst>
      </pc:sldChg>
      <pc:sldChg chg="modSp mod">
        <pc:chgData name="Sim Aulakh" userId="d6babfaf87fe36d4" providerId="LiveId" clId="{B442A88C-B6CB-4329-AF62-B197A214B4A4}" dt="2026-03-10T12:29:17.586" v="142" actId="14100"/>
        <pc:sldMkLst>
          <pc:docMk/>
          <pc:sldMk cId="0" sldId="265"/>
        </pc:sldMkLst>
        <pc:spChg chg="mod">
          <ac:chgData name="Sim Aulakh" userId="d6babfaf87fe36d4" providerId="LiveId" clId="{B442A88C-B6CB-4329-AF62-B197A214B4A4}" dt="2026-03-10T12:29:06.528" v="13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8:22.370" v="134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8:20.500" v="133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9:10.545" v="140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im Aulakh" userId="d6babfaf87fe36d4" providerId="LiveId" clId="{B442A88C-B6CB-4329-AF62-B197A214B4A4}" dt="2026-03-10T12:29:17.586" v="142" actId="14100"/>
          <ac:spMkLst>
            <pc:docMk/>
            <pc:sldMk cId="0" sldId="265"/>
            <ac:spMk id="9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10T12:34:13.561" v="155" actId="47"/>
        <pc:sldMkLst>
          <pc:docMk/>
          <pc:sldMk cId="0" sldId="267"/>
        </pc:sldMkLst>
      </pc:sldChg>
      <pc:sldChg chg="delSp modSp mod">
        <pc:chgData name="Sim Aulakh" userId="d6babfaf87fe36d4" providerId="LiveId" clId="{B442A88C-B6CB-4329-AF62-B197A214B4A4}" dt="2026-03-10T12:33:39.643" v="154" actId="20577"/>
        <pc:sldMkLst>
          <pc:docMk/>
          <pc:sldMk cId="0" sldId="269"/>
        </pc:sldMkLst>
        <pc:spChg chg="mod">
          <ac:chgData name="Sim Aulakh" userId="d6babfaf87fe36d4" providerId="LiveId" clId="{B442A88C-B6CB-4329-AF62-B197A214B4A4}" dt="2026-03-10T12:33:39.643" v="154" actId="20577"/>
          <ac:spMkLst>
            <pc:docMk/>
            <pc:sldMk cId="0" sldId="269"/>
            <ac:spMk id="3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2:33.424" v="147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1:40.324" v="143" actId="478"/>
          <ac:spMkLst>
            <pc:docMk/>
            <pc:sldMk cId="0" sldId="269"/>
            <ac:spMk id="3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2:30.953" v="146" actId="478"/>
          <ac:spMkLst>
            <pc:docMk/>
            <pc:sldMk cId="0" sldId="269"/>
            <ac:spMk id="3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1:40.324" v="143" actId="478"/>
          <ac:spMkLst>
            <pc:docMk/>
            <pc:sldMk cId="0" sldId="269"/>
            <ac:spMk id="39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19.235" v="150" actId="478"/>
          <ac:spMkLst>
            <pc:docMk/>
            <pc:sldMk cId="0" sldId="269"/>
            <ac:spMk id="40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32.192" v="153" actId="478"/>
          <ac:spMkLst>
            <pc:docMk/>
            <pc:sldMk cId="0" sldId="269"/>
            <ac:spMk id="4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32.192" v="153" actId="478"/>
          <ac:spMkLst>
            <pc:docMk/>
            <pc:sldMk cId="0" sldId="269"/>
            <ac:spMk id="43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32.192" v="153" actId="478"/>
          <ac:spMkLst>
            <pc:docMk/>
            <pc:sldMk cId="0" sldId="269"/>
            <ac:spMk id="44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32.192" v="153" actId="478"/>
          <ac:spMkLst>
            <pc:docMk/>
            <pc:sldMk cId="0" sldId="269"/>
            <ac:spMk id="4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14.048" v="149" actId="478"/>
          <ac:spMkLst>
            <pc:docMk/>
            <pc:sldMk cId="0" sldId="269"/>
            <ac:spMk id="4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4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19.235" v="150" actId="478"/>
          <ac:spMkLst>
            <pc:docMk/>
            <pc:sldMk cId="0" sldId="269"/>
            <ac:spMk id="48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49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14.048" v="149" actId="478"/>
          <ac:spMkLst>
            <pc:docMk/>
            <pc:sldMk cId="0" sldId="269"/>
            <ac:spMk id="50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51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24.438" v="151" actId="478"/>
          <ac:spMkLst>
            <pc:docMk/>
            <pc:sldMk cId="0" sldId="269"/>
            <ac:spMk id="52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53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26.411" v="152" actId="478"/>
          <ac:spMkLst>
            <pc:docMk/>
            <pc:sldMk cId="0" sldId="269"/>
            <ac:spMk id="54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55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14.048" v="149" actId="478"/>
          <ac:spMkLst>
            <pc:docMk/>
            <pc:sldMk cId="0" sldId="269"/>
            <ac:spMk id="56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08.127" v="148" actId="478"/>
          <ac:spMkLst>
            <pc:docMk/>
            <pc:sldMk cId="0" sldId="269"/>
            <ac:spMk id="57" creationId="{00000000-0000-0000-0000-000000000000}"/>
          </ac:spMkLst>
        </pc:spChg>
        <pc:spChg chg="del">
          <ac:chgData name="Sim Aulakh" userId="d6babfaf87fe36d4" providerId="LiveId" clId="{B442A88C-B6CB-4329-AF62-B197A214B4A4}" dt="2026-03-10T12:33:32.192" v="153" actId="478"/>
          <ac:spMkLst>
            <pc:docMk/>
            <pc:sldMk cId="0" sldId="269"/>
            <ac:spMk id="59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10T12:32:25.095" v="145" actId="47"/>
        <pc:sldMkLst>
          <pc:docMk/>
          <pc:sldMk cId="0" sldId="270"/>
        </pc:sldMkLst>
      </pc:sldChg>
      <pc:sldChg chg="del">
        <pc:chgData name="Sim Aulakh" userId="d6babfaf87fe36d4" providerId="LiveId" clId="{B442A88C-B6CB-4329-AF62-B197A214B4A4}" dt="2026-03-10T12:32:14.616" v="144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91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176D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26880" y="182880"/>
            <a:ext cx="2743200" cy="2743200"/>
          </a:xfrm>
          <a:prstGeom prst="ellipse">
            <a:avLst/>
          </a:prstGeom>
          <a:solidFill>
            <a:srgbClr val="1B96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3108960" cy="365760"/>
          </a:xfrm>
          <a:prstGeom prst="rect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FINANCIAL SERVICES CLOUD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Engine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B9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Lookup Tables  ·  Expression Sets  ·  Decision Logic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486400" cy="45720"/>
          </a:xfrm>
          <a:prstGeom prst="rect">
            <a:avLst/>
          </a:prstGeom>
          <a:solidFill>
            <a:srgbClr val="1B96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468880" cy="457200"/>
          </a:xfrm>
          <a:prstGeom prst="rect">
            <a:avLst/>
          </a:prstGeom>
          <a:solidFill>
            <a:srgbClr val="0176D3">
              <a:alpha val="5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No-Code / Low-Code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457200"/>
          </a:xfrm>
          <a:prstGeom prst="rect">
            <a:avLst/>
          </a:prstGeom>
          <a:solidFill>
            <a:srgbClr val="0176D3">
              <a:alpha val="5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Native Salesforce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2468880" cy="457200"/>
          </a:xfrm>
          <a:prstGeom prst="rect">
            <a:avLst/>
          </a:prstGeom>
          <a:solidFill>
            <a:srgbClr val="0176D3">
              <a:alpha val="5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FSC Ready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6E6B"/>
                </a:solidFill>
              </a:rPr>
              <a:t>Based on Official Salesforce Trailhead Documentation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0" y="1097280"/>
            <a:ext cx="2560320" cy="1280160"/>
          </a:xfrm>
          <a:prstGeom prst="rect">
            <a:avLst/>
          </a:prstGeom>
          <a:solidFill>
            <a:srgbClr val="0176D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0" y="10972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Expression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0" y="2560320"/>
            <a:ext cx="2560320" cy="1280160"/>
          </a:xfrm>
          <a:prstGeom prst="rect">
            <a:avLst/>
          </a:prstGeom>
          <a:solidFill>
            <a:srgbClr val="06A5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25603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Lookup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Tables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40233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32D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Business Rules Engine?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1430000" cy="5261984"/>
          </a:xfrm>
          <a:prstGeom prst="rect">
            <a:avLst/>
          </a:prstGeom>
          <a:solidFill>
            <a:srgbClr val="032D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688651"/>
            <a:ext cx="11155680" cy="4192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chemeClr val="bg2"/>
                </a:solidFill>
              </a:rPr>
              <a:t>Business Rule Engine is a </a:t>
            </a:r>
            <a:r>
              <a:rPr lang="en-US" sz="2800" b="1" dirty="0">
                <a:solidFill>
                  <a:schemeClr val="bg2"/>
                </a:solidFill>
              </a:rPr>
              <a:t>Salesforce tool that allows you to automate decision-making without writing code.</a:t>
            </a:r>
            <a:endParaRPr lang="en-US" sz="2800" dirty="0">
              <a:solidFill>
                <a:schemeClr val="bg2"/>
              </a:solidFill>
            </a:endParaRPr>
          </a:p>
          <a:p>
            <a:pPr lvl="2"/>
            <a:r>
              <a:rPr lang="en-US" sz="2800" dirty="0">
                <a:highlight>
                  <a:srgbClr val="FFFF00"/>
                </a:highlight>
              </a:rPr>
              <a:t>Instead of writing Apex logic like:</a:t>
            </a:r>
          </a:p>
          <a:p>
            <a:pPr lvl="2"/>
            <a:r>
              <a:rPr lang="en-US" sz="2800" dirty="0">
                <a:highlight>
                  <a:srgbClr val="FFFF00"/>
                </a:highlight>
              </a:rPr>
              <a:t>If credit score &gt; 700 → Approve Loan</a:t>
            </a:r>
          </a:p>
          <a:p>
            <a:pPr lvl="2"/>
            <a:r>
              <a:rPr lang="en-US" sz="2800" dirty="0">
                <a:highlight>
                  <a:srgbClr val="FFFF00"/>
                </a:highlight>
              </a:rPr>
              <a:t>You can create rules using </a:t>
            </a:r>
            <a:r>
              <a:rPr lang="en-US" sz="2800" b="1" dirty="0">
                <a:highlight>
                  <a:srgbClr val="FFFF00"/>
                </a:highlight>
              </a:rPr>
              <a:t>configuration</a:t>
            </a:r>
            <a:r>
              <a:rPr lang="en-US" sz="2800" dirty="0">
                <a:solidFill>
                  <a:schemeClr val="bg2"/>
                </a:solidFill>
                <a:highlight>
                  <a:srgbClr val="FFFF00"/>
                </a:highlight>
              </a:rPr>
              <a:t>.</a:t>
            </a:r>
          </a:p>
          <a:p>
            <a:r>
              <a:rPr lang="en-US" sz="2800" dirty="0">
                <a:solidFill>
                  <a:schemeClr val="bg2"/>
                </a:solidFill>
              </a:rPr>
              <a:t>Think of BRE as a </a:t>
            </a:r>
            <a:r>
              <a:rPr lang="en-US" sz="2800" b="1" dirty="0">
                <a:solidFill>
                  <a:schemeClr val="bg2"/>
                </a:solidFill>
              </a:rPr>
              <a:t>decision automation system</a:t>
            </a:r>
            <a:r>
              <a:rPr lang="en-US" sz="2800" dirty="0">
                <a:solidFill>
                  <a:schemeClr val="bg2"/>
                </a:solidFill>
              </a:rPr>
              <a:t>.</a:t>
            </a:r>
          </a:p>
          <a:p>
            <a:r>
              <a:rPr lang="en-US" sz="2800" dirty="0">
                <a:solidFill>
                  <a:schemeClr val="bg2"/>
                </a:solidFill>
              </a:rPr>
              <a:t>It helps Salesforce automatically answer questions like:</a:t>
            </a:r>
          </a:p>
          <a:p>
            <a:r>
              <a:rPr lang="en-US" sz="2800" dirty="0">
                <a:solidFill>
                  <a:schemeClr val="bg2"/>
                </a:solidFill>
              </a:rPr>
              <a:t>• Should this loan be approved?</a:t>
            </a: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• What risk category does this customer fall into?</a:t>
            </a: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• What interest rate should be offered?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i="1" dirty="0"/>
              <a:t>Why Financial Services Cloud needs Business Rule Engine</a:t>
            </a:r>
            <a:r>
              <a:rPr lang="en-US" sz="2800" b="1" dirty="0"/>
              <a:t>.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11880" cy="47061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11880" cy="91440"/>
          </a:xfrm>
          <a:prstGeom prst="rect">
            <a:avLst/>
          </a:prstGeom>
          <a:solidFill>
            <a:srgbClr val="E54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2039111"/>
            <a:ext cx="3291840" cy="1760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/>
              <a:t>Complex Decision Logic</a:t>
            </a:r>
          </a:p>
        </p:txBody>
      </p:sp>
      <p:sp>
        <p:nvSpPr>
          <p:cNvPr id="8" name="Text 6"/>
          <p:cNvSpPr/>
          <p:nvPr/>
        </p:nvSpPr>
        <p:spPr>
          <a:xfrm>
            <a:off x="530352" y="2651760"/>
            <a:ext cx="3291840" cy="270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Financial institutions deal with </a:t>
            </a:r>
            <a:r>
              <a:rPr lang="en-US" sz="1600" b="1" dirty="0"/>
              <a:t>complex decision making</a:t>
            </a:r>
            <a:r>
              <a:rPr lang="en-US" sz="1600" dirty="0"/>
              <a:t> every day. Without Business Rule Engine, these rules must be written in </a:t>
            </a:r>
            <a:r>
              <a:rPr lang="en-US" sz="1600" b="1" dirty="0"/>
              <a:t>Apex code</a:t>
            </a:r>
            <a:r>
              <a:rPr lang="en-US" sz="1600" dirty="0"/>
              <a:t>, which makes the system harder to maintain.</a:t>
            </a:r>
          </a:p>
        </p:txBody>
      </p:sp>
      <p:sp>
        <p:nvSpPr>
          <p:cNvPr id="9" name="Shape 7"/>
          <p:cNvSpPr/>
          <p:nvPr/>
        </p:nvSpPr>
        <p:spPr>
          <a:xfrm>
            <a:off x="4206240" y="1234440"/>
            <a:ext cx="3611880" cy="475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3611880" cy="91440"/>
          </a:xfrm>
          <a:prstGeom prst="rect">
            <a:avLst/>
          </a:prstGeom>
          <a:solidFill>
            <a:srgbClr val="974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70832" y="2039111"/>
            <a:ext cx="3291840" cy="1760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/>
              <a:t>Frequent Policy Changes</a:t>
            </a:r>
          </a:p>
          <a:p>
            <a:endParaRPr lang="en-US" sz="2000" b="1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3291840" cy="270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Banks and financial institutions frequently update policies due to Regulatory changes or market conditions.</a:t>
            </a:r>
          </a:p>
          <a:p>
            <a:r>
              <a:rPr lang="en-US" sz="1600" dirty="0"/>
              <a:t>If rules are written in code, every change requires </a:t>
            </a:r>
            <a:r>
              <a:rPr lang="en-US" sz="1600" b="1" dirty="0"/>
              <a:t>developer effort and deployments</a:t>
            </a:r>
            <a:r>
              <a:rPr lang="en-US" sz="1600" dirty="0"/>
              <a:t>.</a:t>
            </a:r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611880" cy="475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234440"/>
            <a:ext cx="3611880" cy="914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11312" y="2039111"/>
            <a:ext cx="3291840" cy="1760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Slow Business Processes</a:t>
            </a:r>
          </a:p>
        </p:txBody>
      </p:sp>
      <p:sp>
        <p:nvSpPr>
          <p:cNvPr id="18" name="Text 16"/>
          <p:cNvSpPr/>
          <p:nvPr/>
        </p:nvSpPr>
        <p:spPr>
          <a:xfrm>
            <a:off x="8211312" y="2651760"/>
            <a:ext cx="3291840" cy="2709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Manual decision-making slows down processes such as: Loan approvals</a:t>
            </a:r>
          </a:p>
          <a:p>
            <a:r>
              <a:rPr lang="en-US" sz="1600" dirty="0"/>
              <a:t>Customers expect </a:t>
            </a:r>
            <a:r>
              <a:rPr lang="en-US" sz="1600" b="1" dirty="0"/>
              <a:t>fast and automated responses</a:t>
            </a:r>
            <a:r>
              <a:rPr lang="en-US" sz="1600" dirty="0"/>
              <a:t>.</a:t>
            </a:r>
          </a:p>
          <a:p>
            <a:r>
              <a:rPr lang="en-US" sz="1600" dirty="0"/>
              <a:t>Business Rule Engine allows Salesforce to </a:t>
            </a:r>
            <a:r>
              <a:rPr lang="en-US" sz="1600" b="1" dirty="0"/>
              <a:t>automatically evaluate rules and make decisions instantly.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" y="46908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6E6B"/>
                </a:solidFill>
              </a:rPr>
              <a:t>Source: Salesforce Trailhead — Get to Know Business Rules Engine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 in Financial Services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772264" cy="5120640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772264" cy="548640"/>
          </a:xfrm>
          <a:prstGeom prst="rect">
            <a:avLst/>
          </a:prstGeom>
          <a:solidFill>
            <a:srgbClr val="032D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FSC Use Cases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Loan Eligibility Evaluation</a:t>
            </a:r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Business Rule Engine helps banks automatically evaluate whether a customer qualifies for a loan.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120640" cy="27432"/>
          </a:xfrm>
          <a:prstGeom prst="rect">
            <a:avLst/>
          </a:prstGeom>
          <a:solidFill>
            <a:srgbClr val="DDDB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99923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Risk Classification</a:t>
            </a:r>
          </a:p>
        </p:txBody>
      </p:sp>
      <p:sp>
        <p:nvSpPr>
          <p:cNvPr id="13" name="Text 11"/>
          <p:cNvSpPr/>
          <p:nvPr/>
        </p:nvSpPr>
        <p:spPr>
          <a:xfrm>
            <a:off x="1143000" y="334670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Business Rule Engine uses </a:t>
            </a:r>
            <a:r>
              <a:rPr lang="en-US" sz="1100" b="1" dirty="0"/>
              <a:t>lookup tables and expression sets</a:t>
            </a:r>
            <a:r>
              <a:rPr lang="en-US" sz="1100" dirty="0"/>
              <a:t> to automatically assign the correct risk category based on data like credit score, payment history, and income stability.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120640" cy="27432"/>
          </a:xfrm>
          <a:prstGeom prst="rect">
            <a:avLst/>
          </a:prstGeom>
          <a:solidFill>
            <a:srgbClr val="DDDB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40782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Interest Rate Determination</a:t>
            </a:r>
          </a:p>
        </p:txBody>
      </p:sp>
      <p:sp>
        <p:nvSpPr>
          <p:cNvPr id="17" name="Text 15"/>
          <p:cNvSpPr/>
          <p:nvPr/>
        </p:nvSpPr>
        <p:spPr>
          <a:xfrm>
            <a:off x="1143000" y="44256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Banks often adjust interest rates based on customer risk and financial profile.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5120640" cy="27432"/>
          </a:xfrm>
          <a:prstGeom prst="rect">
            <a:avLst/>
          </a:prstGeom>
          <a:solidFill>
            <a:srgbClr val="DDDB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5157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51572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Compliance and Regulatory Checks</a:t>
            </a:r>
          </a:p>
        </p:txBody>
      </p:sp>
      <p:sp>
        <p:nvSpPr>
          <p:cNvPr id="21" name="Text 19"/>
          <p:cNvSpPr/>
          <p:nvPr/>
        </p:nvSpPr>
        <p:spPr>
          <a:xfrm>
            <a:off x="1143000" y="55046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Business Rule Engine enables Financial Services Cloud to automate critical financial decisions while maintaining flexibility and compliance.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188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36576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6E6B"/>
                </a:solidFill>
              </a:rPr>
              <a:t>Source: Salesforce Trailhead — Get to Know Business Rules Engine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A5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2306" y="1874520"/>
            <a:ext cx="70931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1148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" y="4114800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4297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/>
              <a:t>A </a:t>
            </a:r>
            <a:r>
              <a:rPr lang="en-US" sz="2800" b="1" dirty="0"/>
              <a:t>Lookup Table</a:t>
            </a:r>
            <a:r>
              <a:rPr lang="en-US" sz="2800" dirty="0"/>
              <a:t> stores business rules in a </a:t>
            </a:r>
            <a:r>
              <a:rPr lang="en-US" sz="2800" b="1" dirty="0"/>
              <a:t>table format</a:t>
            </a:r>
            <a:r>
              <a:rPr lang="en-US" sz="2800" dirty="0"/>
              <a:t> so Salesforce can quickly determine the correct result based on input data.</a:t>
            </a:r>
          </a:p>
          <a:p>
            <a:r>
              <a:rPr lang="en-US" sz="2800" dirty="0"/>
              <a:t>Instead of writing complex logic in code, the system simply </a:t>
            </a:r>
            <a:r>
              <a:rPr lang="en-US" sz="2800" b="1" dirty="0"/>
              <a:t>looks up the value in the table and returns the result.</a:t>
            </a:r>
            <a:endParaRPr lang="en-US" sz="2800" dirty="0"/>
          </a:p>
          <a:p>
            <a:r>
              <a:rPr lang="en-US" sz="2800" dirty="0"/>
              <a:t>This makes decision logic </a:t>
            </a:r>
            <a:r>
              <a:rPr lang="en-US" sz="2800" b="1" dirty="0"/>
              <a:t>easy to understand, update, and maintain.</a:t>
            </a:r>
            <a:endParaRPr lang="en-US" sz="2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6DDF136-BC94-1D57-8056-3046ABB27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60506"/>
              </p:ext>
            </p:extLst>
          </p:nvPr>
        </p:nvGraphicFramePr>
        <p:xfrm>
          <a:off x="2093258" y="411480"/>
          <a:ext cx="8993094" cy="1463040"/>
        </p:xfrm>
        <a:graphic>
          <a:graphicData uri="http://schemas.openxmlformats.org/drawingml/2006/table">
            <a:tbl>
              <a:tblPr/>
              <a:tblGrid>
                <a:gridCol w="4496547">
                  <a:extLst>
                    <a:ext uri="{9D8B030D-6E8A-4147-A177-3AD203B41FA5}">
                      <a16:colId xmlns:a16="http://schemas.microsoft.com/office/drawing/2014/main" val="1853236282"/>
                    </a:ext>
                  </a:extLst>
                </a:gridCol>
                <a:gridCol w="4496547">
                  <a:extLst>
                    <a:ext uri="{9D8B030D-6E8A-4147-A177-3AD203B41FA5}">
                      <a16:colId xmlns:a16="http://schemas.microsoft.com/office/drawing/2014/main" val="2967598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Credit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Risk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81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750 and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754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650 – 749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975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Below 650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1049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7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1026" y="-2103120"/>
            <a:ext cx="7315200" cy="73152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194560" y="1965960"/>
            <a:ext cx="9189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Sets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1780012" y="2986989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Builder  ·  Elements  ·  Calculation Logic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" y="4160520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4343400"/>
            <a:ext cx="1072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/>
              <a:t>An </a:t>
            </a:r>
            <a:r>
              <a:rPr lang="en-US" sz="2400" b="1" dirty="0"/>
              <a:t>Expression Set</a:t>
            </a:r>
            <a:r>
              <a:rPr lang="en-US" sz="2400" dirty="0"/>
              <a:t> is a group of rules that evaluates data and produces a decision.</a:t>
            </a:r>
          </a:p>
          <a:p>
            <a:r>
              <a:rPr lang="en-US" sz="2400" dirty="0"/>
              <a:t>It works like a </a:t>
            </a:r>
            <a:r>
              <a:rPr lang="en-US" sz="2400" b="1" dirty="0"/>
              <a:t>decision flow</a:t>
            </a:r>
            <a:r>
              <a:rPr lang="en-US" sz="2400" dirty="0"/>
              <a:t> that processes input values and determines the correct outcome.</a:t>
            </a:r>
          </a:p>
          <a:p>
            <a:r>
              <a:rPr lang="en-US" sz="2400" dirty="0"/>
              <a:t>In simple terms:</a:t>
            </a:r>
          </a:p>
          <a:p>
            <a:r>
              <a:rPr lang="en-US" sz="2400" b="1" dirty="0"/>
              <a:t>Input Data → Rule Evaluation → Result</a:t>
            </a:r>
            <a:endParaRPr lang="en-US" sz="2400" dirty="0"/>
          </a:p>
          <a:p>
            <a:r>
              <a:rPr lang="en-US" sz="2400" dirty="0"/>
              <a:t>Expression Sets allow Salesforce to apply </a:t>
            </a:r>
            <a:r>
              <a:rPr lang="en-US" sz="2400" b="1" dirty="0"/>
              <a:t>business logic without writing Apex code.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Sets — How They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822960"/>
          </a:xfrm>
          <a:prstGeom prst="rect">
            <a:avLst/>
          </a:prstGeom>
          <a:solidFill>
            <a:srgbClr val="0176D3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Set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series of rules created with expression set elements. Each element forms a logical step that runs sequentially — evaluating conditions, performing calculations, looking up matrices, and transforming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73152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7315200" cy="457200"/>
          </a:xfrm>
          <a:prstGeom prst="rect">
            <a:avLst/>
          </a:prstGeom>
          <a:solidFill>
            <a:srgbClr val="032D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Expression Set Builder — Canvas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554480" cy="1417320"/>
          </a:xfrm>
          <a:prstGeom prst="rect">
            <a:avLst/>
          </a:prstGeom>
          <a:solidFill>
            <a:srgbClr val="9747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Constants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554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Define inputs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(from JSON)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fixed values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94560" y="3383280"/>
            <a:ext cx="228600" cy="73152"/>
          </a:xfrm>
          <a:prstGeom prst="rect">
            <a:avLst/>
          </a:prstGeom>
          <a:solidFill>
            <a:srgbClr val="3E3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21992" y="321868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3E3C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23160" y="2788920"/>
            <a:ext cx="1554480" cy="1417320"/>
          </a:xfrm>
          <a:prstGeom prst="rect">
            <a:avLst/>
          </a:prstGeom>
          <a:solidFill>
            <a:srgbClr val="06A5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Lookup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 Step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429000"/>
            <a:ext cx="1554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3474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Call a Decision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Matrix to get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rate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7640" y="3383280"/>
            <a:ext cx="228600" cy="73152"/>
          </a:xfrm>
          <a:prstGeom prst="rect">
            <a:avLst/>
          </a:prstGeom>
          <a:solidFill>
            <a:srgbClr val="3E3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05072" y="321868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3E3C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06240" y="2788920"/>
            <a:ext cx="1554480" cy="1417320"/>
          </a:xfrm>
          <a:prstGeom prst="rect">
            <a:avLst/>
          </a:prstGeom>
          <a:solidFill>
            <a:srgbClr val="0176D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429000"/>
            <a:ext cx="1554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51960" y="3474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Apply formulas: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e.g. base fee ×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capacity factor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3383280"/>
            <a:ext cx="228600" cy="73152"/>
          </a:xfrm>
          <a:prstGeom prst="rect">
            <a:avLst/>
          </a:prstGeom>
          <a:solidFill>
            <a:srgbClr val="3E3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88152" y="321868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3E3C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2788920"/>
            <a:ext cx="1554480" cy="1417320"/>
          </a:xfrm>
          <a:prstGeom prst="rect">
            <a:avLst/>
          </a:prstGeom>
          <a:solidFill>
            <a:srgbClr val="E542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8932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3429000"/>
            <a:ext cx="1554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3474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SUM, AVG,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MAX, 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across elements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370832"/>
            <a:ext cx="6949440" cy="502920"/>
          </a:xfrm>
          <a:prstGeom prst="rect">
            <a:avLst/>
          </a:prstGeom>
          <a:solidFill>
            <a:srgbClr val="032D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3708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 →  JSON result returned to calling process (Flow / OmniStudio / REST API / Apex)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983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6E6B"/>
                </a:solidFill>
              </a:rPr>
              <a:t>✅  Simulate button — test with sample inputs before deploying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349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6E6B"/>
                </a:solidFill>
              </a:rPr>
              <a:t>✅  Version control — each Expression Set has versioned releases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715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6E6B"/>
                </a:solidFill>
              </a:rPr>
              <a:t>✅  Step order matters — outputs from earlier steps feed later steps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55280" y="2176272"/>
            <a:ext cx="384048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55280" y="2176272"/>
            <a:ext cx="3840480" cy="457200"/>
          </a:xfrm>
          <a:prstGeom prst="rect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3816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Configuration Panel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65008" y="2743200"/>
            <a:ext cx="320040" cy="3200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6500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582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D60"/>
                </a:solidFill>
              </a:rPr>
              <a:t>Resource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582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6E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 variables (inputs/outputs) and constants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65008" y="3456432"/>
            <a:ext cx="320040" cy="3200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65008" y="3456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5820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D60"/>
                </a:solidFill>
              </a:rPr>
              <a:t>Element Library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58200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6E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Drag Lookup Table, Calculation, Aggregate, Condition elements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65008" y="4169664"/>
            <a:ext cx="320040" cy="3200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65008" y="4169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58200" y="4169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D60"/>
                </a:solidFill>
              </a:rPr>
              <a:t>Element Details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58200" y="4489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6E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Configure each step — formulas, matrix references, conditions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65008" y="4882896"/>
            <a:ext cx="320040" cy="3200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065008" y="4882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458200" y="4882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D60"/>
                </a:solidFill>
              </a:rPr>
              <a:t>Include in Output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458200" y="5202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6E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 which variables are returned in the final JSON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65008" y="5596128"/>
            <a:ext cx="320040" cy="32004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065008" y="5596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458200" y="5596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D60"/>
                </a:solidFill>
              </a:rPr>
              <a:t>Usage Type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458200" y="5916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6E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context: Default, Product Qualification, Record Alert, FSC...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65105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6E6B"/>
                </a:solidFill>
              </a:rPr>
              <a:t>Source: Salesforce Trailhead — Orchestrate Rules with Expression Sets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B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572000" cy="45720"/>
          </a:xfrm>
          <a:prstGeom prst="rect">
            <a:avLst/>
          </a:prstGeom>
          <a:solidFill>
            <a:srgbClr val="FFB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5D"/>
                </a:solidFill>
              </a:rPr>
              <a:t>INPUTS  →  Data comes from the digital interaction into the BRE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06040" cy="594360"/>
          </a:xfrm>
          <a:prstGeom prst="rect">
            <a:avLst/>
          </a:prstGeom>
          <a:solidFill>
            <a:srgbClr val="0176D3">
              <a:alpha val="7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Salesforce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2606040" cy="594360"/>
          </a:xfrm>
          <a:prstGeom prst="rect">
            <a:avLst/>
          </a:prstGeom>
          <a:solidFill>
            <a:srgbClr val="0176D3">
              <a:alpha val="7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OmniStudio 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572768"/>
            <a:ext cx="2606040" cy="594360"/>
          </a:xfrm>
          <a:prstGeom prst="rect">
            <a:avLst/>
          </a:prstGeom>
          <a:solidFill>
            <a:srgbClr val="0176D3">
              <a:alpha val="7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 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572768"/>
            <a:ext cx="2606040" cy="594360"/>
          </a:xfrm>
          <a:prstGeom prst="rect">
            <a:avLst/>
          </a:prstGeom>
          <a:solidFill>
            <a:srgbClr val="0176D3">
              <a:alpha val="7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0" y="15727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Apex Invocation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B75D"/>
                </a:solidFill>
              </a:rPr>
              <a:t>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11430000" cy="2286000"/>
          </a:xfrm>
          <a:prstGeom prst="rect">
            <a:avLst/>
          </a:prstGeom>
          <a:solidFill>
            <a:srgbClr val="0176D3">
              <a:alpha val="80000"/>
            </a:srgbClr>
          </a:solidFill>
          <a:ln w="254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11430000" cy="411480"/>
          </a:xfrm>
          <a:prstGeom prst="rect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BUSINESS RULES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606040" cy="1600200"/>
          </a:xfrm>
          <a:prstGeom prst="rect">
            <a:avLst/>
          </a:prstGeom>
          <a:solidFill>
            <a:srgbClr val="06A59A">
              <a:alpha val="80000"/>
            </a:srgbClr>
          </a:solidFill>
          <a:ln w="12700">
            <a:solidFill>
              <a:srgbClr val="06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26060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Orchestrates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the calculation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3108960"/>
            <a:ext cx="2606040" cy="1600200"/>
          </a:xfrm>
          <a:prstGeom prst="rect">
            <a:avLst/>
          </a:prstGeom>
          <a:solidFill>
            <a:srgbClr val="9747FF">
              <a:alpha val="80000"/>
            </a:srgbClr>
          </a:solidFill>
          <a:ln w="12700">
            <a:solidFill>
              <a:srgbClr val="974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Lookup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37560" y="3794760"/>
            <a:ext cx="26060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8404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Decision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Matrix returns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rate/output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3108960"/>
            <a:ext cx="2606040" cy="1600200"/>
          </a:xfrm>
          <a:prstGeom prst="rect">
            <a:avLst/>
          </a:prstGeom>
          <a:solidFill>
            <a:srgbClr val="1B96FF">
              <a:alpha val="80000"/>
            </a:srgbClr>
          </a:solidFill>
          <a:ln w="12700">
            <a:solidFill>
              <a:srgbClr val="1B9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Calculation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3794760"/>
            <a:ext cx="26060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38404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Applies formula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to compute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the result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15400" y="3108960"/>
            <a:ext cx="2606040" cy="1600200"/>
          </a:xfrm>
          <a:prstGeom prst="rect">
            <a:avLst/>
          </a:prstGeom>
          <a:solidFill>
            <a:srgbClr val="FFB75D">
              <a:alpha val="80000"/>
            </a:srgbClr>
          </a:solidFill>
          <a:ln w="12700">
            <a:solidFill>
              <a:srgbClr val="FF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1540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Explainer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5400" y="3794760"/>
            <a:ext cx="26060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15400" y="38404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Explains why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the rule produced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8F0"/>
                </a:solidFill>
              </a:rPr>
              <a:t>this output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49194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B75D"/>
                </a:solidFill>
              </a:rPr>
              <a:t>▼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65760" y="5321808"/>
            <a:ext cx="11430000" cy="3840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532180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5D"/>
                </a:solidFill>
              </a:rPr>
              <a:t>OUTPUTS  →  JSON results returned to the calling process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5760720"/>
            <a:ext cx="2606040" cy="594360"/>
          </a:xfrm>
          <a:prstGeom prst="rect">
            <a:avLst/>
          </a:prstGeom>
          <a:solidFill>
            <a:srgbClr val="06A59A">
              <a:alpha val="70000"/>
            </a:srgbClr>
          </a:solidFill>
          <a:ln w="12700">
            <a:solidFill>
              <a:srgbClr val="06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5760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Calculated Values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0" y="5760720"/>
            <a:ext cx="2606040" cy="594360"/>
          </a:xfrm>
          <a:prstGeom prst="rect">
            <a:avLst/>
          </a:prstGeom>
          <a:solidFill>
            <a:srgbClr val="06A59A">
              <a:alpha val="70000"/>
            </a:srgbClr>
          </a:solidFill>
          <a:ln w="12700">
            <a:solidFill>
              <a:srgbClr val="06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0" y="5760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Eligibility Decisions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35040" y="5760720"/>
            <a:ext cx="2606040" cy="594360"/>
          </a:xfrm>
          <a:prstGeom prst="rect">
            <a:avLst/>
          </a:prstGeom>
          <a:solidFill>
            <a:srgbClr val="06A59A">
              <a:alpha val="70000"/>
            </a:srgbClr>
          </a:solidFill>
          <a:ln w="12700">
            <a:solidFill>
              <a:srgbClr val="06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35040" y="5760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Explainer Text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69680" y="5760720"/>
            <a:ext cx="2606040" cy="594360"/>
          </a:xfrm>
          <a:prstGeom prst="rect">
            <a:avLst/>
          </a:prstGeom>
          <a:solidFill>
            <a:srgbClr val="06A59A">
              <a:alpha val="70000"/>
            </a:srgbClr>
          </a:solidFill>
          <a:ln w="12700">
            <a:solidFill>
              <a:srgbClr val="06A5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869680" y="5760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Next-Best Actions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BRE — A Simple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703320" cy="51663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37360" y="1371600"/>
            <a:ext cx="960120" cy="960120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7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6E6B"/>
                </a:solidFill>
              </a:rPr>
              <a:t>Build the Rule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310128"/>
            <a:ext cx="2423160" cy="36576"/>
          </a:xfrm>
          <a:prstGeom prst="rect">
            <a:avLst/>
          </a:prstGeom>
          <a:solidFill>
            <a:srgbClr val="0176D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34015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Open the Business Rules Engine app in App Launcher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904488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83133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Navigate to Lookup Tables — create your Decision Matrix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334256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42611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Navigate to Expression Sets — create your Expression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764024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6908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Add elements: Lookup Table → Calculation → 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193792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512064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Use the Simulate button to test with sample inputs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09728" cy="109728"/>
          </a:xfrm>
          <a:prstGeom prst="ellipse">
            <a:avLst/>
          </a:prstGeom>
          <a:solidFill>
            <a:srgbClr val="0176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55504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Activate the Expression Set version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1188720"/>
            <a:ext cx="3703320" cy="51663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960120" cy="960120"/>
          </a:xfrm>
          <a:prstGeom prst="ellipse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2356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343400" y="2423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343400" y="2926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6E6B"/>
                </a:solidFill>
              </a:rPr>
              <a:t>Connect to a Process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310128"/>
            <a:ext cx="2423160" cy="36576"/>
          </a:xfrm>
          <a:prstGeom prst="rect">
            <a:avLst/>
          </a:prstGeom>
          <a:solidFill>
            <a:srgbClr val="06A59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53128" y="3474720"/>
            <a:ext cx="109728" cy="109728"/>
          </a:xfrm>
          <a:prstGeom prst="ellipse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36008" y="34015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Open Salesforce Flow Builder or OmniStudio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53128" y="3904488"/>
            <a:ext cx="109728" cy="109728"/>
          </a:xfrm>
          <a:prstGeom prst="ellipse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36008" y="383133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Add an Action element — search 'Evaluate Expression Set'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53128" y="4334256"/>
            <a:ext cx="109728" cy="109728"/>
          </a:xfrm>
          <a:prstGeom prst="ellipse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36008" y="42611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Map input variables from your Flow/Script variables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53128" y="4764024"/>
            <a:ext cx="109728" cy="109728"/>
          </a:xfrm>
          <a:prstGeom prst="ellipse">
            <a:avLst/>
          </a:prstGeom>
          <a:solidFill>
            <a:srgbClr val="06A5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36008" y="46908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6E6B"/>
                </a:solidFill>
              </a:rPr>
              <a:t>Configure output variable storage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0976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4133088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DDBDA"/>
                </a:solidFill>
              </a:rPr>
              <a:t>→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6E6B"/>
                </a:solidFill>
              </a:rPr>
              <a:t>Source: Salesforce Trailhead — Get to Know Business Rules Engine  |  Simplified Rule Deployment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8F94CFE-D8A3-47EE-9FC8-190210BF129B}"/>
</file>

<file path=customXml/itemProps2.xml><?xml version="1.0" encoding="utf-8"?>
<ds:datastoreItem xmlns:ds="http://schemas.openxmlformats.org/officeDocument/2006/customXml" ds:itemID="{67804E35-6870-4E5F-B0E3-1FA61375289E}"/>
</file>

<file path=customXml/itemProps3.xml><?xml version="1.0" encoding="utf-8"?>
<ds:datastoreItem xmlns:ds="http://schemas.openxmlformats.org/officeDocument/2006/customXml" ds:itemID="{727DFF0E-4523-4778-A03D-1B93482A6847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932</Words>
  <Application>Microsoft Office PowerPoint</Application>
  <PresentationFormat>Widescreen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Udemy Course</dc:creator>
  <cp:lastModifiedBy>Sim Aulakh</cp:lastModifiedBy>
  <cp:revision>1</cp:revision>
  <dcterms:created xsi:type="dcterms:W3CDTF">2026-03-09T23:22:04Z</dcterms:created>
  <dcterms:modified xsi:type="dcterms:W3CDTF">2026-03-10T12:34:22Z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10733100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