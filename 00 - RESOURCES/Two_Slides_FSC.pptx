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g"/>
  <Default Extension="m4v" ContentType="video/mp4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vml" ContentType="application/vnd.openxmlformats-officedocument.vmlDrawing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1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11" Type="http://schemas.openxmlformats.org/officeDocument/2006/relationships/customXml" Target="../customXml/item3.xml"/><Relationship Id="rId5" Type="http://schemas.openxmlformats.org/officeDocument/2006/relationships/presProps" Target="presProps.xml"/><Relationship Id="rId10" Type="http://schemas.openxmlformats.org/officeDocument/2006/relationships/customXml" Target="../customXml/item2.xml"/><Relationship Id="rId4" Type="http://schemas.openxmlformats.org/officeDocument/2006/relationships/notesMaster" Target="notesMasters/notesMaster1.xml"/><Relationship Id="rId9" Type="http://schemas.openxmlformats.org/officeDocument/2006/relationships/customXml" Target="../customXml/item1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032D60"/>
          </a:solidFill>
          <a:ln w="12700">
            <a:solidFill>
              <a:srgbClr val="032D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06A59A"/>
          </a:solidFill>
          <a:ln w="12700">
            <a:solidFill>
              <a:srgbClr val="06A5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640080"/>
            <a:ext cx="3017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</a:t>
            </a:r>
            <a:endParaRPr lang="en-US" sz="4600" dirty="0"/>
          </a:p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256032" y="248716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06A5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Financial Services Cloud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20040" y="3127248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👶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344168" y="3127248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💍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2368296" y="3127248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🏠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20040" y="3877056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💼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344168" y="3877056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🎓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368296" y="3877056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🏥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3749040" y="320040"/>
            <a:ext cx="5074920" cy="1207008"/>
          </a:xfrm>
          <a:prstGeom prst="rect">
            <a:avLst/>
          </a:prstGeom>
          <a:solidFill>
            <a:srgbClr val="032D60"/>
          </a:solidFill>
          <a:ln w="12700">
            <a:solidFill>
              <a:srgbClr val="032D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749040" y="320040"/>
            <a:ext cx="91440" cy="1207008"/>
          </a:xfrm>
          <a:prstGeom prst="rect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931920" y="356616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LIFE EVENT?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931920" y="621792"/>
            <a:ext cx="475488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significant personal change in a client's life — recorded on their Person Account or Contact record — that signals a new financial need or opportunity.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749040" y="1691640"/>
            <a:ext cx="507492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06A5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749040" y="1691640"/>
            <a:ext cx="91440" cy="1261872"/>
          </a:xfrm>
          <a:prstGeom prst="rect">
            <a:avLst/>
          </a:prstGeom>
          <a:solidFill>
            <a:srgbClr val="06A59A"/>
          </a:solidFill>
          <a:ln w="12700">
            <a:solidFill>
              <a:srgbClr val="06A59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931920" y="1728216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6A5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931920" y="1993392"/>
            <a:ext cx="475488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 Events give financial advisors the context to have timely, relevant conversations — turning real-life moments into personalised engagement and product recommendations.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749040" y="3127248"/>
            <a:ext cx="1207008" cy="1719072"/>
          </a:xfrm>
          <a:prstGeom prst="rect">
            <a:avLst/>
          </a:prstGeom>
          <a:solidFill>
            <a:srgbClr val="E8F4FB"/>
          </a:solidFill>
          <a:ln w="12700">
            <a:solidFill>
              <a:srgbClr val="C8D8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749040" y="3127248"/>
            <a:ext cx="1207008" cy="54864"/>
          </a:xfrm>
          <a:prstGeom prst="rect">
            <a:avLst/>
          </a:prstGeom>
          <a:solidFill>
            <a:srgbClr val="0176D3"/>
          </a:solidFill>
          <a:ln w="12700">
            <a:solidFill>
              <a:srgbClr val="0176D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749040" y="3200400"/>
            <a:ext cx="12070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👶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3803904" y="367588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32D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Birth of a Child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803904" y="4041648"/>
            <a:ext cx="1097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Triggers: life insurance review, 529 savings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024628" y="3127248"/>
            <a:ext cx="1207008" cy="1719072"/>
          </a:xfrm>
          <a:prstGeom prst="rect">
            <a:avLst/>
          </a:prstGeom>
          <a:solidFill>
            <a:srgbClr val="E8F4FB"/>
          </a:solidFill>
          <a:ln w="12700">
            <a:solidFill>
              <a:srgbClr val="C8D8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024628" y="3127248"/>
            <a:ext cx="1207008" cy="54864"/>
          </a:xfrm>
          <a:prstGeom prst="rect">
            <a:avLst/>
          </a:prstGeom>
          <a:solidFill>
            <a:srgbClr val="0176D3"/>
          </a:solidFill>
          <a:ln w="12700">
            <a:solidFill>
              <a:srgbClr val="0176D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4628" y="3200400"/>
            <a:ext cx="12070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💍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5079492" y="367588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32D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Marriage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079492" y="4041648"/>
            <a:ext cx="1097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Triggers: joint account, beneficiary update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300216" y="3127248"/>
            <a:ext cx="1207008" cy="1719072"/>
          </a:xfrm>
          <a:prstGeom prst="rect">
            <a:avLst/>
          </a:prstGeom>
          <a:solidFill>
            <a:srgbClr val="E8F4FB"/>
          </a:solidFill>
          <a:ln w="12700">
            <a:solidFill>
              <a:srgbClr val="C8D8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300216" y="3127248"/>
            <a:ext cx="1207008" cy="54864"/>
          </a:xfrm>
          <a:prstGeom prst="rect">
            <a:avLst/>
          </a:prstGeom>
          <a:solidFill>
            <a:srgbClr val="0176D3"/>
          </a:solidFill>
          <a:ln w="12700">
            <a:solidFill>
              <a:srgbClr val="0176D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00216" y="3200400"/>
            <a:ext cx="12070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🏠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6355080" y="367588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32D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Purchase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355080" y="4041648"/>
            <a:ext cx="1097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Triggers: mortgage, home insurance offer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7575804" y="3127248"/>
            <a:ext cx="1207008" cy="1719072"/>
          </a:xfrm>
          <a:prstGeom prst="rect">
            <a:avLst/>
          </a:prstGeom>
          <a:solidFill>
            <a:srgbClr val="E8F4FB"/>
          </a:solidFill>
          <a:ln w="12700">
            <a:solidFill>
              <a:srgbClr val="C8D8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7575804" y="3127248"/>
            <a:ext cx="1207008" cy="54864"/>
          </a:xfrm>
          <a:prstGeom prst="rect">
            <a:avLst/>
          </a:prstGeom>
          <a:solidFill>
            <a:srgbClr val="0176D3"/>
          </a:solidFill>
          <a:ln w="12700">
            <a:solidFill>
              <a:srgbClr val="0176D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575804" y="3200400"/>
            <a:ext cx="12070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🎓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7630668" y="367588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32D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Graduation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7630668" y="4041648"/>
            <a:ext cx="1097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Triggers: first job planning, investment acc.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06A59A"/>
          </a:solidFill>
          <a:ln w="12700">
            <a:solidFill>
              <a:srgbClr val="06A59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74320" y="4980737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 Financial Services Cloud  |  Life Events &amp; Business Milestones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0" y="0"/>
            <a:ext cx="3474720" cy="5143500"/>
          </a:xfrm>
          <a:prstGeom prst="rect">
            <a:avLst/>
          </a:prstGeom>
          <a:solidFill>
            <a:srgbClr val="032D60"/>
          </a:solidFill>
          <a:ln w="12700">
            <a:solidFill>
              <a:srgbClr val="032D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015984" y="0"/>
            <a:ext cx="128016" cy="5143500"/>
          </a:xfrm>
          <a:prstGeom prst="rect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760720" y="640080"/>
            <a:ext cx="3200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760720" y="248716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Financial Services Cloud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806440" y="3127248"/>
            <a:ext cx="1536192" cy="475488"/>
          </a:xfrm>
          <a:prstGeom prst="rect">
            <a:avLst/>
          </a:prstGeom>
          <a:solidFill>
            <a:srgbClr val="5A7A9A"/>
          </a:solidFill>
          <a:ln w="12700">
            <a:solidFill>
              <a:srgbClr val="5A7A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06440" y="3127248"/>
            <a:ext cx="15361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498080" y="3127248"/>
            <a:ext cx="1536192" cy="475488"/>
          </a:xfrm>
          <a:prstGeom prst="rect">
            <a:avLst/>
          </a:prstGeom>
          <a:solidFill>
            <a:srgbClr val="06A59A"/>
          </a:solidFill>
          <a:ln w="12700">
            <a:solidFill>
              <a:srgbClr val="06A5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0" y="3127248"/>
            <a:ext cx="15361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806440" y="3877056"/>
            <a:ext cx="1536192" cy="475488"/>
          </a:xfrm>
          <a:prstGeom prst="rect">
            <a:avLst/>
          </a:prstGeom>
          <a:solidFill>
            <a:srgbClr val="027A48"/>
          </a:solidFill>
          <a:ln w="12700">
            <a:solidFill>
              <a:srgbClr val="027A4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06440" y="3877056"/>
            <a:ext cx="15361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498080" y="3877056"/>
            <a:ext cx="1536192" cy="475488"/>
          </a:xfrm>
          <a:prstGeom prst="rect">
            <a:avLst/>
          </a:prstGeom>
          <a:solidFill>
            <a:srgbClr val="AE0B0B"/>
          </a:solidFill>
          <a:ln w="12700">
            <a:solidFill>
              <a:srgbClr val="AE0B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0" y="3877056"/>
            <a:ext cx="15361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Due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760720" y="461772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4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Statuses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20040" y="320040"/>
            <a:ext cx="5074920" cy="1207008"/>
          </a:xfrm>
          <a:prstGeom prst="rect">
            <a:avLst/>
          </a:prstGeom>
          <a:solidFill>
            <a:srgbClr val="032D60"/>
          </a:solidFill>
          <a:ln w="12700">
            <a:solidFill>
              <a:srgbClr val="032D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320040"/>
            <a:ext cx="91440" cy="1207008"/>
          </a:xfrm>
          <a:prstGeom prst="rect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56616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BUSINESS MILESTONE?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02920" y="621792"/>
            <a:ext cx="475488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structured, goal-oriented financial checkpoint recorded on a client's Account — tracking planned achievements the client is working toward, guided by their advisor.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20040" y="1691640"/>
            <a:ext cx="507492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F2A9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1691640"/>
            <a:ext cx="91440" cy="1261872"/>
          </a:xfrm>
          <a:prstGeom prst="rect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1728216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02920" y="1993392"/>
            <a:ext cx="475488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Milestones let advisors proactively track progress toward financial goals — driving structured outreach, follow-up tasks, and action plans when targets are reached or at risk.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20040" y="3127248"/>
            <a:ext cx="1207008" cy="1719072"/>
          </a:xfrm>
          <a:prstGeom prst="rect">
            <a:avLst/>
          </a:prstGeom>
          <a:solidFill>
            <a:srgbClr val="E8F4FB"/>
          </a:solidFill>
          <a:ln w="12700">
            <a:solidFill>
              <a:srgbClr val="C8D8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0040" y="3127248"/>
            <a:ext cx="1207008" cy="54864"/>
          </a:xfrm>
          <a:prstGeom prst="rect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3200400"/>
            <a:ext cx="12070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💰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374904" y="3675888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32D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Fund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32D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Reached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74904" y="4114800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Triggers: upsell to investments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1595628" y="3127248"/>
            <a:ext cx="1207008" cy="1719072"/>
          </a:xfrm>
          <a:prstGeom prst="rect">
            <a:avLst/>
          </a:prstGeom>
          <a:solidFill>
            <a:srgbClr val="E8F4FB"/>
          </a:solidFill>
          <a:ln w="12700">
            <a:solidFill>
              <a:srgbClr val="C8D8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1595628" y="3127248"/>
            <a:ext cx="1207008" cy="54864"/>
          </a:xfrm>
          <a:prstGeom prst="rect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595628" y="3200400"/>
            <a:ext cx="12070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📋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1650492" y="3675888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32D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32D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1650492" y="4114800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Triggers: first review meeting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2871216" y="3127248"/>
            <a:ext cx="1207008" cy="1719072"/>
          </a:xfrm>
          <a:prstGeom prst="rect">
            <a:avLst/>
          </a:prstGeom>
          <a:solidFill>
            <a:srgbClr val="E8F4FB"/>
          </a:solidFill>
          <a:ln w="12700">
            <a:solidFill>
              <a:srgbClr val="C8D8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2871216" y="3127248"/>
            <a:ext cx="1207008" cy="54864"/>
          </a:xfrm>
          <a:prstGeom prst="rect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871216" y="3200400"/>
            <a:ext cx="12070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🏦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2926080" y="3675888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32D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Savings Goal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32D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Achieved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2926080" y="4114800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Triggers: wealth mgmt tier offer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146804" y="3127248"/>
            <a:ext cx="1207008" cy="1719072"/>
          </a:xfrm>
          <a:prstGeom prst="rect">
            <a:avLst/>
          </a:prstGeom>
          <a:solidFill>
            <a:srgbClr val="E8F4FB"/>
          </a:solidFill>
          <a:ln w="12700">
            <a:solidFill>
              <a:srgbClr val="C8D8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146804" y="3127248"/>
            <a:ext cx="1207008" cy="54864"/>
          </a:xfrm>
          <a:prstGeom prst="rect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146804" y="3200400"/>
            <a:ext cx="12070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📄</a:t>
            </a:r>
            <a:endParaRPr lang="en-US" sz="2000" dirty="0"/>
          </a:p>
        </p:txBody>
      </p:sp>
      <p:sp>
        <p:nvSpPr>
          <p:cNvPr id="41" name="Text 39"/>
          <p:cNvSpPr/>
          <p:nvPr/>
        </p:nvSpPr>
        <p:spPr>
          <a:xfrm>
            <a:off x="4201668" y="3675888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32D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Plan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32D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4201668" y="4114800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Triggers: compliance follow-up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74320" y="4980737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32D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 Financial Services Cloud  |  Life Events &amp; Business Milestones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F5EC4FAED17FD4FA002B715A7CB3129" ma:contentTypeVersion="19" ma:contentTypeDescription="Create a new document." ma:contentTypeScope="" ma:versionID="fc607e3a73fbd72e1e6558e9065345a3">
  <xsd:schema xmlns:xsd="http://www.w3.org/2001/XMLSchema" xmlns:xs="http://www.w3.org/2001/XMLSchema" xmlns:p="http://schemas.microsoft.com/office/2006/metadata/properties" xmlns:ns2="92e4be8c-5aca-45ec-8e17-deab1f90d7c8" xmlns:ns3="92b31412-8c8f-44f1-a883-141cef3f34cc" targetNamespace="http://schemas.microsoft.com/office/2006/metadata/properties" ma:root="true" ma:fieldsID="33e2405e61dc50088f30f9e2951fba88" ns2:_="" ns3:_="">
    <xsd:import namespace="92e4be8c-5aca-45ec-8e17-deab1f90d7c8"/>
    <xsd:import namespace="92b31412-8c8f-44f1-a883-141cef3f34cc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AutoKeyPoints" minOccurs="0"/>
                <xsd:element ref="ns3:MediaServiceKeyPoints" minOccurs="0"/>
                <xsd:element ref="ns3:Duration" minOccurs="0"/>
                <xsd:element ref="ns3:MediaLengthInSeconds" minOccurs="0"/>
                <xsd:element ref="ns3:MediaServiceLocation" minOccurs="0"/>
                <xsd:element ref="ns3:lcf76f155ced4ddcb4097134ff3c332f" minOccurs="0"/>
                <xsd:element ref="ns2:TaxCatchAll" minOccurs="0"/>
                <xsd:element ref="ns3:MediaServiceSearchProperties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2e4be8c-5aca-45ec-8e17-deab1f90d7c8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d795d2f5-1cbf-45cb-9409-0dc909a94953}" ma:internalName="TaxCatchAll" ma:showField="CatchAllData" ma:web="92e4be8c-5aca-45ec-8e17-deab1f90d7c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2b31412-8c8f-44f1-a883-141cef3f34c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Duration" ma:index="19" nillable="true" ma:displayName="Duration" ma:internalName="Duration">
      <xsd:simpleType>
        <xsd:restriction base="dms:Text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c4206cbd-ed67-49c0-b8a0-af32ee4f262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6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92b31412-8c8f-44f1-a883-141cef3f34cc">
      <Terms xmlns="http://schemas.microsoft.com/office/infopath/2007/PartnerControls"/>
    </lcf76f155ced4ddcb4097134ff3c332f>
    <TaxCatchAll xmlns="92e4be8c-5aca-45ec-8e17-deab1f90d7c8" xsi:nil="true"/>
    <Duration xmlns="92b31412-8c8f-44f1-a883-141cef3f34cc" xsi:nil="true"/>
    <SharedWithUsers xmlns="92e4be8c-5aca-45ec-8e17-deab1f90d7c8">
      <UserInfo>
        <DisplayName/>
        <AccountId xsi:nil="true"/>
        <AccountType/>
      </UserInfo>
    </SharedWithUsers>
  </documentManagement>
</p:properties>
</file>

<file path=customXml/itemProps1.xml><?xml version="1.0" encoding="utf-8"?>
<ds:datastoreItem xmlns:ds="http://schemas.openxmlformats.org/officeDocument/2006/customXml" ds:itemID="{12E0373F-5F98-4EF9-B9EE-ACD19272214B}"/>
</file>

<file path=customXml/itemProps2.xml><?xml version="1.0" encoding="utf-8"?>
<ds:datastoreItem xmlns:ds="http://schemas.openxmlformats.org/officeDocument/2006/customXml" ds:itemID="{D64C9DD3-DCBA-479E-9C63-4E91C620497C}"/>
</file>

<file path=customXml/itemProps3.xml><?xml version="1.0" encoding="utf-8"?>
<ds:datastoreItem xmlns:ds="http://schemas.openxmlformats.org/officeDocument/2006/customXml" ds:itemID="{0B069031-C040-4AFD-A68D-46534E7BA00B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>PptxGenJS Presentation</dc:subject>
  <dc:creator>PptxGenJS</dc:creator>
  <cp:lastModifiedBy>PptxGenJS</cp:lastModifiedBy>
  <cp:revision>1</cp:revision>
  <dcterms:created xsi:type="dcterms:W3CDTF">2026-02-19T21:24:03Z</dcterms:created>
  <dcterms:modified xsi:type="dcterms:W3CDTF">2026-02-19T21:24:03Z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0x010100AF5EC4FAED17FD4FA002B715A7CB3129</vt:lpwstr>
  </property>
  <property fmtid="{D5CDD505-2E9C-101B-9397-08002B2CF9AE}" pid="3" name="Order">
    <vt:r8>10733900</vt:r8>
  </property>
  <property fmtid="{D5CDD505-2E9C-101B-9397-08002B2CF9AE}" pid="4" name="TriggerFlowInfo">
    <vt:lpwstr/>
  </property>
  <property fmtid="{D5CDD505-2E9C-101B-9397-08002B2CF9AE}" pid="5" name="_SourceUrl">
    <vt:lpwstr/>
  </property>
  <property fmtid="{D5CDD505-2E9C-101B-9397-08002B2CF9AE}" pid="6" name="_SharedFileIndex">
    <vt:lpwstr/>
  </property>
  <property fmtid="{D5CDD505-2E9C-101B-9397-08002B2CF9AE}" pid="7" name="ComplianceAssetId">
    <vt:lpwstr/>
  </property>
  <property fmtid="{D5CDD505-2E9C-101B-9397-08002B2CF9AE}" pid="8" name="_ExtendedDescription">
    <vt:lpwstr/>
  </property>
</Properties>
</file>